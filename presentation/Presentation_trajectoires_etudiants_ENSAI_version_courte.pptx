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259" r:id="rId5"/>
    <p:sldId id="317" r:id="rId6"/>
    <p:sldId id="284" r:id="rId7"/>
    <p:sldId id="288" r:id="rId8"/>
    <p:sldId id="322" r:id="rId9"/>
    <p:sldId id="293" r:id="rId10"/>
    <p:sldId id="295" r:id="rId11"/>
    <p:sldId id="313" r:id="rId12"/>
    <p:sldId id="289" r:id="rId13"/>
    <p:sldId id="319" r:id="rId14"/>
    <p:sldId id="320" r:id="rId15"/>
    <p:sldId id="291" r:id="rId16"/>
    <p:sldId id="301" r:id="rId17"/>
    <p:sldId id="318" r:id="rId18"/>
    <p:sldId id="277" r:id="rId19"/>
  </p:sldIdLst>
  <p:sldSz cx="12192000" cy="6858000"/>
  <p:notesSz cx="9926638" cy="67976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EDB"/>
    <a:srgbClr val="005980"/>
    <a:srgbClr val="A6A6A6"/>
    <a:srgbClr val="009BDE"/>
    <a:srgbClr val="564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domensai.ecole\dfs-ensai\Source\ETUDES\1_Dpt_Scolarite\Comites%20et%20commissions\Historique_RDBLTS_EXCLUSIONS_%202005-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domensai.ecole\dfs-ensai\Source\ETUDES\1_Dpt_Scolarite\Comites%20et%20commissions\Historique_RDBLTS_EXCLUSIONS_%202005-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/>
              <a:t>Tx redoublement/exclusion</a:t>
            </a:r>
            <a:r>
              <a:rPr lang="fr-FR" sz="2000" baseline="0"/>
              <a:t> 1ère année</a:t>
            </a:r>
            <a:endParaRPr lang="fr-FR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'[Historique_RDBLTS_EXCLUSIONS_ 2005-2024.xlsx]TabGraphs'!$Q$2</c:f>
              <c:strCache>
                <c:ptCount val="1"/>
                <c:pt idx="0">
                  <c:v>Ingé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5.6527340332458445E-2"/>
                  <c:y val="-0.10621099445902596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2005-2024.xlsx]TabGraphs'!$A$3:$A$22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2005-2024.xlsx]TabGraphs'!$Q$3:$Q$22</c:f>
              <c:numCache>
                <c:formatCode>0%</c:formatCode>
                <c:ptCount val="20"/>
                <c:pt idx="0">
                  <c:v>0.12857142857142856</c:v>
                </c:pt>
                <c:pt idx="1">
                  <c:v>6.4516129032258063E-2</c:v>
                </c:pt>
                <c:pt idx="2">
                  <c:v>3.9473684210526314E-2</c:v>
                </c:pt>
                <c:pt idx="3">
                  <c:v>0.13333333333333333</c:v>
                </c:pt>
                <c:pt idx="4">
                  <c:v>1.3157894736842105E-2</c:v>
                </c:pt>
                <c:pt idx="5">
                  <c:v>7.1428571428571425E-2</c:v>
                </c:pt>
                <c:pt idx="6">
                  <c:v>0.1038961038961039</c:v>
                </c:pt>
                <c:pt idx="7">
                  <c:v>0.12903225806451613</c:v>
                </c:pt>
                <c:pt idx="8">
                  <c:v>7.7777777777777779E-2</c:v>
                </c:pt>
                <c:pt idx="9">
                  <c:v>6.5934065934065936E-2</c:v>
                </c:pt>
                <c:pt idx="10">
                  <c:v>7.4999999999999997E-2</c:v>
                </c:pt>
                <c:pt idx="11">
                  <c:v>1.1111111111111112E-2</c:v>
                </c:pt>
                <c:pt idx="12">
                  <c:v>3.3333333333333333E-2</c:v>
                </c:pt>
                <c:pt idx="13">
                  <c:v>3.2967032967032968E-2</c:v>
                </c:pt>
                <c:pt idx="14">
                  <c:v>1.1235955056179775E-2</c:v>
                </c:pt>
                <c:pt idx="15">
                  <c:v>4.3478260869565216E-2</c:v>
                </c:pt>
                <c:pt idx="16">
                  <c:v>3.2258064516129031E-2</c:v>
                </c:pt>
                <c:pt idx="17">
                  <c:v>4.0404040404040407E-2</c:v>
                </c:pt>
                <c:pt idx="18">
                  <c:v>1.8691588785046728E-2</c:v>
                </c:pt>
                <c:pt idx="19">
                  <c:v>8.5470085470085479E-3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5B-4DF7-8F4F-DAA0EE0CBDD6}"/>
            </c:ext>
          </c:extLst>
        </c:ser>
        <c:ser>
          <c:idx val="1"/>
          <c:order val="1"/>
          <c:tx>
            <c:strRef>
              <c:f>'[Historique_RDBLTS_EXCLUSIONS_ 2005-2024.xlsx]TabGraphs'!$R$2</c:f>
              <c:strCache>
                <c:ptCount val="1"/>
                <c:pt idx="0">
                  <c:v>Att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2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5.9305118110236324E-2"/>
                  <c:y val="-0.17763342082239719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2005-2024.xlsx]TabGraphs'!$A$3:$A$22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2005-2024.xlsx]TabGraphs'!$R$3:$R$22</c:f>
              <c:numCache>
                <c:formatCode>0%</c:formatCode>
                <c:ptCount val="20"/>
                <c:pt idx="0">
                  <c:v>4.7619047619047616E-2</c:v>
                </c:pt>
                <c:pt idx="1">
                  <c:v>7.0175438596491224E-2</c:v>
                </c:pt>
                <c:pt idx="2">
                  <c:v>7.407407407407407E-2</c:v>
                </c:pt>
                <c:pt idx="3">
                  <c:v>0.10526315789473684</c:v>
                </c:pt>
                <c:pt idx="4">
                  <c:v>8.3333333333333329E-2</c:v>
                </c:pt>
                <c:pt idx="5">
                  <c:v>4.7619047619047616E-2</c:v>
                </c:pt>
                <c:pt idx="6">
                  <c:v>7.8431372549019607E-2</c:v>
                </c:pt>
                <c:pt idx="7">
                  <c:v>4.878048780487805E-2</c:v>
                </c:pt>
                <c:pt idx="8">
                  <c:v>0.12195121951219512</c:v>
                </c:pt>
                <c:pt idx="9">
                  <c:v>0.125</c:v>
                </c:pt>
                <c:pt idx="10">
                  <c:v>0.16666666666666666</c:v>
                </c:pt>
                <c:pt idx="11">
                  <c:v>0.125</c:v>
                </c:pt>
                <c:pt idx="12">
                  <c:v>3.7037037037037035E-2</c:v>
                </c:pt>
                <c:pt idx="13">
                  <c:v>9.2592592592592587E-2</c:v>
                </c:pt>
                <c:pt idx="14">
                  <c:v>2.0408163265306121E-2</c:v>
                </c:pt>
                <c:pt idx="15">
                  <c:v>0.21568627450980393</c:v>
                </c:pt>
                <c:pt idx="16">
                  <c:v>0.1206896551724138</c:v>
                </c:pt>
                <c:pt idx="17">
                  <c:v>0.1</c:v>
                </c:pt>
                <c:pt idx="18">
                  <c:v>8.3333333333333329E-2</c:v>
                </c:pt>
                <c:pt idx="19">
                  <c:v>0.17647058823529413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15B-4DF7-8F4F-DAA0EE0CB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3904527"/>
        <c:axId val="993908271"/>
      </c:lineChart>
      <c:catAx>
        <c:axId val="99390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93908271"/>
        <c:crosses val="autoZero"/>
        <c:auto val="1"/>
        <c:lblAlgn val="ctr"/>
        <c:lblOffset val="100"/>
        <c:noMultiLvlLbl val="0"/>
      </c:catAx>
      <c:valAx>
        <c:axId val="993908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9390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/>
              <a:t>Tx redoublement/exclusion</a:t>
            </a:r>
            <a:r>
              <a:rPr lang="fr-FR" sz="2000" baseline="0"/>
              <a:t> 2ème année</a:t>
            </a:r>
            <a:endParaRPr lang="fr-FR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6.7638451443569447E-2"/>
                  <c:y val="-6.386993292505104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2005-2024.xlsx]TabGraphs'!$A$25:$A$44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2005-2024.xlsx]TabGraphs'!$Q$25:$Q$44</c:f>
              <c:numCache>
                <c:formatCode>0%</c:formatCode>
                <c:ptCount val="20"/>
                <c:pt idx="0">
                  <c:v>4.1666666666666664E-2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2.9850746268656716E-2</c:v>
                </c:pt>
                <c:pt idx="7">
                  <c:v>4.8192771084337352E-2</c:v>
                </c:pt>
                <c:pt idx="8">
                  <c:v>4.2105263157894736E-2</c:v>
                </c:pt>
                <c:pt idx="9">
                  <c:v>6.7307692307692304E-2</c:v>
                </c:pt>
                <c:pt idx="10">
                  <c:v>3.1914893617021274E-2</c:v>
                </c:pt>
                <c:pt idx="11">
                  <c:v>2.2222222222222223E-2</c:v>
                </c:pt>
                <c:pt idx="12">
                  <c:v>9.7087378640776691E-3</c:v>
                </c:pt>
                <c:pt idx="13">
                  <c:v>0</c:v>
                </c:pt>
                <c:pt idx="14">
                  <c:v>9.1743119266055051E-3</c:v>
                </c:pt>
                <c:pt idx="15">
                  <c:v>3.7383177570093455E-2</c:v>
                </c:pt>
                <c:pt idx="16">
                  <c:v>4.9504950495049507E-2</c:v>
                </c:pt>
                <c:pt idx="17">
                  <c:v>2.5862068965517241E-2</c:v>
                </c:pt>
                <c:pt idx="18">
                  <c:v>1.834862385321101E-2</c:v>
                </c:pt>
                <c:pt idx="19">
                  <c:v>2.3809523809523808E-2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B0-43E6-AC3C-6DAEB07430F4}"/>
            </c:ext>
          </c:extLst>
        </c:ser>
        <c:ser>
          <c:idx val="1"/>
          <c:order val="1"/>
          <c:tx>
            <c:v>Att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2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6.7638451443569447E-2"/>
                  <c:y val="-7.1594852726742486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2005-2024.xlsx]TabGraphs'!$A$25:$A$44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2005-2024.xlsx]TabGraphs'!$R$25:$R$44</c:f>
              <c:numCache>
                <c:formatCode>0%</c:formatCode>
                <c:ptCount val="20"/>
                <c:pt idx="0">
                  <c:v>2.3255813953488372E-2</c:v>
                </c:pt>
                <c:pt idx="1">
                  <c:v>0</c:v>
                </c:pt>
                <c:pt idx="2">
                  <c:v>1.7543859649122806E-2</c:v>
                </c:pt>
                <c:pt idx="3">
                  <c:v>0.02</c:v>
                </c:pt>
                <c:pt idx="4">
                  <c:v>0</c:v>
                </c:pt>
                <c:pt idx="5">
                  <c:v>8.6956521739130432E-2</c:v>
                </c:pt>
                <c:pt idx="6">
                  <c:v>5.2631578947368418E-2</c:v>
                </c:pt>
                <c:pt idx="7">
                  <c:v>0</c:v>
                </c:pt>
                <c:pt idx="8">
                  <c:v>4.7619047619047616E-2</c:v>
                </c:pt>
                <c:pt idx="9">
                  <c:v>8.1081081081081086E-2</c:v>
                </c:pt>
                <c:pt idx="10">
                  <c:v>0</c:v>
                </c:pt>
                <c:pt idx="11">
                  <c:v>0</c:v>
                </c:pt>
                <c:pt idx="12">
                  <c:v>4.0816326530612242E-2</c:v>
                </c:pt>
                <c:pt idx="13">
                  <c:v>9.6153846153846159E-2</c:v>
                </c:pt>
                <c:pt idx="14">
                  <c:v>3.7037037037037035E-2</c:v>
                </c:pt>
                <c:pt idx="15">
                  <c:v>8.3333333333333329E-2</c:v>
                </c:pt>
                <c:pt idx="16">
                  <c:v>2.2727272727272728E-2</c:v>
                </c:pt>
                <c:pt idx="17">
                  <c:v>7.0175438596491224E-2</c:v>
                </c:pt>
                <c:pt idx="18">
                  <c:v>6.3829787234042548E-2</c:v>
                </c:pt>
                <c:pt idx="19">
                  <c:v>6.25E-2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4B0-43E6-AC3C-6DAEB07430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8380559"/>
        <c:axId val="218379311"/>
      </c:lineChart>
      <c:catAx>
        <c:axId val="21838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8379311"/>
        <c:crosses val="autoZero"/>
        <c:auto val="1"/>
        <c:lblAlgn val="ctr"/>
        <c:lblOffset val="100"/>
        <c:noMultiLvlLbl val="0"/>
      </c:catAx>
      <c:valAx>
        <c:axId val="218379311"/>
        <c:scaling>
          <c:orientation val="minMax"/>
          <c:max val="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8380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CED0-103C-4C10-8D72-99DD07E324A0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C92F0-C3EC-4C25-8D86-B30BA11ABE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336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58B95-F104-4A72-A4BF-C3A46957C25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1E338-64DE-4218-8E01-89E259BBC0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11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49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11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674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130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759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915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316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015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679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785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755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970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048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040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E338-64DE-4218-8E01-89E259BBC0E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577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9350" y="2705100"/>
            <a:ext cx="5384800" cy="5207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9350" y="3492500"/>
            <a:ext cx="170180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6" hasCustomPrompt="1"/>
          </p:nvPr>
        </p:nvSpPr>
        <p:spPr>
          <a:xfrm>
            <a:off x="1149350" y="5143500"/>
            <a:ext cx="400685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Nom prénom (facultatif)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1149350" y="635000"/>
            <a:ext cx="45656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Georgia" panose="02040502050405020303" pitchFamily="18" charset="0"/>
                <a:ea typeface="CSongGB18030C-Light" panose="020A0304000101010101" pitchFamily="18" charset="-122"/>
                <a:cs typeface="Cascadia Mono" panose="020B0609020000020004" pitchFamily="49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3899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Modifiez le texte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044700"/>
            <a:ext cx="10515600" cy="3886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276142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201929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55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tx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7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6936258" y="2108199"/>
            <a:ext cx="4349579" cy="4229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9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939800" y="742779"/>
            <a:ext cx="2618946" cy="787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39800" y="1879600"/>
            <a:ext cx="10375900" cy="420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0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54595"/>
            <a:ext cx="7505700" cy="7778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5025"/>
            <a:ext cx="10420350" cy="4086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96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450226" cy="787400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914400" y="1922162"/>
            <a:ext cx="10445578" cy="138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14400" y="3736202"/>
            <a:ext cx="10445578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53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0400"/>
            <a:ext cx="10515600" cy="227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124990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187071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123571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123571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123571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560695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4925695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4925695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4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4925695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9" name="Espace réservé pour une image  3"/>
          <p:cNvSpPr>
            <a:spLocks noGrp="1"/>
          </p:cNvSpPr>
          <p:nvPr>
            <p:ph type="pic" sz="quarter" idx="18"/>
          </p:nvPr>
        </p:nvSpPr>
        <p:spPr>
          <a:xfrm>
            <a:off x="925068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861568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0" hasCustomPrompt="1"/>
          </p:nvPr>
        </p:nvSpPr>
        <p:spPr>
          <a:xfrm>
            <a:off x="861568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22" name="Espace réservé du contenu 9"/>
          <p:cNvSpPr>
            <a:spLocks noGrp="1"/>
          </p:cNvSpPr>
          <p:nvPr>
            <p:ph sz="quarter" idx="21" hasCustomPrompt="1"/>
          </p:nvPr>
        </p:nvSpPr>
        <p:spPr>
          <a:xfrm>
            <a:off x="861568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</p:spTree>
    <p:extLst>
      <p:ext uri="{BB962C8B-B14F-4D97-AF65-F5344CB8AC3E}">
        <p14:creationId xmlns:p14="http://schemas.microsoft.com/office/powerpoint/2010/main" val="330374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3902710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3267710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5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3267710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6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3267710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7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7592695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6957695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6957695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6957695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</p:spTree>
    <p:extLst>
      <p:ext uri="{BB962C8B-B14F-4D97-AF65-F5344CB8AC3E}">
        <p14:creationId xmlns:p14="http://schemas.microsoft.com/office/powerpoint/2010/main" val="384298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5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39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  <p:sldLayoutId id="2147483652" r:id="rId3"/>
    <p:sldLayoutId id="2147483653" r:id="rId4"/>
    <p:sldLayoutId id="2147483654" r:id="rId5"/>
    <p:sldLayoutId id="2147483658" r:id="rId6"/>
    <p:sldLayoutId id="2147483655" r:id="rId7"/>
    <p:sldLayoutId id="2147483660" r:id="rId8"/>
    <p:sldLayoutId id="2147483656" r:id="rId9"/>
    <p:sldLayoutId id="2147483659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hlesieur.github.io/analyse_bdd_eleves_ensai/scripts/analyses_2015_2024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149349" y="1724024"/>
            <a:ext cx="9893302" cy="520700"/>
          </a:xfrm>
        </p:spPr>
        <p:txBody>
          <a:bodyPr/>
          <a:lstStyle/>
          <a:p>
            <a:r>
              <a:rPr lang="fr-FR" dirty="0">
                <a:latin typeface="+mj-lt"/>
              </a:rPr>
              <a:t>Premières analyses à partir des données d’admission, de Pamplemousse et de Moodle sur la période 2015-2025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1149349" y="2917826"/>
            <a:ext cx="3405398" cy="415924"/>
          </a:xfrm>
        </p:spPr>
        <p:txBody>
          <a:bodyPr/>
          <a:lstStyle/>
          <a:p>
            <a:r>
              <a:rPr lang="fr-FR" dirty="0"/>
              <a:t>CER du 1er juillet 2026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7"/>
          </p:nvPr>
        </p:nvSpPr>
        <p:spPr>
          <a:xfrm>
            <a:off x="1149348" y="658812"/>
            <a:ext cx="10814051" cy="1114426"/>
          </a:xfrm>
        </p:spPr>
        <p:txBody>
          <a:bodyPr/>
          <a:lstStyle/>
          <a:p>
            <a:r>
              <a:rPr lang="fr-FR" sz="5000" dirty="0">
                <a:latin typeface="+mj-lt"/>
              </a:rPr>
              <a:t>Trajectoires des étudiants à l’ENSAI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1A4A2BF2-E617-584E-1661-8BDA87DC96DD}"/>
              </a:ext>
            </a:extLst>
          </p:cNvPr>
          <p:cNvSpPr txBox="1">
            <a:spLocks/>
          </p:cNvSpPr>
          <p:nvPr/>
        </p:nvSpPr>
        <p:spPr>
          <a:xfrm>
            <a:off x="1149348" y="3584574"/>
            <a:ext cx="4692651" cy="415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Christophe Lesieur, Stéphane </a:t>
            </a:r>
            <a:r>
              <a:rPr lang="fr-FR" dirty="0" err="1"/>
              <a:t>Legleye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D63354-3A4D-6CA3-3449-8EC992DEE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68" y="4508501"/>
            <a:ext cx="762106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183D-6EE3-A453-B1C0-71903C2D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86CA9-A670-2593-C4C7-B29758C4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Présentation du projet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3570E1-2DD6-A38C-8AF9-96C8A59AC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66" y="1634982"/>
            <a:ext cx="3224842" cy="32797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95896E3-FFE1-82E3-334B-51DEDD739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516" y="2048017"/>
            <a:ext cx="3127061" cy="1679756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3620B472-28BD-18C3-F7C1-E889ECF9D58A}"/>
              </a:ext>
            </a:extLst>
          </p:cNvPr>
          <p:cNvSpPr txBox="1">
            <a:spLocks/>
          </p:cNvSpPr>
          <p:nvPr/>
        </p:nvSpPr>
        <p:spPr>
          <a:xfrm>
            <a:off x="596658" y="1281994"/>
            <a:ext cx="11411311" cy="7059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b="1" dirty="0"/>
              <a:t>Un zest de Pamplemousse      +      Un brin de travail sur les admissions       +      Des données massives de Moodle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35E8804-43D1-B011-344F-AD0650EBE37F}"/>
              </a:ext>
            </a:extLst>
          </p:cNvPr>
          <p:cNvSpPr txBox="1">
            <a:spLocks/>
          </p:cNvSpPr>
          <p:nvPr/>
        </p:nvSpPr>
        <p:spPr>
          <a:xfrm>
            <a:off x="86265" y="5031609"/>
            <a:ext cx="3960244" cy="2995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les notes à l’école et les voies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4ABA878-2085-1C73-AE72-C469CACCE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600" y="1699404"/>
            <a:ext cx="4376517" cy="2868246"/>
          </a:xfrm>
          <a:prstGeom prst="rect">
            <a:avLst/>
          </a:prstGeom>
        </p:spPr>
      </p:pic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EFF68C7-2A63-BFE7-D7A3-4EC8DD4A318C}"/>
              </a:ext>
            </a:extLst>
          </p:cNvPr>
          <p:cNvSpPr txBox="1">
            <a:spLocks/>
          </p:cNvSpPr>
          <p:nvPr/>
        </p:nvSpPr>
        <p:spPr>
          <a:xfrm>
            <a:off x="3528356" y="5031608"/>
            <a:ext cx="4106739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les rangs d’admission des maths, BL et D2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E1B721F-68E1-2E73-B1D6-94D063481E29}"/>
              </a:ext>
            </a:extLst>
          </p:cNvPr>
          <p:cNvSpPr txBox="1">
            <a:spLocks/>
          </p:cNvSpPr>
          <p:nvPr/>
        </p:nvSpPr>
        <p:spPr>
          <a:xfrm>
            <a:off x="6970447" y="4923177"/>
            <a:ext cx="4106739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construire des indicateurs d’engagement numérique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16888E7D-53C3-6A47-AE06-BD7E3C52BD67}"/>
              </a:ext>
            </a:extLst>
          </p:cNvPr>
          <p:cNvSpPr txBox="1">
            <a:spLocks/>
          </p:cNvSpPr>
          <p:nvPr/>
        </p:nvSpPr>
        <p:spPr>
          <a:xfrm>
            <a:off x="380717" y="5753352"/>
            <a:ext cx="9910596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b="1" dirty="0"/>
              <a:t>= Une base d’information riche sur les élèves sur période 2015-2025</a:t>
            </a:r>
          </a:p>
        </p:txBody>
      </p:sp>
    </p:spTree>
    <p:extLst>
      <p:ext uri="{BB962C8B-B14F-4D97-AF65-F5344CB8AC3E}">
        <p14:creationId xmlns:p14="http://schemas.microsoft.com/office/powerpoint/2010/main" val="324712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942E7-2391-6D34-F7BF-F5ECF221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93392" cy="775921"/>
          </a:xfrm>
        </p:spPr>
        <p:txBody>
          <a:bodyPr/>
          <a:lstStyle/>
          <a:p>
            <a:r>
              <a:rPr lang="fr-FR" sz="3600" dirty="0">
                <a:latin typeface="Bahnschrift SemiLight" panose="020B0502040204020203" pitchFamily="34" charset="0"/>
                <a:ea typeface="+mn-ea"/>
              </a:rPr>
              <a:t>Une baisse des profils MP depuis le CCINP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AE2B93C-8B28-ED74-8EA1-0A09E5B15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3019" y="5823973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</a:t>
            </a:r>
            <a:r>
              <a:rPr lang="fr-FR" sz="1400" baseline="30000" dirty="0"/>
              <a:t>ère</a:t>
            </a:r>
            <a:r>
              <a:rPr lang="fr-FR" sz="1400" dirty="0"/>
              <a:t> et 2</a:t>
            </a:r>
            <a:r>
              <a:rPr lang="fr-FR" sz="1400" baseline="30000" dirty="0"/>
              <a:t>ème</a:t>
            </a:r>
            <a:r>
              <a:rPr lang="fr-FR" sz="1400" dirty="0"/>
              <a:t> année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5822227-FB3C-2BCC-38AF-252DA6B59F9C}"/>
              </a:ext>
            </a:extLst>
          </p:cNvPr>
          <p:cNvSpPr txBox="1">
            <a:spLocks/>
          </p:cNvSpPr>
          <p:nvPr/>
        </p:nvSpPr>
        <p:spPr>
          <a:xfrm>
            <a:off x="294735" y="1581514"/>
            <a:ext cx="4363529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Diversification des voies d’entrée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Notamment création MPI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Mais aussi hausse des PC/PSI </a:t>
            </a:r>
            <a:endParaRPr lang="fr-FR" sz="1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de la part du concours interne INSEE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Variation de la part des BL équilibrée par la variation des D2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Stabilité des BUT</a:t>
            </a:r>
          </a:p>
          <a:p>
            <a:pPr lvl="1" indent="0">
              <a:buNone/>
            </a:pPr>
            <a:endParaRPr lang="fr-FR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A3C2F1-4A78-64E6-A289-079AE8D1A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64" y="1182499"/>
            <a:ext cx="7313797" cy="449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5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AD4A5-1DDE-20DE-2B0A-A25F7D66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Les matheux préfèrent le statut d’ingénieur</a:t>
            </a:r>
            <a:br>
              <a:rPr lang="fr-FR" sz="3600" b="1" dirty="0">
                <a:latin typeface="+mj-lt"/>
              </a:rPr>
            </a:br>
            <a:endParaRPr lang="fr-FR" sz="2400" b="1" dirty="0">
              <a:latin typeface="+mj-lt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F0132A4-2903-EDB8-BC61-9066EA710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5" y="1699831"/>
            <a:ext cx="5612497" cy="345833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9717907-F6AA-1C4C-3DC3-8D0CF3243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104" y="1690688"/>
            <a:ext cx="6165295" cy="3795665"/>
          </a:xfrm>
          <a:prstGeom prst="rect">
            <a:avLst/>
          </a:prstGeom>
        </p:spPr>
      </p:pic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50AF3A28-0B6B-BC2F-B6EE-7B5FDA61F6C6}"/>
              </a:ext>
            </a:extLst>
          </p:cNvPr>
          <p:cNvSpPr txBox="1">
            <a:spLocks/>
          </p:cNvSpPr>
          <p:nvPr/>
        </p:nvSpPr>
        <p:spPr>
          <a:xfrm>
            <a:off x="0" y="5384274"/>
            <a:ext cx="9574897" cy="7491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2000" dirty="0"/>
              <a:t>Une tendance renforcée depuis le concours CCINP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2000" dirty="0"/>
              <a:t>Quelques bons classés choisissent le statut d’attaché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2000" dirty="0"/>
              <a:t>Mais les moins bien classés sont surreprésentés parmi les fonctionnaires</a:t>
            </a:r>
          </a:p>
        </p:txBody>
      </p:sp>
    </p:spTree>
    <p:extLst>
      <p:ext uri="{BB962C8B-B14F-4D97-AF65-F5344CB8AC3E}">
        <p14:creationId xmlns:p14="http://schemas.microsoft.com/office/powerpoint/2010/main" val="4346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12A4-5EC3-8AC0-00F1-4221D02C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18C78-5CDC-5B38-3207-2CC11787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Les BL et les D2 reviennent vers le statut attaché</a:t>
            </a:r>
            <a:br>
              <a:rPr lang="fr-FR" sz="3600" b="1" dirty="0">
                <a:latin typeface="+mj-lt"/>
              </a:rPr>
            </a:br>
            <a:endParaRPr lang="fr-FR" sz="2400" b="1" dirty="0"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30DA31-6963-CDAB-09F8-24F04F3E43E2}"/>
              </a:ext>
            </a:extLst>
          </p:cNvPr>
          <p:cNvSpPr txBox="1"/>
          <p:nvPr/>
        </p:nvSpPr>
        <p:spPr>
          <a:xfrm>
            <a:off x="1562376" y="936254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b="1" dirty="0"/>
              <a:t>Concours BL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2476289-B20C-6558-1356-FEDB7EED81FB}"/>
              </a:ext>
            </a:extLst>
          </p:cNvPr>
          <p:cNvSpPr txBox="1"/>
          <p:nvPr/>
        </p:nvSpPr>
        <p:spPr>
          <a:xfrm>
            <a:off x="7619466" y="936254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b="1" dirty="0"/>
              <a:t>Concours D2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EA64596-83FB-9664-641D-B7CE0C941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97" y="1305586"/>
            <a:ext cx="4327750" cy="26686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AB39C8B-92EF-BD51-9A9C-0CD9BA6B9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96" y="3980912"/>
            <a:ext cx="4327751" cy="267551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D5D6D11-9EC4-3311-0F20-89C90466A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419" y="1292999"/>
            <a:ext cx="4409263" cy="273099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DCAE2AB-FBAE-1863-9B4A-37588C68BB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320" y="3953172"/>
            <a:ext cx="4428921" cy="27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1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3420-B453-80E5-EEBB-77A153FF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C07AF-105D-7292-C625-20D1B57B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626" cy="1325563"/>
          </a:xfrm>
        </p:spPr>
        <p:txBody>
          <a:bodyPr/>
          <a:lstStyle/>
          <a:p>
            <a:r>
              <a:rPr lang="fr-FR" sz="3600" dirty="0">
                <a:latin typeface="+mj-lt"/>
              </a:rPr>
              <a:t>Résultats scolaire en 1</a:t>
            </a:r>
            <a:r>
              <a:rPr lang="fr-FR" sz="3600" baseline="30000" dirty="0">
                <a:latin typeface="+mj-lt"/>
              </a:rPr>
              <a:t>ère</a:t>
            </a:r>
            <a:r>
              <a:rPr lang="fr-FR" sz="3600" dirty="0">
                <a:latin typeface="+mj-lt"/>
              </a:rPr>
              <a:t> année et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912FABD5-4B94-3658-7B06-5485A64242D4}"/>
              </a:ext>
            </a:extLst>
          </p:cNvPr>
          <p:cNvSpPr txBox="1">
            <a:spLocks/>
          </p:cNvSpPr>
          <p:nvPr/>
        </p:nvSpPr>
        <p:spPr>
          <a:xfrm>
            <a:off x="-102078" y="4099879"/>
            <a:ext cx="7115354" cy="23929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Meilleure moyenne générale : Internes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Moyennes générales plus basses : PC/PSI, BL et D2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BL, D2 et PC/PSI en retrait en stat et info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 et PC/PSI en difficulté en économie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 se rattrapent sur les humanités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MPI : une voie d’entrée prometteuse</a:t>
            </a:r>
          </a:p>
          <a:p>
            <a:pPr marL="228600"/>
            <a:endParaRPr lang="fr-FR" sz="1800" dirty="0"/>
          </a:p>
          <a:p>
            <a:pPr marL="228600"/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13BDB15-06E6-6C0F-82FA-75144F035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92" y="1231784"/>
            <a:ext cx="5410225" cy="221623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35DB900-FCB8-0E1B-7877-7ABB0CDB2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12" y="3152489"/>
            <a:ext cx="5631540" cy="370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8881-0813-A5D2-5A99-4AC24306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7D1AD-65D7-0234-0FC5-6C96E41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9771" cy="1325563"/>
          </a:xfrm>
        </p:spPr>
        <p:txBody>
          <a:bodyPr/>
          <a:lstStyle/>
          <a:p>
            <a:r>
              <a:rPr lang="fr-FR" sz="3600" dirty="0">
                <a:latin typeface="+mj-lt"/>
              </a:rPr>
              <a:t>Résultats scolaire en 2</a:t>
            </a:r>
            <a:r>
              <a:rPr lang="fr-FR" sz="3600" baseline="30000" dirty="0">
                <a:latin typeface="+mj-lt"/>
              </a:rPr>
              <a:t>ème</a:t>
            </a:r>
            <a:r>
              <a:rPr lang="fr-FR" sz="3600" dirty="0">
                <a:latin typeface="+mj-lt"/>
              </a:rPr>
              <a:t> année et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1006B6E-812C-C8CA-8353-DE9E6B59A1FE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8449745-A252-943F-86F0-E58FCB7B7FE3}"/>
              </a:ext>
            </a:extLst>
          </p:cNvPr>
          <p:cNvSpPr txBox="1">
            <a:spLocks/>
          </p:cNvSpPr>
          <p:nvPr/>
        </p:nvSpPr>
        <p:spPr>
          <a:xfrm>
            <a:off x="-155275" y="4319067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Ca s’équilibre : la première année a joué son rôle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Récemment, plus difficile pour les BL, D2 et PC/PSI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AST-2A un peu au-dessus en moyenne générale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AST-2A particulièrement performants en statistique et </a:t>
            </a:r>
          </a:p>
          <a:p>
            <a:pPr marL="228600"/>
            <a:r>
              <a:rPr lang="fr-FR" sz="1800" dirty="0"/>
              <a:t>informatique</a:t>
            </a:r>
          </a:p>
          <a:p>
            <a:pPr marL="228600"/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A531E8-F0C5-0BBD-4CFC-FDD54AD18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30" y="1282930"/>
            <a:ext cx="7106642" cy="22863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D8BBFF0-EDD3-C738-C8A3-FD44FA130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706" y="3519964"/>
            <a:ext cx="5057264" cy="329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5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FC77-EFD4-7214-7876-F4D60DEA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A3C5-9B24-C115-CD96-B4436BAA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2" y="365125"/>
            <a:ext cx="11316158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Les PC/PSI en difficultés ?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8E661CD2-9BE5-1561-DA3A-A083ECC16378}"/>
              </a:ext>
            </a:extLst>
          </p:cNvPr>
          <p:cNvSpPr txBox="1">
            <a:spLocks/>
          </p:cNvSpPr>
          <p:nvPr/>
        </p:nvSpPr>
        <p:spPr>
          <a:xfrm>
            <a:off x="822646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E969BF7D-4AED-62B8-45A6-ED0C6E3DB665}"/>
              </a:ext>
            </a:extLst>
          </p:cNvPr>
          <p:cNvSpPr txBox="1">
            <a:spLocks/>
          </p:cNvSpPr>
          <p:nvPr/>
        </p:nvSpPr>
        <p:spPr>
          <a:xfrm>
            <a:off x="355382" y="5207160"/>
            <a:ext cx="11316158" cy="968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PC/PSI: un rang d’admission plus élevé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Des moyennes moins élevées que les MP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Mais un ensemble plus homogène, peu d’élèves en difficulté (&lt; 12)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Inversement, réussite des MPI corrélée à meilleur rang d’admission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97BCF9D-27B4-E0A4-16CF-6BE88057A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555" y="1355879"/>
            <a:ext cx="5704956" cy="35193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F8F116-7880-01FD-F4B7-E996E26F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82" y="1355879"/>
            <a:ext cx="5699291" cy="35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8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AFB1-7345-5807-23E0-05F1EC70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472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Notes en statistiques et mathématiques en 1A</a:t>
            </a:r>
            <a:br>
              <a:rPr lang="fr-FR" sz="3600" b="1" dirty="0">
                <a:latin typeface="+mj-lt"/>
              </a:rPr>
            </a:br>
            <a:br>
              <a:rPr lang="fr-FR" sz="3600" b="1" dirty="0">
                <a:latin typeface="+mj-lt"/>
              </a:rPr>
            </a:b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487BA-4557-E1FA-F7BA-E2E2955E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439" y="5651031"/>
            <a:ext cx="10876472" cy="82887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1800" dirty="0"/>
              <a:t>Amélioration générale depuis 2015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1800" dirty="0"/>
              <a:t>Les BUT et les D2 en nette amélioration, les MP et BL stagnent - mais partaient de plus haut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18CAD1-CAC6-AB62-252F-FE8523620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529" y="1146897"/>
            <a:ext cx="7263441" cy="442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823F2-C5D6-4F0E-A621-B5DD2124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4494" cy="713867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Des échecs plus nombreux parmi les attachés en 1A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0345599C-D7F1-4E0A-AE0F-F5A5577CC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785051"/>
              </p:ext>
            </p:extLst>
          </p:nvPr>
        </p:nvGraphicFramePr>
        <p:xfrm>
          <a:off x="1639615" y="1627011"/>
          <a:ext cx="9396456" cy="44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21570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A1E78-1B8C-4CE1-B5DA-D21D65E7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Des échecs plus nombreux parmi les attachés en 2A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EF478D3C-54D0-4A42-85EC-A72C1C723D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084659"/>
              </p:ext>
            </p:extLst>
          </p:nvPr>
        </p:nvGraphicFramePr>
        <p:xfrm>
          <a:off x="1313793" y="1450427"/>
          <a:ext cx="9396000" cy="444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6267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F007-7C33-EE19-10B2-756804F7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028F8-CCA4-51F0-6A63-4CDFD581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latin typeface="Bahnschrift SemiLight" panose="020B0502040204020203" pitchFamily="34" charset="0"/>
                <a:ea typeface="+mn-ea"/>
              </a:rPr>
              <a:t>Les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79A211-E1DB-20F8-C8EE-3D6E5550A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1031" y="4928446"/>
            <a:ext cx="8206484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AST surreprésentés en GR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BL et D2 surreprésentés en MES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BUT surreprésentés en SBIO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Toutes les voies d’entrée sont représentées en GS et ID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87707024-C415-7B4E-EC33-38784494814C}"/>
              </a:ext>
            </a:extLst>
          </p:cNvPr>
          <p:cNvGrpSpPr/>
          <p:nvPr/>
        </p:nvGrpSpPr>
        <p:grpSpPr>
          <a:xfrm>
            <a:off x="502694" y="1197522"/>
            <a:ext cx="10790719" cy="3886200"/>
            <a:chOff x="563080" y="1368813"/>
            <a:chExt cx="10790719" cy="3886200"/>
          </a:xfrm>
        </p:grpSpPr>
        <p:sp>
          <p:nvSpPr>
            <p:cNvPr id="15" name="Espace réservé du texte 2">
              <a:extLst>
                <a:ext uri="{FF2B5EF4-FFF2-40B4-BE49-F238E27FC236}">
                  <a16:creationId xmlns:a16="http://schemas.microsoft.com/office/drawing/2014/main" id="{7336B91D-3BC3-F65D-5B23-5575D815181E}"/>
                </a:ext>
              </a:extLst>
            </p:cNvPr>
            <p:cNvSpPr txBox="1">
              <a:spLocks/>
            </p:cNvSpPr>
            <p:nvPr/>
          </p:nvSpPr>
          <p:spPr>
            <a:xfrm>
              <a:off x="1158925" y="1368813"/>
              <a:ext cx="8206484" cy="1470804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Bahnschrift SemiLight" panose="020B0502040204020203" pitchFamily="34" charset="0"/>
                  <a:ea typeface="+mn-ea"/>
                  <a:cs typeface="Thorndale AMT" panose="02020603050405020304" pitchFamily="18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/>
              <a:endParaRPr lang="fr-FR" sz="2000" dirty="0"/>
            </a:p>
            <a:p>
              <a:pPr marL="571500" indent="-342900">
                <a:buFont typeface="Wingdings" panose="05000000000000000000" pitchFamily="2" charset="2"/>
                <a:buChar char="q"/>
              </a:pPr>
              <a:endParaRPr lang="fr-FR" sz="2000" dirty="0"/>
            </a:p>
            <a:p>
              <a:pPr marL="571500" indent="-342900">
                <a:buFont typeface="Wingdings" panose="05000000000000000000" pitchFamily="2" charset="2"/>
                <a:buChar char="q"/>
              </a:pPr>
              <a:endParaRPr lang="fr-FR" sz="2000" dirty="0"/>
            </a:p>
          </p:txBody>
        </p:sp>
        <p:sp>
          <p:nvSpPr>
            <p:cNvPr id="16" name="Espace réservé du texte 2">
              <a:extLst>
                <a:ext uri="{FF2B5EF4-FFF2-40B4-BE49-F238E27FC236}">
                  <a16:creationId xmlns:a16="http://schemas.microsoft.com/office/drawing/2014/main" id="{40866860-EAF7-AEF8-A18D-09BFB900955F}"/>
                </a:ext>
              </a:extLst>
            </p:cNvPr>
            <p:cNvSpPr txBox="1">
              <a:spLocks/>
            </p:cNvSpPr>
            <p:nvPr/>
          </p:nvSpPr>
          <p:spPr>
            <a:xfrm>
              <a:off x="1041031" y="1368813"/>
              <a:ext cx="10194875" cy="388620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Bahnschrift SemiLight" panose="020B0502040204020203" pitchFamily="34" charset="0"/>
                  <a:ea typeface="+mn-ea"/>
                  <a:cs typeface="Thorndale AMT" panose="02020603050405020304" pitchFamily="18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/>
              <a:endParaRPr lang="fr-FR" sz="2000" dirty="0"/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69D03780-2AF9-E773-983E-B7AEE02DD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581"/>
            <a:stretch>
              <a:fillRect/>
            </a:stretch>
          </p:blipFill>
          <p:spPr>
            <a:xfrm>
              <a:off x="563080" y="1440611"/>
              <a:ext cx="10790719" cy="3487835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12D104A-4AB7-DF43-9AB3-B582043BEC0C}"/>
                </a:ext>
              </a:extLst>
            </p:cNvPr>
            <p:cNvSpPr/>
            <p:nvPr/>
          </p:nvSpPr>
          <p:spPr>
            <a:xfrm>
              <a:off x="1906438" y="3321170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3DA12E73-9FFE-09C9-9469-6BC73652356F}"/>
                </a:ext>
              </a:extLst>
            </p:cNvPr>
            <p:cNvSpPr/>
            <p:nvPr/>
          </p:nvSpPr>
          <p:spPr>
            <a:xfrm>
              <a:off x="4284453" y="3309668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A9F5EFDC-6932-025B-10DE-E2D76383929C}"/>
                </a:ext>
              </a:extLst>
            </p:cNvPr>
            <p:cNvSpPr/>
            <p:nvPr/>
          </p:nvSpPr>
          <p:spPr>
            <a:xfrm>
              <a:off x="1906438" y="2598626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35C19FDA-29FA-11ED-11DA-0CBEECBB010A}"/>
                </a:ext>
              </a:extLst>
            </p:cNvPr>
            <p:cNvSpPr/>
            <p:nvPr/>
          </p:nvSpPr>
          <p:spPr>
            <a:xfrm>
              <a:off x="7251940" y="2573346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6796E555-9098-BA2F-5AC5-1EC1F6909748}"/>
                </a:ext>
              </a:extLst>
            </p:cNvPr>
            <p:cNvSpPr/>
            <p:nvPr/>
          </p:nvSpPr>
          <p:spPr>
            <a:xfrm>
              <a:off x="1906438" y="1850366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168D5638-DC8B-3E8B-3BBB-BE07074F9849}"/>
                </a:ext>
              </a:extLst>
            </p:cNvPr>
            <p:cNvSpPr/>
            <p:nvPr/>
          </p:nvSpPr>
          <p:spPr>
            <a:xfrm>
              <a:off x="7217434" y="1859429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9D91E72A-875D-62B0-5350-9B7A39299435}"/>
                </a:ext>
              </a:extLst>
            </p:cNvPr>
            <p:cNvSpPr/>
            <p:nvPr/>
          </p:nvSpPr>
          <p:spPr>
            <a:xfrm>
              <a:off x="9247515" y="2221738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A143C49-DC75-E9E2-B60E-E1A5E3CB7689}"/>
                </a:ext>
              </a:extLst>
            </p:cNvPr>
            <p:cNvSpPr/>
            <p:nvPr/>
          </p:nvSpPr>
          <p:spPr>
            <a:xfrm>
              <a:off x="1906438" y="2202574"/>
              <a:ext cx="1086928" cy="36230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310528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DEF0C-9E81-D39D-21BD-D5A379EF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latin typeface="Bahnschrift SemiLight" panose="020B0502040204020203" pitchFamily="34" charset="0"/>
                <a:ea typeface="+mn-ea"/>
              </a:rPr>
              <a:t>Engagement numérique : un projet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CF857-3B8B-0225-4EB1-818B87E1C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4" y="2071237"/>
            <a:ext cx="5537912" cy="189002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750D196-7FEC-7E03-BB8E-D818AC2BD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376" y="1526875"/>
            <a:ext cx="6102510" cy="2907013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F8F1515D-5F93-BACC-27A8-441DA9442C20}"/>
              </a:ext>
            </a:extLst>
          </p:cNvPr>
          <p:cNvSpPr txBox="1">
            <a:spLocks/>
          </p:cNvSpPr>
          <p:nvPr/>
        </p:nvSpPr>
        <p:spPr>
          <a:xfrm>
            <a:off x="838200" y="4944433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L’engagement numérique ne constitue pas à ce stade à lui seul un indicateur de prédiction du décrochage ou du risque de redoublement / exclusion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Mais utile dans une combinaison d’autres indicateurs (absences, certaines notes, etc.)</a:t>
            </a:r>
          </a:p>
          <a:p>
            <a:pPr marL="228600"/>
            <a:r>
              <a:rPr lang="fr-FR" sz="2000" dirty="0">
                <a:sym typeface="Wingdings" panose="05000000000000000000" pitchFamily="2" charset="2"/>
              </a:rPr>
              <a:t> Travaux à poursuivre</a:t>
            </a: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08966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F43EFF-EDAA-EA8D-CC50-655624EB8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Vers un tableau de bord de pilotage (en lien avec les enquêtes administratives)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Analyses économétriques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sur la réussite à l’école à approfondir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Réaliser une typologie/cartographie des trajectoires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Développer les travaux sur les Learning Analytics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Etc.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hlinkClick r:id="rId3"/>
              </a:rPr>
              <a:t>https://chlesieur.github.io/analyse_bdd_eleves_ensai/scripts/analyses_2015_2024.html</a:t>
            </a:r>
            <a:endParaRPr lang="fr-FR" dirty="0"/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B8AE06B-FB7C-DA28-4C76-2D502597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sz="3600" dirty="0">
                <a:latin typeface="Bahnschrift SemiLight" panose="020B0502040204020203" pitchFamily="34" charset="0"/>
                <a:ea typeface="+mn-ea"/>
              </a:rPr>
              <a:t>Next </a:t>
            </a:r>
            <a:r>
              <a:rPr lang="fr-FR" sz="3600" dirty="0" err="1">
                <a:latin typeface="Bahnschrift SemiLight" panose="020B0502040204020203" pitchFamily="34" charset="0"/>
                <a:ea typeface="+mn-ea"/>
              </a:rPr>
              <a:t>step</a:t>
            </a:r>
            <a:endParaRPr lang="fr-FR" sz="3600" dirty="0">
              <a:latin typeface="Bahnschrift SemiLight" panose="020B0502040204020203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2584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6378114" y="2903489"/>
            <a:ext cx="4049785" cy="1325563"/>
          </a:xfrm>
        </p:spPr>
        <p:txBody>
          <a:bodyPr/>
          <a:lstStyle/>
          <a:p>
            <a:r>
              <a:rPr lang="fr-FR" dirty="0">
                <a:latin typeface="+mj-lt"/>
              </a:rPr>
              <a:t>Des questions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B6E495-AB01-E9D1-315F-1E86D5F98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58596" cy="68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0366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Bahnschrift Ligh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 PP ENSAI 2024 (004) [Lecture seule]" id="{A8C3ABBE-4DAF-470D-8BE6-22D8833A9F33}" vid="{5F2DD50E-0F97-4FC8-AEA4-A9228D75ACE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310666E43344DBB97204024C35E51" ma:contentTypeVersion="9" ma:contentTypeDescription="Crée un document." ma:contentTypeScope="" ma:versionID="573ffdbf12c7b695bb28268475d70968">
  <xsd:schema xmlns:xsd="http://www.w3.org/2001/XMLSchema" xmlns:xs="http://www.w3.org/2001/XMLSchema" xmlns:p="http://schemas.microsoft.com/office/2006/metadata/properties" xmlns:ns3="8138461d-bdab-49ac-9f5d-17d936bf67ed" targetNamespace="http://schemas.microsoft.com/office/2006/metadata/properties" ma:root="true" ma:fieldsID="e9846188d7e02216a8bc56714eaf8c98" ns3:_="">
    <xsd:import namespace="8138461d-bdab-49ac-9f5d-17d936bf67e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8461d-bdab-49ac-9f5d-17d936bf67e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38461d-bdab-49ac-9f5d-17d936bf67ed" xsi:nil="true"/>
  </documentManagement>
</p:properties>
</file>

<file path=customXml/itemProps1.xml><?xml version="1.0" encoding="utf-8"?>
<ds:datastoreItem xmlns:ds="http://schemas.openxmlformats.org/officeDocument/2006/customXml" ds:itemID="{192A3D37-6C49-4620-B2B6-76D5704EBC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C6793F-A4AC-4441-9CFB-A91A1258C3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38461d-bdab-49ac-9f5d-17d936bf67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1EFE21-6212-40E3-9464-BEE2346D99CE}">
  <ds:schemaRefs>
    <ds:schemaRef ds:uri="http://schemas.microsoft.com/office/2006/documentManagement/types"/>
    <ds:schemaRef ds:uri="http://schemas.openxmlformats.org/package/2006/metadata/core-properties"/>
    <ds:schemaRef ds:uri="8138461d-bdab-49ac-9f5d-17d936bf67ed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99578065-47e8-4c36-bbf8-4e1228cfb056}" enabled="0" method="" siteId="{99578065-47e8-4c36-bbf8-4e1228cfb0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Modele PPT ENSAI 2024</Template>
  <TotalTime>7666</TotalTime>
  <Words>578</Words>
  <Application>Microsoft Office PowerPoint</Application>
  <PresentationFormat>Grand écran</PresentationFormat>
  <Paragraphs>97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Aptos</vt:lpstr>
      <vt:lpstr>Arial</vt:lpstr>
      <vt:lpstr>Bahnschrift Light SemiCondensed</vt:lpstr>
      <vt:lpstr>Bahnschrift SemiLight</vt:lpstr>
      <vt:lpstr>Calibri</vt:lpstr>
      <vt:lpstr>Georgia</vt:lpstr>
      <vt:lpstr>Wingdings</vt:lpstr>
      <vt:lpstr>Conception personnalisée</vt:lpstr>
      <vt:lpstr>Présentation PowerPoint</vt:lpstr>
      <vt:lpstr>Présentation du projet</vt:lpstr>
      <vt:lpstr>Une baisse des profils MP depuis le CCINP</vt:lpstr>
      <vt:lpstr>Les matheux préfèrent le statut d’ingénieur </vt:lpstr>
      <vt:lpstr>Les BL et les D2 reviennent vers le statut attaché </vt:lpstr>
      <vt:lpstr>Résultats scolaire en 1ère année et voie d’entrée</vt:lpstr>
      <vt:lpstr>Résultats scolaire en 2ème année et voie d’entrée</vt:lpstr>
      <vt:lpstr>Les PC/PSI en difficultés ?</vt:lpstr>
      <vt:lpstr>Notes en statistiques et mathématiques en 1A   </vt:lpstr>
      <vt:lpstr>Des échecs plus nombreux parmi les attachés en 1A</vt:lpstr>
      <vt:lpstr>Des échecs plus nombreux parmi les attachés en 2A</vt:lpstr>
      <vt:lpstr>Les choix de filière de spécialisation</vt:lpstr>
      <vt:lpstr>Engagement numérique : un projet</vt:lpstr>
      <vt:lpstr>Next step</vt:lpstr>
      <vt:lpstr>Des questions ?</vt:lpstr>
    </vt:vector>
  </TitlesOfParts>
  <Company>ENSAI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GANDUBERT Patrick</dc:creator>
  <cp:lastModifiedBy>LESIEUR Christophe</cp:lastModifiedBy>
  <cp:revision>149</cp:revision>
  <cp:lastPrinted>2026-06-30T09:16:04Z</cp:lastPrinted>
  <dcterms:created xsi:type="dcterms:W3CDTF">2024-10-07T14:28:24Z</dcterms:created>
  <dcterms:modified xsi:type="dcterms:W3CDTF">2026-06-30T11:38:00Z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0x010100E55310666E43344DBB97204024C35E51</vt:lpwstr>
  </property>
</Properties>
</file>