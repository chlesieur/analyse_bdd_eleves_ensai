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32"/>
  </p:notesMasterIdLst>
  <p:handoutMasterIdLst>
    <p:handoutMasterId r:id="rId33"/>
  </p:handoutMasterIdLst>
  <p:sldIdLst>
    <p:sldId id="259" r:id="rId6"/>
    <p:sldId id="283" r:id="rId7"/>
    <p:sldId id="284" r:id="rId8"/>
    <p:sldId id="286" r:id="rId9"/>
    <p:sldId id="288" r:id="rId10"/>
    <p:sldId id="308" r:id="rId11"/>
    <p:sldId id="309" r:id="rId12"/>
    <p:sldId id="315" r:id="rId13"/>
    <p:sldId id="293" r:id="rId14"/>
    <p:sldId id="295" r:id="rId15"/>
    <p:sldId id="296" r:id="rId16"/>
    <p:sldId id="297" r:id="rId17"/>
    <p:sldId id="313" r:id="rId18"/>
    <p:sldId id="311" r:id="rId19"/>
    <p:sldId id="298" r:id="rId20"/>
    <p:sldId id="289" r:id="rId21"/>
    <p:sldId id="287" r:id="rId22"/>
    <p:sldId id="291" r:id="rId23"/>
    <p:sldId id="314" r:id="rId24"/>
    <p:sldId id="306" r:id="rId25"/>
    <p:sldId id="299" r:id="rId26"/>
    <p:sldId id="300" r:id="rId27"/>
    <p:sldId id="301" r:id="rId28"/>
    <p:sldId id="302" r:id="rId29"/>
    <p:sldId id="304" r:id="rId30"/>
    <p:sldId id="277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AEDB"/>
    <a:srgbClr val="005980"/>
    <a:srgbClr val="A6A6A6"/>
    <a:srgbClr val="009BDE"/>
    <a:srgbClr val="564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CCED0-103C-4C10-8D72-99DD07E324A0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C92F0-C3EC-4C25-8D86-B30BA11ABE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336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58B95-F104-4A72-A4BF-C3A46957C25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1E338-64DE-4218-8E01-89E259BBC0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11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9350" y="2705100"/>
            <a:ext cx="5384800" cy="5207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 hasCustomPrompt="1"/>
          </p:nvPr>
        </p:nvSpPr>
        <p:spPr>
          <a:xfrm>
            <a:off x="1149350" y="3492500"/>
            <a:ext cx="170180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6" hasCustomPrompt="1"/>
          </p:nvPr>
        </p:nvSpPr>
        <p:spPr>
          <a:xfrm>
            <a:off x="1149350" y="5143500"/>
            <a:ext cx="400685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Nom prénom (facultatif)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1149350" y="635000"/>
            <a:ext cx="45656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Georgia" panose="02040502050405020303" pitchFamily="18" charset="0"/>
                <a:ea typeface="CSongGB18030C-Light" panose="020A0304000101010101" pitchFamily="18" charset="-122"/>
                <a:cs typeface="Cascadia Mono" panose="020B0609020000020004" pitchFamily="49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73899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Modifiez le texte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044700"/>
            <a:ext cx="10515600" cy="3886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276142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201929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55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tx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7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6936258" y="2108199"/>
            <a:ext cx="4349579" cy="4229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493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939800" y="742779"/>
            <a:ext cx="2618946" cy="787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39800" y="1879600"/>
            <a:ext cx="10375900" cy="4203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90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554595"/>
            <a:ext cx="7505700" cy="777875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5025"/>
            <a:ext cx="10420350" cy="4086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964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450226" cy="787400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914400" y="1922162"/>
            <a:ext cx="10445578" cy="138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14400" y="3736202"/>
            <a:ext cx="10445578" cy="205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953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30400"/>
            <a:ext cx="10515600" cy="227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124990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187071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123571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123571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123571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5560695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4925695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13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4925695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4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4925695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9" name="Espace réservé pour une image  3"/>
          <p:cNvSpPr>
            <a:spLocks noGrp="1"/>
          </p:cNvSpPr>
          <p:nvPr>
            <p:ph type="pic" sz="quarter" idx="18"/>
          </p:nvPr>
        </p:nvSpPr>
        <p:spPr>
          <a:xfrm>
            <a:off x="925068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861568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0" hasCustomPrompt="1"/>
          </p:nvPr>
        </p:nvSpPr>
        <p:spPr>
          <a:xfrm>
            <a:off x="861568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22" name="Espace réservé du contenu 9"/>
          <p:cNvSpPr>
            <a:spLocks noGrp="1"/>
          </p:cNvSpPr>
          <p:nvPr>
            <p:ph sz="quarter" idx="21" hasCustomPrompt="1"/>
          </p:nvPr>
        </p:nvSpPr>
        <p:spPr>
          <a:xfrm>
            <a:off x="861568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</p:spTree>
    <p:extLst>
      <p:ext uri="{BB962C8B-B14F-4D97-AF65-F5344CB8AC3E}">
        <p14:creationId xmlns:p14="http://schemas.microsoft.com/office/powerpoint/2010/main" val="330374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3902710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3267710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5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3267710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6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3267710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7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7592695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6957695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6957695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6957695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</p:spTree>
    <p:extLst>
      <p:ext uri="{BB962C8B-B14F-4D97-AF65-F5344CB8AC3E}">
        <p14:creationId xmlns:p14="http://schemas.microsoft.com/office/powerpoint/2010/main" val="384298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5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39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  <p:sldLayoutId id="2147483652" r:id="rId3"/>
    <p:sldLayoutId id="2147483653" r:id="rId4"/>
    <p:sldLayoutId id="2147483654" r:id="rId5"/>
    <p:sldLayoutId id="2147483658" r:id="rId6"/>
    <p:sldLayoutId id="2147483655" r:id="rId7"/>
    <p:sldLayoutId id="2147483660" r:id="rId8"/>
    <p:sldLayoutId id="2147483656" r:id="rId9"/>
    <p:sldLayoutId id="2147483659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149349" y="1724024"/>
            <a:ext cx="9893302" cy="520700"/>
          </a:xfrm>
        </p:spPr>
        <p:txBody>
          <a:bodyPr/>
          <a:lstStyle/>
          <a:p>
            <a:r>
              <a:rPr lang="fr-FR" dirty="0">
                <a:latin typeface="+mj-lt"/>
              </a:rPr>
              <a:t>Premières analyses à partir des données d’admission, de Pamplemousse et de Moodle sur la période 2015-2025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4"/>
          </p:nvPr>
        </p:nvSpPr>
        <p:spPr>
          <a:xfrm>
            <a:off x="1149349" y="2917826"/>
            <a:ext cx="2450062" cy="415924"/>
          </a:xfrm>
        </p:spPr>
        <p:txBody>
          <a:bodyPr/>
          <a:lstStyle/>
          <a:p>
            <a:r>
              <a:rPr lang="fr-FR" dirty="0"/>
              <a:t>2 avril 2026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7"/>
          </p:nvPr>
        </p:nvSpPr>
        <p:spPr>
          <a:xfrm>
            <a:off x="1149348" y="658812"/>
            <a:ext cx="10814051" cy="1114426"/>
          </a:xfrm>
        </p:spPr>
        <p:txBody>
          <a:bodyPr/>
          <a:lstStyle/>
          <a:p>
            <a:r>
              <a:rPr lang="fr-FR" sz="5000" dirty="0">
                <a:latin typeface="+mj-lt"/>
              </a:rPr>
              <a:t>Trajectoires des étudiants à l’ENSAI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1A4A2BF2-E617-584E-1661-8BDA87DC96DD}"/>
              </a:ext>
            </a:extLst>
          </p:cNvPr>
          <p:cNvSpPr txBox="1">
            <a:spLocks/>
          </p:cNvSpPr>
          <p:nvPr/>
        </p:nvSpPr>
        <p:spPr>
          <a:xfrm>
            <a:off x="1149348" y="3584574"/>
            <a:ext cx="4692651" cy="4159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Christophe Lesieur, Stéphane </a:t>
            </a:r>
            <a:r>
              <a:rPr lang="fr-FR" dirty="0" err="1"/>
              <a:t>Legleye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3D63354-3A4D-6CA3-3449-8EC992DEE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68" y="4508501"/>
            <a:ext cx="762106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7483-F0C2-B2FE-1254-DC824D8D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430A5-86F3-CC28-588F-21A1EBB5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Plan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8B9EFC-4B85-B594-50D5-EFD45925F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fr-FR" dirty="0"/>
              <a:t>Effectifs par voies d’entrée</a:t>
            </a:r>
          </a:p>
          <a:p>
            <a:pPr marL="514350" indent="-514350">
              <a:buAutoNum type="arabicPeriod"/>
            </a:pPr>
            <a:r>
              <a:rPr lang="fr-FR" dirty="0"/>
              <a:t>La baisse d’attractivité du statut fonctionnaire</a:t>
            </a:r>
          </a:p>
          <a:p>
            <a:pPr marL="514350" indent="-514350">
              <a:buAutoNum type="arabicPeriod"/>
            </a:pPr>
            <a:r>
              <a:rPr lang="fr-FR" dirty="0"/>
              <a:t>Rang d’admission et réussite scolaire</a:t>
            </a:r>
          </a:p>
          <a:p>
            <a:pPr marL="514350" indent="-514350">
              <a:buAutoNum type="arabicPeriod"/>
            </a:pPr>
            <a:r>
              <a:rPr lang="fr-FR" dirty="0"/>
              <a:t>Les déterminants des choix de filière de spécialisation</a:t>
            </a:r>
          </a:p>
          <a:p>
            <a:pPr marL="514350" indent="-514350">
              <a:buAutoNum type="arabicPeriod"/>
            </a:pPr>
            <a:r>
              <a:rPr lang="fr-FR" dirty="0"/>
              <a:t>Impact du niveau d’anglais sur la scolarité</a:t>
            </a:r>
          </a:p>
          <a:p>
            <a:pPr marL="514350" indent="-514350">
              <a:buAutoNum type="arabicPeriod"/>
            </a:pPr>
            <a:r>
              <a:rPr lang="fr-FR" dirty="0"/>
              <a:t>Diversité</a:t>
            </a:r>
          </a:p>
          <a:p>
            <a:pPr marL="514350" indent="-514350">
              <a:buAutoNum type="arabicPeriod"/>
            </a:pPr>
            <a:r>
              <a:rPr lang="fr-FR" dirty="0"/>
              <a:t>Vers un tableau de suivi partagé des indicateurs clés </a:t>
            </a:r>
          </a:p>
          <a:p>
            <a:pPr marL="514350" indent="-514350">
              <a:buAutoNum type="arabicPeriod"/>
            </a:pPr>
            <a:r>
              <a:rPr lang="fr-FR" dirty="0"/>
              <a:t>Engagement numérique</a:t>
            </a:r>
          </a:p>
        </p:txBody>
      </p:sp>
    </p:spTree>
    <p:extLst>
      <p:ext uri="{BB962C8B-B14F-4D97-AF65-F5344CB8AC3E}">
        <p14:creationId xmlns:p14="http://schemas.microsoft.com/office/powerpoint/2010/main" val="3895332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D942E7-2391-6D34-F7BF-F5ECF221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20385" cy="775921"/>
          </a:xfrm>
        </p:spPr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Effectifs par voie d’entrée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DAE2B93C-8B28-ED74-8EA1-0A09E5B15C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3019" y="5823973"/>
            <a:ext cx="4946583" cy="668902"/>
          </a:xfrm>
        </p:spPr>
        <p:txBody>
          <a:bodyPr/>
          <a:lstStyle/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</a:t>
            </a:r>
            <a:r>
              <a:rPr lang="fr-FR" sz="1400" baseline="30000" dirty="0"/>
              <a:t>ère</a:t>
            </a:r>
            <a:r>
              <a:rPr lang="fr-FR" sz="1400" dirty="0"/>
              <a:t> et 2</a:t>
            </a:r>
            <a:r>
              <a:rPr lang="fr-FR" sz="1400" baseline="30000" dirty="0"/>
              <a:t>ème</a:t>
            </a:r>
            <a:r>
              <a:rPr lang="fr-FR" sz="1400" dirty="0"/>
              <a:t> année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5822227-FB3C-2BCC-38AF-252DA6B59F9C}"/>
              </a:ext>
            </a:extLst>
          </p:cNvPr>
          <p:cNvSpPr txBox="1">
            <a:spLocks/>
          </p:cNvSpPr>
          <p:nvPr/>
        </p:nvSpPr>
        <p:spPr>
          <a:xfrm>
            <a:off x="389626" y="1588650"/>
            <a:ext cx="4061604" cy="41354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du recrutement des MP au profit d’une diversification des voies d’entrée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Notamment création MPI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Mais aussi hausse des PC/PSI </a:t>
            </a:r>
            <a:endParaRPr lang="fr-FR" sz="1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de la part du concours interne INSEE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Variation importante de la part des BL équilibrée par la variation des D2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Stabilité des BUT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récente des AST-2A</a:t>
            </a:r>
            <a:endParaRPr lang="fr-FR" sz="1600" dirty="0"/>
          </a:p>
          <a:p>
            <a:pPr marL="1028700" lvl="1" indent="-342900">
              <a:buFont typeface="Wingdings" panose="05000000000000000000" pitchFamily="2" charset="2"/>
              <a:buChar char="q"/>
            </a:pPr>
            <a:endParaRPr lang="fr-FR" sz="1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D146BA-B4F8-7F16-E1DC-B0239FE84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588" y="1588650"/>
            <a:ext cx="6616642" cy="40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5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7410-3364-A9EC-084C-3587A410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F6761-26E1-C0C5-C6B2-AA0DBAD4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20385" cy="775921"/>
          </a:xfrm>
        </p:spPr>
        <p:txBody>
          <a:bodyPr/>
          <a:lstStyle/>
          <a:p>
            <a:r>
              <a:rPr lang="fr-FR" b="1" dirty="0">
                <a:latin typeface="+mj-lt"/>
              </a:rPr>
              <a:t>Effectifs par statut à l’entrée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562BB7B3-8B70-A77D-CA5C-85D0EE584B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4536" y="5650410"/>
            <a:ext cx="4946583" cy="668902"/>
          </a:xfrm>
        </p:spPr>
        <p:txBody>
          <a:bodyPr/>
          <a:lstStyle/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D9AB067-02BA-0C05-A467-740CE2DE3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54" y="1532483"/>
            <a:ext cx="6534546" cy="3953929"/>
          </a:xfrm>
          <a:prstGeom prst="rect">
            <a:avLst/>
          </a:prstGeom>
        </p:spPr>
      </p:pic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C68F6A52-BD87-8705-F16B-8A64F57B7018}"/>
              </a:ext>
            </a:extLst>
          </p:cNvPr>
          <p:cNvSpPr txBox="1">
            <a:spLocks/>
          </p:cNvSpPr>
          <p:nvPr/>
        </p:nvSpPr>
        <p:spPr>
          <a:xfrm>
            <a:off x="7175860" y="1649035"/>
            <a:ext cx="4061604" cy="41354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Hausse de 124 à 188 étudiants en 2024, soit + 50 %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Un peu moins de 2/3 d’ingénieurs, un peu plus d’1/3 d’élèves attachés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Une part stable de 35 à 38 % d’élèves attachés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Hormis les années 2022 et 2023 avec moins de 33 % d’attachés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Entre 8 et 13 places au concours interne selon les années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48 attachés recrutés en 2022 contre 68 en 2025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791662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EAD4A5-1DDE-20DE-2B0A-A25F7D66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Concours Maths</a:t>
            </a:r>
            <a:br>
              <a:rPr lang="fr-FR" b="1" dirty="0">
                <a:latin typeface="+mj-lt"/>
              </a:rPr>
            </a:br>
            <a:r>
              <a:rPr lang="fr-FR" sz="3200" b="1" dirty="0">
                <a:latin typeface="+mj-lt"/>
              </a:rPr>
              <a:t>Préférence des mieux classés pour le statut ingénieur</a:t>
            </a:r>
            <a:br>
              <a:rPr lang="fr-FR" b="1" dirty="0">
                <a:latin typeface="+mj-lt"/>
              </a:rPr>
            </a:br>
            <a:endParaRPr lang="fr-FR" sz="2800" b="1" dirty="0">
              <a:latin typeface="+mj-lt"/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739F4B82-247A-22E3-BF9C-1BD7F4DD9835}"/>
              </a:ext>
            </a:extLst>
          </p:cNvPr>
          <p:cNvSpPr txBox="1">
            <a:spLocks/>
          </p:cNvSpPr>
          <p:nvPr/>
        </p:nvSpPr>
        <p:spPr>
          <a:xfrm>
            <a:off x="635589" y="5022071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Intérêt pour le statut de fonctionnaire qui repart à la baisse sur 2023-2025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De bons classés choisissent le statut fonctionnaire mais les moins bien classés choisissent – peut-être par défaut – la filière d’attaché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DDB601E-4A60-6D43-7136-F3C325A0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901" y="1690688"/>
            <a:ext cx="4898288" cy="303092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40F8E9F-68F8-3F44-49CE-2E732266A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30" y="1690688"/>
            <a:ext cx="4652368" cy="287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6876-9087-1E77-37A3-E491D050B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266F3-7483-DE84-8D0B-9F2318BE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Concours BL</a:t>
            </a:r>
            <a:br>
              <a:rPr lang="fr-FR" b="1" dirty="0">
                <a:latin typeface="+mj-lt"/>
              </a:rPr>
            </a:br>
            <a:r>
              <a:rPr lang="fr-FR" sz="3200" b="1" dirty="0">
                <a:latin typeface="+mj-lt"/>
              </a:rPr>
              <a:t>Attractivité en hausse du statut fonctionnaire</a:t>
            </a:r>
            <a:br>
              <a:rPr lang="fr-FR" b="1" dirty="0">
                <a:latin typeface="+mj-lt"/>
              </a:rPr>
            </a:br>
            <a:endParaRPr lang="fr-FR" sz="2800" b="1" dirty="0">
              <a:latin typeface="+mj-lt"/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C0E11C6D-65C8-0F1E-202B-473C40BD22BF}"/>
              </a:ext>
            </a:extLst>
          </p:cNvPr>
          <p:cNvSpPr txBox="1">
            <a:spLocks/>
          </p:cNvSpPr>
          <p:nvPr/>
        </p:nvSpPr>
        <p:spPr>
          <a:xfrm>
            <a:off x="635589" y="5022071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préférences entre les deux statuts ont tendance à s’équilibrer depuis 2021</a:t>
            </a:r>
          </a:p>
          <a:p>
            <a:pPr marL="228600"/>
            <a:endParaRPr lang="fr-FR" sz="2000" dirty="0"/>
          </a:p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DB03B2A-9687-030B-422F-D773709D6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67856"/>
            <a:ext cx="4895518" cy="303002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FE9F928-4381-082C-6FF5-B6DE32464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62" y="1629272"/>
            <a:ext cx="4932327" cy="303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2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0221-C4B3-9390-E784-2ADCE1D5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87DB21-681E-0CAC-7033-615872E3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Concours D2</a:t>
            </a:r>
            <a:br>
              <a:rPr lang="fr-FR" b="1" dirty="0">
                <a:latin typeface="+mj-lt"/>
              </a:rPr>
            </a:br>
            <a:r>
              <a:rPr lang="fr-FR" sz="3200" b="1" dirty="0">
                <a:latin typeface="+mj-lt"/>
              </a:rPr>
              <a:t>Même constat que pour les BL</a:t>
            </a:r>
            <a:br>
              <a:rPr lang="fr-FR" b="1" dirty="0">
                <a:latin typeface="+mj-lt"/>
              </a:rPr>
            </a:br>
            <a:endParaRPr lang="fr-FR" sz="2800" b="1" dirty="0">
              <a:latin typeface="+mj-lt"/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E6199D4A-90B2-B56B-F397-E4F93A656D5B}"/>
              </a:ext>
            </a:extLst>
          </p:cNvPr>
          <p:cNvSpPr txBox="1">
            <a:spLocks/>
          </p:cNvSpPr>
          <p:nvPr/>
        </p:nvSpPr>
        <p:spPr>
          <a:xfrm>
            <a:off x="635589" y="5022071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en 2018-2020 puis retour à la hausse de l’attractivité du statut fonctionnaire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D285B9-A3C7-0875-736E-A749290AC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39" y="1480693"/>
            <a:ext cx="5044649" cy="309993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565D756-1218-EF6D-561B-B1FB74A4A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30" y="1480693"/>
            <a:ext cx="5142645" cy="316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07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1D7C806E-179C-872E-D1D7-E07080D00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Origine et classement au concours</a:t>
            </a:r>
            <a:br>
              <a:rPr lang="fr-FR" b="1" dirty="0">
                <a:latin typeface="+mj-lt"/>
              </a:rPr>
            </a:br>
            <a:r>
              <a:rPr lang="fr-FR" sz="3200" b="1" dirty="0">
                <a:latin typeface="+mj-lt"/>
              </a:rPr>
              <a:t>Au premier abord par de grosses différences</a:t>
            </a:r>
            <a:br>
              <a:rPr lang="fr-FR" b="1" dirty="0">
                <a:latin typeface="+mj-lt"/>
              </a:rPr>
            </a:br>
            <a:endParaRPr lang="fr-FR" sz="2800" b="1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C4D7BBB-4B76-FB7C-1A64-CDFB56F25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329" y="1690688"/>
            <a:ext cx="6490426" cy="3997563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25627884-32AA-FA4A-78EE-13C58C566F5E}"/>
              </a:ext>
            </a:extLst>
          </p:cNvPr>
          <p:cNvSpPr txBox="1">
            <a:spLocks/>
          </p:cNvSpPr>
          <p:nvPr/>
        </p:nvSpPr>
        <p:spPr>
          <a:xfrm>
            <a:off x="682925" y="5598542"/>
            <a:ext cx="9763664" cy="10237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 score IDIT est la composante de l’inverse du rang au concours (20 %) et de la moyenne générale (80 %)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L’idée serait de voir si les résultats en 2A et 3A sont influencés par </a:t>
            </a:r>
            <a:r>
              <a:rPr lang="fr-FR" sz="2000"/>
              <a:t>ce score…</a:t>
            </a: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420146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3420-B453-80E5-EEBB-77A153FF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C07AF-105D-7292-C625-20D1B57B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7626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Résultats scolaire en 1</a:t>
            </a:r>
            <a:r>
              <a:rPr lang="fr-FR" b="1" baseline="30000" dirty="0">
                <a:latin typeface="+mj-lt"/>
              </a:rPr>
              <a:t>ère</a:t>
            </a:r>
            <a:r>
              <a:rPr lang="fr-FR" b="1" dirty="0">
                <a:latin typeface="+mj-lt"/>
              </a:rPr>
              <a:t> année et voie d’entrée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66B6F50F-2550-98EB-C304-F50C2962CF40}"/>
              </a:ext>
            </a:extLst>
          </p:cNvPr>
          <p:cNvSpPr txBox="1">
            <a:spLocks/>
          </p:cNvSpPr>
          <p:nvPr/>
        </p:nvSpPr>
        <p:spPr>
          <a:xfrm>
            <a:off x="1258685" y="4486931"/>
            <a:ext cx="4946583" cy="6689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392AC3-4260-6E6C-4172-44CCA9D5CA78}"/>
              </a:ext>
            </a:extLst>
          </p:cNvPr>
          <p:cNvSpPr txBox="1"/>
          <p:nvPr/>
        </p:nvSpPr>
        <p:spPr>
          <a:xfrm>
            <a:off x="165340" y="1824651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Moyenne générale des élèves en 1</a:t>
            </a:r>
            <a:r>
              <a:rPr lang="fr-FR" sz="1800" baseline="30000" dirty="0"/>
              <a:t>ère</a:t>
            </a:r>
            <a:r>
              <a:rPr lang="fr-FR" sz="1800" dirty="0"/>
              <a:t> année selon la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912FABD5-4B94-3658-7B06-5485A64242D4}"/>
              </a:ext>
            </a:extLst>
          </p:cNvPr>
          <p:cNvSpPr txBox="1">
            <a:spLocks/>
          </p:cNvSpPr>
          <p:nvPr/>
        </p:nvSpPr>
        <p:spPr>
          <a:xfrm>
            <a:off x="1041030" y="51673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admis via le concours INSEE ont une meilleure moyenne générale sur la période 2015-2025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ERASMUS sont les plus en difficulté (&lt;12/20), puis les BL et les PC/PSI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MPI : une voie d’entrée prometteuse…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BF320CF-A185-D026-1BF7-B11CCA828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71" y="2327946"/>
            <a:ext cx="5812371" cy="19862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C8A63D6-7859-2120-5467-6D05FC524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987" y="1551381"/>
            <a:ext cx="4757407" cy="293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8881-0813-A5D2-5A99-4AC24306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7D1AD-65D7-0234-0FC5-6C96E414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9771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Résultats scolaire en 2</a:t>
            </a:r>
            <a:r>
              <a:rPr lang="fr-FR" b="1" baseline="30000" dirty="0">
                <a:latin typeface="+mj-lt"/>
              </a:rPr>
              <a:t>ème</a:t>
            </a:r>
            <a:r>
              <a:rPr lang="fr-FR" b="1" dirty="0">
                <a:latin typeface="+mj-lt"/>
              </a:rPr>
              <a:t> année et voie d’entrée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D5987521-5D9E-5563-6643-8C2D4BA25530}"/>
              </a:ext>
            </a:extLst>
          </p:cNvPr>
          <p:cNvSpPr txBox="1">
            <a:spLocks/>
          </p:cNvSpPr>
          <p:nvPr/>
        </p:nvSpPr>
        <p:spPr>
          <a:xfrm>
            <a:off x="1258685" y="4486931"/>
            <a:ext cx="4946583" cy="6689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D3F148-0368-C8D3-8EAA-8B6D20BD3E26}"/>
              </a:ext>
            </a:extLst>
          </p:cNvPr>
          <p:cNvSpPr txBox="1"/>
          <p:nvPr/>
        </p:nvSpPr>
        <p:spPr>
          <a:xfrm>
            <a:off x="0" y="1861564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Moyenne générale des élèves en 2</a:t>
            </a:r>
            <a:r>
              <a:rPr lang="fr-FR" baseline="30000" dirty="0"/>
              <a:t>èm</a:t>
            </a:r>
            <a:r>
              <a:rPr lang="fr-FR" sz="1800" baseline="30000" dirty="0"/>
              <a:t>e</a:t>
            </a:r>
            <a:r>
              <a:rPr lang="fr-FR" sz="1800" dirty="0"/>
              <a:t> année selon la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1006B6E-812C-C8CA-8353-DE9E6B59A1FE}"/>
              </a:ext>
            </a:extLst>
          </p:cNvPr>
          <p:cNvSpPr txBox="1">
            <a:spLocks/>
          </p:cNvSpPr>
          <p:nvPr/>
        </p:nvSpPr>
        <p:spPr>
          <a:xfrm>
            <a:off x="1041030" y="51673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68449745-A252-943F-86F0-E58FCB7B7FE3}"/>
              </a:ext>
            </a:extLst>
          </p:cNvPr>
          <p:cNvSpPr txBox="1">
            <a:spLocks/>
          </p:cNvSpPr>
          <p:nvPr/>
        </p:nvSpPr>
        <p:spPr>
          <a:xfrm>
            <a:off x="1193430" y="53197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moyennes ont tendance à s’équilibrer en deuxième année</a:t>
            </a:r>
          </a:p>
          <a:p>
            <a:pPr marL="12573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La première année a fait le travail d’harmonisation des niveaux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AST-2A un peu au-dessus en moyenne générale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D2 sont davantage en difficulté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AB692D2-7A02-5C6B-7ADC-DDCD188C1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4" y="2371069"/>
            <a:ext cx="5769080" cy="171302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874AFC9-9AAE-6A96-16E2-1B2503A01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329" y="1613985"/>
            <a:ext cx="4099505" cy="276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56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AC22-F4B9-7255-92DA-93F9FEF8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54061-3917-2771-968D-7D8F1CA2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Résultats scolaire en 1</a:t>
            </a:r>
            <a:r>
              <a:rPr lang="fr-FR" b="1" baseline="30000" dirty="0">
                <a:latin typeface="+mj-lt"/>
              </a:rPr>
              <a:t>ème</a:t>
            </a:r>
            <a:r>
              <a:rPr lang="fr-FR" b="1" dirty="0">
                <a:latin typeface="+mj-lt"/>
              </a:rPr>
              <a:t> année et voie d’entrée par type de matière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1EF16C-69A0-B707-88FD-C66FDBCFB06B}"/>
              </a:ext>
            </a:extLst>
          </p:cNvPr>
          <p:cNvSpPr txBox="1"/>
          <p:nvPr/>
        </p:nvSpPr>
        <p:spPr>
          <a:xfrm>
            <a:off x="838199" y="1529236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Statistique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5A00E254-D758-7D91-39A1-2AA1A05B8C5D}"/>
              </a:ext>
            </a:extLst>
          </p:cNvPr>
          <p:cNvSpPr txBox="1">
            <a:spLocks/>
          </p:cNvSpPr>
          <p:nvPr/>
        </p:nvSpPr>
        <p:spPr>
          <a:xfrm>
            <a:off x="838197" y="5064138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BL, D2 et PC/PSI en retrait sur les matières statistiques et informatique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 et PC/PSI également en difficulté dans les matières d’économie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BL se rattrapent notamment sur les Humanités, tout comme les ERASMUS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1863CCA-248E-EE10-8F73-EC177197CE94}"/>
              </a:ext>
            </a:extLst>
          </p:cNvPr>
          <p:cNvSpPr txBox="1"/>
          <p:nvPr/>
        </p:nvSpPr>
        <p:spPr>
          <a:xfrm>
            <a:off x="5919121" y="1533167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Informatique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94DDE68-53D7-9C8A-C86A-D7EFCE54F693}"/>
              </a:ext>
            </a:extLst>
          </p:cNvPr>
          <p:cNvSpPr txBox="1"/>
          <p:nvPr/>
        </p:nvSpPr>
        <p:spPr>
          <a:xfrm>
            <a:off x="838200" y="3283829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Économie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00A0AF2-E600-2DFA-004A-474C75AEE135}"/>
              </a:ext>
            </a:extLst>
          </p:cNvPr>
          <p:cNvSpPr txBox="1"/>
          <p:nvPr/>
        </p:nvSpPr>
        <p:spPr>
          <a:xfrm>
            <a:off x="5919121" y="3281228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Humanités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569A221-3548-4629-D5E4-D2F211FFE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817223"/>
            <a:ext cx="4506160" cy="147782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B112B17-F7AF-E30A-6AAD-520454300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944" y="1915442"/>
            <a:ext cx="4069275" cy="130411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B2CA1C6-5A66-4EB5-129A-CC73DB233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24" y="3599260"/>
            <a:ext cx="4421933" cy="141430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206A39F-6856-8F16-7F6A-5E43F2A98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944" y="3701136"/>
            <a:ext cx="4030938" cy="128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7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D8BC-2E0E-B22B-D326-BC2BB8C4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2CBBB-6F3E-715A-3EBE-CBC2D9BC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Résultats scolaire en 2</a:t>
            </a:r>
            <a:r>
              <a:rPr lang="fr-FR" b="1" baseline="30000" dirty="0">
                <a:latin typeface="+mj-lt"/>
              </a:rPr>
              <a:t>ème</a:t>
            </a:r>
            <a:r>
              <a:rPr lang="fr-FR" b="1" dirty="0">
                <a:latin typeface="+mj-lt"/>
              </a:rPr>
              <a:t> année et voie d’entrée par type de matière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1DE8C20-6DEC-6856-5243-7716D09C69D6}"/>
              </a:ext>
            </a:extLst>
          </p:cNvPr>
          <p:cNvSpPr txBox="1"/>
          <p:nvPr/>
        </p:nvSpPr>
        <p:spPr>
          <a:xfrm>
            <a:off x="838200" y="1563324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Statistique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E2C89AD-A453-D07D-7F6D-05D43F1F28E9}"/>
              </a:ext>
            </a:extLst>
          </p:cNvPr>
          <p:cNvSpPr txBox="1">
            <a:spLocks/>
          </p:cNvSpPr>
          <p:nvPr/>
        </p:nvSpPr>
        <p:spPr>
          <a:xfrm>
            <a:off x="822646" y="514435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Ca s’équilibre : la première année a joué son rôle !</a:t>
            </a:r>
          </a:p>
          <a:p>
            <a:pPr marL="12573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C’est tout de même un peu plus difficile pour les BL, D2 et PC/PSI sur le passé récent</a:t>
            </a: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nouveaux arrivants AST-2A particulièrement performants sur les matières statistiques et informatiques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6740B9-28FB-098A-CDD5-7CA5520D8933}"/>
              </a:ext>
            </a:extLst>
          </p:cNvPr>
          <p:cNvSpPr txBox="1"/>
          <p:nvPr/>
        </p:nvSpPr>
        <p:spPr>
          <a:xfrm>
            <a:off x="5919121" y="1577567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Informatique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97F0265-59B1-5633-54F7-7A2522EF3116}"/>
              </a:ext>
            </a:extLst>
          </p:cNvPr>
          <p:cNvSpPr txBox="1"/>
          <p:nvPr/>
        </p:nvSpPr>
        <p:spPr>
          <a:xfrm>
            <a:off x="838200" y="3283829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Économie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9B02A1E-CC56-8D32-A09A-D237B011569D}"/>
              </a:ext>
            </a:extLst>
          </p:cNvPr>
          <p:cNvSpPr txBox="1"/>
          <p:nvPr/>
        </p:nvSpPr>
        <p:spPr>
          <a:xfrm>
            <a:off x="5919121" y="3281228"/>
            <a:ext cx="825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dirty="0"/>
              <a:t>UE Humanités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5FA5CED-1746-4042-7A59-861DB863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18" y="1917824"/>
            <a:ext cx="4554486" cy="135176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A3D33D7-DE5B-4459-1398-D83912EC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736" y="1979586"/>
            <a:ext cx="4128116" cy="124046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FA6E4D4-A2C0-5789-BBB2-003CA343A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418" y="3621570"/>
            <a:ext cx="4447126" cy="128081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23FEF79B-9348-EA3C-B206-4F8500F69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736" y="3711734"/>
            <a:ext cx="4199501" cy="117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8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FC77-EFD4-7214-7876-F4D60DEA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5A3C5-9B24-C115-CD96-B4436BAA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3340" cy="1325563"/>
          </a:xfrm>
        </p:spPr>
        <p:txBody>
          <a:bodyPr/>
          <a:lstStyle/>
          <a:p>
            <a:r>
              <a:rPr lang="fr-FR" b="1" dirty="0">
                <a:latin typeface="+mj-lt"/>
              </a:rPr>
              <a:t>Les PC/PSI en difficulté : tentative d’explication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8E661CD2-9BE5-1561-DA3A-A083ECC16378}"/>
              </a:ext>
            </a:extLst>
          </p:cNvPr>
          <p:cNvSpPr txBox="1">
            <a:spLocks/>
          </p:cNvSpPr>
          <p:nvPr/>
        </p:nvSpPr>
        <p:spPr>
          <a:xfrm>
            <a:off x="822646" y="514435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4972847-152C-E87B-78C7-2D77908C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569" y="1337095"/>
            <a:ext cx="5913140" cy="3531553"/>
          </a:xfrm>
          <a:prstGeom prst="rect">
            <a:avLst/>
          </a:prstGeom>
        </p:spPr>
      </p:pic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E969BF7D-4AED-62B8-45A6-ED0C6E3DB665}"/>
              </a:ext>
            </a:extLst>
          </p:cNvPr>
          <p:cNvSpPr txBox="1">
            <a:spLocks/>
          </p:cNvSpPr>
          <p:nvPr/>
        </p:nvSpPr>
        <p:spPr>
          <a:xfrm>
            <a:off x="975046" y="529675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difficultés récentes des PC/PSI semblent trouver une origine dans un rang de classement plus élevé à l’entrée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Et inversement la bonne réussite des MPI semble aussi expliquée par un meilleur rang à l’entrée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508689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12BC-B8C8-F4A3-2EB1-3BB1AED8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CC4E3-98BC-3FEB-462F-E2A6C791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Redoublement et exclusions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97A95D-16EA-BD5E-1A8A-FA168E2A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50" y="1618832"/>
            <a:ext cx="5174412" cy="319437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27D7431-E0BB-BEE1-C174-5341A1846822}"/>
              </a:ext>
            </a:extLst>
          </p:cNvPr>
          <p:cNvSpPr txBox="1"/>
          <p:nvPr/>
        </p:nvSpPr>
        <p:spPr>
          <a:xfrm>
            <a:off x="691550" y="5186623"/>
            <a:ext cx="109023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Les attachés redoublent davantage que les ingénieurs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Moins de redoublement sur la période 2023-2025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fr-FR" dirty="0"/>
              <a:t>Légèrement compensé par une hausse des exclusions/démissions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8337993-5A41-9C78-14C3-1E06F0196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762" y="1179368"/>
            <a:ext cx="3236258" cy="42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30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52F1-9D91-4EBD-74F6-A88AEF93B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9976F-54E2-3BE4-03CA-9B716F6B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Redoublement et rang à l’entrée (concours mathématiques)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E2C439-3F40-15E4-4D0B-FE50E37FB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464" y="1905181"/>
            <a:ext cx="4435408" cy="44456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La moyenne, la médiane du classement à l’entrée semble être liée à un risque de redoublement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Mais pas sans quelque accident…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AAD752-4214-C34C-DD5A-12CDE8E8E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05181"/>
            <a:ext cx="5621849" cy="3469076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A377803C-9073-2C58-2B53-837C2DE96B49}"/>
              </a:ext>
            </a:extLst>
          </p:cNvPr>
          <p:cNvSpPr txBox="1">
            <a:spLocks/>
          </p:cNvSpPr>
          <p:nvPr/>
        </p:nvSpPr>
        <p:spPr>
          <a:xfrm>
            <a:off x="751936" y="5282376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Un lien significatif mais faible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Chaque point supplémentaire au rang standardisé augmente le risque de redoublement de 4,5 %</a:t>
            </a:r>
          </a:p>
        </p:txBody>
      </p:sp>
    </p:spTree>
    <p:extLst>
      <p:ext uri="{BB962C8B-B14F-4D97-AF65-F5344CB8AC3E}">
        <p14:creationId xmlns:p14="http://schemas.microsoft.com/office/powerpoint/2010/main" val="2037052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AAFB1-7345-5807-23E0-05F1EC70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472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Les mathématiques et la voie d’entrée en évolution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4487BA-4557-E1FA-F7BA-E2E2955E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5480485"/>
            <a:ext cx="10169106" cy="34960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La situation s’améliore davantage pour les voies d’entrée à plus grand risque de difficulté (BL et D2) que les filières à plus faible risque (MP, PC/PSI)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501342-3BBF-3506-26BC-6281C5CB2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052" y="1027906"/>
            <a:ext cx="7073246" cy="43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80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3F6AE-A221-6B50-6D69-592D41B0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Les déterminants des choix de filière de spécialisation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D28924-B5C4-13D0-E719-1033096A38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44700"/>
            <a:ext cx="4372155" cy="3886200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d’attractivité de la filière MKT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Intérêt pour GR qui se réduit depuis 2023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tendancielle de GS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nouvelles filières STD et DIGISPORT connaissent un engouement croissant mais variable (faibles effectifs)</a:t>
            </a:r>
          </a:p>
          <a:p>
            <a:pPr marL="228600"/>
            <a:r>
              <a:rPr lang="fr-FR" sz="2000" dirty="0"/>
              <a:t>NB : les résultats dépendent également des contingentements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F738BB57-D405-7C41-3181-29839A7C6DA8}"/>
              </a:ext>
            </a:extLst>
          </p:cNvPr>
          <p:cNvSpPr txBox="1">
            <a:spLocks/>
          </p:cNvSpPr>
          <p:nvPr/>
        </p:nvSpPr>
        <p:spPr>
          <a:xfrm>
            <a:off x="5873817" y="6002220"/>
            <a:ext cx="4946583" cy="6689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147B50-A38A-2BDF-442F-02E8D9AD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611" y="1897811"/>
            <a:ext cx="6048993" cy="37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21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F007-7C33-EE19-10B2-756804F7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028F8-CCA4-51F0-6A63-4CDFD581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Les déterminants des choix de filière de spécialisation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79A211-E1DB-20F8-C8EE-3D6E5550A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1031" y="5167312"/>
            <a:ext cx="8206484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AST surreprésentés en GR et MKT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BL et D2 surreprésentés en MES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BUT surreprésentés en SBIO et DIGISPORT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Toutes les voies d’entrée sont représentées en GS et ID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09E0594F-E50C-0A76-1E5A-D571AA3D253B}"/>
              </a:ext>
            </a:extLst>
          </p:cNvPr>
          <p:cNvSpPr txBox="1">
            <a:spLocks/>
          </p:cNvSpPr>
          <p:nvPr/>
        </p:nvSpPr>
        <p:spPr>
          <a:xfrm>
            <a:off x="1363432" y="4498410"/>
            <a:ext cx="4946583" cy="6689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1ère année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7336B91D-3BC3-F65D-5B23-5575D815181E}"/>
              </a:ext>
            </a:extLst>
          </p:cNvPr>
          <p:cNvSpPr txBox="1">
            <a:spLocks/>
          </p:cNvSpPr>
          <p:nvPr/>
        </p:nvSpPr>
        <p:spPr>
          <a:xfrm>
            <a:off x="1158925" y="1368813"/>
            <a:ext cx="8206484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0866860-EAF7-AEF8-A18D-09BFB900955F}"/>
              </a:ext>
            </a:extLst>
          </p:cNvPr>
          <p:cNvSpPr txBox="1">
            <a:spLocks/>
          </p:cNvSpPr>
          <p:nvPr/>
        </p:nvSpPr>
        <p:spPr>
          <a:xfrm>
            <a:off x="1041031" y="1368813"/>
            <a:ext cx="10194875" cy="3886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DA62FD-F652-32D6-3EED-42971C7DD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24" y="1489371"/>
            <a:ext cx="7192730" cy="300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2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D8273F-3AC8-BB39-89DB-19A2F45F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Bahnschrift SemiLight" panose="020B0502040204020203" pitchFamily="34" charset="0"/>
              </a:rPr>
              <a:t>Un petit point sur les attachés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189E96-296E-59C9-52B4-EF66A94EB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37" y="1771476"/>
            <a:ext cx="5408763" cy="3315048"/>
          </a:xfrm>
          <a:prstGeom prst="rect">
            <a:avLst/>
          </a:prstGeom>
        </p:spPr>
      </p:pic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7ADF8A37-3988-4041-1AD9-9A3164441D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88502" y="1485900"/>
            <a:ext cx="4372155" cy="3886200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Inversion des parts de MSP et de MSP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Spécialisation en STD constante sur les deux dernières promotions</a:t>
            </a:r>
          </a:p>
        </p:txBody>
      </p:sp>
    </p:spTree>
    <p:extLst>
      <p:ext uri="{BB962C8B-B14F-4D97-AF65-F5344CB8AC3E}">
        <p14:creationId xmlns:p14="http://schemas.microsoft.com/office/powerpoint/2010/main" val="295751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0A84-7B3F-5B63-E554-8D0BAD44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37FD6F-CCB5-78C1-DF07-FC75CD51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+mj-lt"/>
              </a:rPr>
              <a:t>Impact du niveau d’anglais sur la scolarité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237080-96F8-5D4C-A56E-30EFA14873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282833"/>
            <a:ext cx="10397706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Un léger lien entre le niveau d’anglais mesuré par le TOEIC et la moyenne sur les 2 premières années d’école, sans pouvoir y voir une causalité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Les fonctionnaires semblent avoir un niveau moins élevé selon le score TOEIC, mais le phénomène a le même pattern chez les ingénieurs et les attachés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E44CB01A-E49B-E386-426B-D2E6FA4A43D0}"/>
              </a:ext>
            </a:extLst>
          </p:cNvPr>
          <p:cNvSpPr txBox="1">
            <a:spLocks/>
          </p:cNvSpPr>
          <p:nvPr/>
        </p:nvSpPr>
        <p:spPr>
          <a:xfrm>
            <a:off x="1158925" y="1368813"/>
            <a:ext cx="8206484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DFFB2FD3-CEBC-796B-A00B-93950BF4EC17}"/>
              </a:ext>
            </a:extLst>
          </p:cNvPr>
          <p:cNvSpPr txBox="1">
            <a:spLocks/>
          </p:cNvSpPr>
          <p:nvPr/>
        </p:nvSpPr>
        <p:spPr>
          <a:xfrm>
            <a:off x="1041031" y="1368813"/>
            <a:ext cx="10194875" cy="3886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F3C9AA-3E90-5496-9899-4DDB58740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56" y="1690688"/>
            <a:ext cx="10739887" cy="224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41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DEFBD-B5D6-1A25-DE20-2FD2F28A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Diversité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27AFB5B-1352-2652-4FF4-01BBD64A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792" y="1181577"/>
            <a:ext cx="6175170" cy="355001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3AFD1B8-BAF7-BA15-5A8D-851BBEF8D290}"/>
              </a:ext>
            </a:extLst>
          </p:cNvPr>
          <p:cNvSpPr txBox="1"/>
          <p:nvPr/>
        </p:nvSpPr>
        <p:spPr>
          <a:xfrm>
            <a:off x="691550" y="5186623"/>
            <a:ext cx="109023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Baisse tendancielle de la part des femmes de 39 % en 2015 à 31 % en 2025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Hausse tendancielle et importante de la part des Étrangers hors UE, de 11 % en 2A en 2015 à 31 % en 2025</a:t>
            </a:r>
          </a:p>
          <a:p>
            <a:r>
              <a:rPr lang="fr-FR" dirty="0">
                <a:sym typeface="Wingdings" panose="05000000000000000000" pitchFamily="2" charset="2"/>
              </a:rPr>
              <a:t> La diversité, ce n’est pas que ça, mais ce sont les principaux indicateurs regardés dans les enquêtes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B849335-5A5B-11A2-4F37-226567727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38" y="1399581"/>
            <a:ext cx="5280994" cy="318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98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E7C91A-D7FB-37C0-E559-1BA0B88A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Vers un tableau de bord de pilotage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F16403-D64E-12E2-597C-ABC91D1589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44700"/>
            <a:ext cx="10515600" cy="13843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Industrialiser le suivi, se mettre d’accord :</a:t>
            </a:r>
          </a:p>
          <a:p>
            <a:pPr marL="1143000" lvl="1" indent="-457200">
              <a:buFont typeface="Wingdings" panose="05000000000000000000" pitchFamily="2" charset="2"/>
              <a:buChar char="q"/>
            </a:pPr>
            <a:r>
              <a:rPr lang="fr-FR" dirty="0"/>
              <a:t>Sur nos propres besoins</a:t>
            </a:r>
          </a:p>
          <a:p>
            <a:pPr marL="1143000" lvl="1" indent="-457200">
              <a:buFont typeface="Wingdings" panose="05000000000000000000" pitchFamily="2" charset="2"/>
              <a:buChar char="q"/>
            </a:pPr>
            <a:r>
              <a:rPr lang="fr-FR" dirty="0"/>
              <a:t>En conformité avec les attentes des différentes enquêtes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594EC9E-A650-61DE-484B-86F1E44E4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57" y="4230751"/>
            <a:ext cx="6136188" cy="13991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7D6273A-DCDE-3B91-4C8F-331AD48F1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908" y="4215908"/>
            <a:ext cx="4953542" cy="1371937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5BCD1CCA-534F-AB2A-FD09-A36489C3D89E}"/>
              </a:ext>
            </a:extLst>
          </p:cNvPr>
          <p:cNvSpPr txBox="1">
            <a:spLocks/>
          </p:cNvSpPr>
          <p:nvPr/>
        </p:nvSpPr>
        <p:spPr>
          <a:xfrm>
            <a:off x="838200" y="3532517"/>
            <a:ext cx="10515600" cy="1384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b="1" dirty="0">
                <a:sym typeface="Wingdings" panose="05000000000000000000" pitchFamily="2" charset="2"/>
              </a:rPr>
              <a:t>Lister ensemble les indicateurs à surveiller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9376780-6AC3-5DFF-6DE8-99B5093F8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65" y="5587845"/>
            <a:ext cx="1163293" cy="123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63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8DEF0C-9E81-D39D-21BD-D5A379EF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Engagement numérique : un début d’esquisse de commencement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BFCA96-5438-526B-7677-D53BBA3424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Travaux en cours sur les données Moodle 2020-2025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Construction d’indicateurs de d’engagement numérique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8CF857-3B8B-0225-4EB1-818B87E1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41" y="3700732"/>
            <a:ext cx="6243170" cy="21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69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26AFC-141E-4333-1FCF-495B6A4F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Engagement numérique : une aide à la détection des décrochages scolaires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976DF9-6F30-AE07-A31A-108F2E94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283" y="1643084"/>
            <a:ext cx="6994021" cy="3301349"/>
          </a:xfrm>
          <a:prstGeom prst="rect">
            <a:avLst/>
          </a:prstGeom>
        </p:spPr>
      </p:pic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D218809E-2078-22E0-582B-2F5634C4EC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944433"/>
            <a:ext cx="10427898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L’engagement numérique ne peut être à lui seul un indicateur de prédiction du décrochage et du risque de redoublement / exclusion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Mais utile dans une combinaison d’autres indicateurs (absences, certaines notes, etc.)</a:t>
            </a:r>
          </a:p>
          <a:p>
            <a:pPr marL="228600"/>
            <a:r>
              <a:rPr lang="fr-FR" sz="2000" dirty="0">
                <a:sym typeface="Wingdings" panose="05000000000000000000" pitchFamily="2" charset="2"/>
              </a:rPr>
              <a:t> À creuser</a:t>
            </a: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40178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8D2BA-1151-9AA5-54A1-A5E2F791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EB9F3-FB7A-34D5-C72B-FEE06C28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Engagement numérique : une aide à la mise en place de contenus pédagogiques ?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CFAA4092-3255-6203-FF02-D255375AE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2860" y="4449009"/>
            <a:ext cx="10427898" cy="2166853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Nécessité d’objectiver le niveau d’apprentissage et d’assimilation des élèves selon les propositions pédagogiques proposées sur Moodle (DM, Quizz, etc.)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Idéalement une ou des enquêtes qualitatives plutôt que la réussite aux examens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Tester grandeur nature deux modes d’apprentissage dans la même matière et observer la réussite à l’examen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La solution de remplacement de Pamplemousse intégrerait-elle des possibilités de suivre l’engagement numérique des élèves ?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143F438-BBEA-6A9E-5F43-9D54B244F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25" y="2007285"/>
            <a:ext cx="4537029" cy="250318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2466BED-0E13-9649-A906-EF42D392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003" y="1824003"/>
            <a:ext cx="4272718" cy="2637480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51227C3-2187-7E64-7DD6-CD16F083681F}"/>
              </a:ext>
            </a:extLst>
          </p:cNvPr>
          <p:cNvSpPr txBox="1">
            <a:spLocks/>
          </p:cNvSpPr>
          <p:nvPr/>
        </p:nvSpPr>
        <p:spPr>
          <a:xfrm>
            <a:off x="1227827" y="1528508"/>
            <a:ext cx="3835879" cy="4576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r>
              <a:rPr lang="fr-FR" sz="2000" dirty="0"/>
              <a:t>Méthode d’analyse factorielle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7E9B1C8C-C397-8EDB-11FA-8F31C9846130}"/>
              </a:ext>
            </a:extLst>
          </p:cNvPr>
          <p:cNvSpPr txBox="1">
            <a:spLocks/>
          </p:cNvSpPr>
          <p:nvPr/>
        </p:nvSpPr>
        <p:spPr>
          <a:xfrm>
            <a:off x="6443932" y="1528508"/>
            <a:ext cx="3835879" cy="4576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r>
              <a:rPr lang="fr-FR" sz="2000" dirty="0"/>
              <a:t>Régression linéaire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509398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6378114" y="2903489"/>
            <a:ext cx="4049785" cy="1325563"/>
          </a:xfrm>
        </p:spPr>
        <p:txBody>
          <a:bodyPr/>
          <a:lstStyle/>
          <a:p>
            <a:r>
              <a:rPr lang="fr-FR" dirty="0">
                <a:latin typeface="+mj-lt"/>
              </a:rPr>
              <a:t>Des questions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B6E495-AB01-E9D1-315F-1E86D5F9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8596" cy="68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0366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Bahnschrift Light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 PP ENSAI 2024 (004) [Lecture seule]" id="{A8C3ABBE-4DAF-470D-8BE6-22D8833A9F33}" vid="{5F2DD50E-0F97-4FC8-AEA4-A9228D75ACE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s ENSAI" ma:contentTypeID="0x0101003CC4B864CFCC5B4D9ACD432D285AC3BC003130031EBC5F8A408D719B71B7F316F7" ma:contentTypeVersion="100" ma:contentTypeDescription="" ma:contentTypeScope="" ma:versionID="b953b99991b6a203445a6aec087abea0">
  <xsd:schema xmlns:xsd="http://www.w3.org/2001/XMLSchema" xmlns:xs="http://www.w3.org/2001/XMLSchema" xmlns:p="http://schemas.microsoft.com/office/2006/metadata/properties" xmlns:ns2="ec989fea-bb25-4413-a12c-f328b06a6537" targetNamespace="http://schemas.microsoft.com/office/2006/metadata/properties" ma:root="true" ma:fieldsID="42c940d45ce8157fd86eab27bc1c28be" ns2:_="">
    <xsd:import namespace="ec989fea-bb25-4413-a12c-f328b06a6537"/>
    <xsd:element name="properties">
      <xsd:complexType>
        <xsd:sequence>
          <xsd:element name="documentManagement">
            <xsd:complexType>
              <xsd:all>
                <xsd:element ref="ns2:Mise_x0020_en_x0020_avant" minOccurs="0"/>
                <xsd:element ref="ns2:Date1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89fea-bb25-4413-a12c-f328b06a6537" elementFormDefault="qualified">
    <xsd:import namespace="http://schemas.microsoft.com/office/2006/documentManagement/types"/>
    <xsd:import namespace="http://schemas.microsoft.com/office/infopath/2007/PartnerControls"/>
    <xsd:element name="Mise_x0020_en_x0020_avant" ma:index="8" nillable="true" ma:displayName="Mise en avant" ma:default="0" ma:internalName="Mise_x0020_en_x0020_avant">
      <xsd:simpleType>
        <xsd:restriction base="dms:Boolean"/>
      </xsd:simpleType>
    </xsd:element>
    <xsd:element name="Date1" ma:index="9" nillable="true" ma:displayName="Date" ma:default="[today]" ma:format="DateOnly" ma:internalName="Date1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a3fec588-6c6b-4406-8ca4-9ac9567ea887" ContentTypeId="0x0101003CC4B864CFCC5B4D9ACD432D285AC3BC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1 xmlns="ec989fea-bb25-4413-a12c-f328b06a6537">2024-09-04T08:04:05+00:00</Date1>
    <Mise_x0020_en_x0020_avant xmlns="ec989fea-bb25-4413-a12c-f328b06a6537">false</Mise_x0020_en_x0020_avant>
  </documentManagement>
</p:properties>
</file>

<file path=customXml/itemProps1.xml><?xml version="1.0" encoding="utf-8"?>
<ds:datastoreItem xmlns:ds="http://schemas.openxmlformats.org/officeDocument/2006/customXml" ds:itemID="{D9364823-1FE6-41BC-976B-2ADEDF3F6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89fea-bb25-4413-a12c-f328b06a6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D901EE-349C-4207-96FC-2EDAA5B8F19A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192A3D37-6C49-4620-B2B6-76D5704EBC4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31EFE21-6212-40E3-9464-BEE2346D99CE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ec989fea-bb25-4413-a12c-f328b06a6537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Modele PPT ENSAI 2024</Template>
  <TotalTime>7141</TotalTime>
  <Words>1250</Words>
  <Application>Microsoft Office PowerPoint</Application>
  <PresentationFormat>Grand écran</PresentationFormat>
  <Paragraphs>142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Aptos</vt:lpstr>
      <vt:lpstr>Arial</vt:lpstr>
      <vt:lpstr>Bahnschrift Light SemiCondensed</vt:lpstr>
      <vt:lpstr>Bahnschrift SemiLight</vt:lpstr>
      <vt:lpstr>Calibri</vt:lpstr>
      <vt:lpstr>Georgia</vt:lpstr>
      <vt:lpstr>Wingdings</vt:lpstr>
      <vt:lpstr>Conception personnalisée</vt:lpstr>
      <vt:lpstr>Présentation PowerPoint</vt:lpstr>
      <vt:lpstr>Plan</vt:lpstr>
      <vt:lpstr>Effectifs par voie d’entrée</vt:lpstr>
      <vt:lpstr>Effectifs par statut à l’entrée</vt:lpstr>
      <vt:lpstr>Concours Maths Préférence des mieux classés pour le statut ingénieur </vt:lpstr>
      <vt:lpstr>Concours BL Attractivité en hausse du statut fonctionnaire </vt:lpstr>
      <vt:lpstr>Concours D2 Même constat que pour les BL </vt:lpstr>
      <vt:lpstr>Origine et classement au concours Au premier abord par de grosses différences </vt:lpstr>
      <vt:lpstr>Résultats scolaire en 1ère année et voie d’entrée</vt:lpstr>
      <vt:lpstr>Résultats scolaire en 2ème année et voie d’entrée</vt:lpstr>
      <vt:lpstr>Résultats scolaire en 1ème année et voie d’entrée par type de matière</vt:lpstr>
      <vt:lpstr>Résultats scolaire en 2ème année et voie d’entrée par type de matière</vt:lpstr>
      <vt:lpstr>Les PC/PSI en difficulté : tentative d’explication</vt:lpstr>
      <vt:lpstr>Redoublement et exclusions</vt:lpstr>
      <vt:lpstr>Redoublement et rang à l’entrée (concours mathématiques)</vt:lpstr>
      <vt:lpstr>Les mathématiques et la voie d’entrée en évolution </vt:lpstr>
      <vt:lpstr>Les déterminants des choix de filière de spécialisation</vt:lpstr>
      <vt:lpstr>Les déterminants des choix de filière de spécialisation</vt:lpstr>
      <vt:lpstr>Un petit point sur les attachés</vt:lpstr>
      <vt:lpstr>Impact du niveau d’anglais sur la scolarité</vt:lpstr>
      <vt:lpstr>Diversité</vt:lpstr>
      <vt:lpstr>Vers un tableau de bord de pilotage </vt:lpstr>
      <vt:lpstr>Engagement numérique : un début d’esquisse de commencement</vt:lpstr>
      <vt:lpstr>Engagement numérique : une aide à la détection des décrochages scolaires ?</vt:lpstr>
      <vt:lpstr>Engagement numérique : une aide à la mise en place de contenus pédagogiques ?</vt:lpstr>
      <vt:lpstr>Des questions ?</vt:lpstr>
    </vt:vector>
  </TitlesOfParts>
  <Company>ENSAI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GANDUBERT Patrick</dc:creator>
  <cp:lastModifiedBy>LESIEUR Christophe</cp:lastModifiedBy>
  <cp:revision>118</cp:revision>
  <dcterms:created xsi:type="dcterms:W3CDTF">2024-10-07T14:28:24Z</dcterms:created>
  <dcterms:modified xsi:type="dcterms:W3CDTF">2026-06-26T12:23:47Z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0x0101003CC4B864CFCC5B4D9ACD432D285AC3BC003130031EBC5F8A408D719B71B7F316F7</vt:lpwstr>
  </property>
</Properties>
</file>