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19"/>
  </p:notesMasterIdLst>
  <p:handoutMasterIdLst>
    <p:handoutMasterId r:id="rId20"/>
  </p:handoutMasterIdLst>
  <p:sldIdLst>
    <p:sldId id="259" r:id="rId6"/>
    <p:sldId id="317" r:id="rId7"/>
    <p:sldId id="284" r:id="rId8"/>
    <p:sldId id="288" r:id="rId9"/>
    <p:sldId id="293" r:id="rId10"/>
    <p:sldId id="295" r:id="rId11"/>
    <p:sldId id="313" r:id="rId12"/>
    <p:sldId id="289" r:id="rId13"/>
    <p:sldId id="291" r:id="rId14"/>
    <p:sldId id="306" r:id="rId15"/>
    <p:sldId id="301" r:id="rId16"/>
    <p:sldId id="318" r:id="rId17"/>
    <p:sldId id="277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EDB"/>
    <a:srgbClr val="005980"/>
    <a:srgbClr val="A6A6A6"/>
    <a:srgbClr val="009BDE"/>
    <a:srgbClr val="564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CED0-103C-4C10-8D72-99DD07E324A0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C92F0-C3EC-4C25-8D86-B30BA11AB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36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8B95-F104-4A72-A4BF-C3A46957C25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E338-64DE-4218-8E01-89E259BBC0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9350" y="2705100"/>
            <a:ext cx="5384800" cy="5207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9350" y="3492500"/>
            <a:ext cx="17018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1149350" y="5143500"/>
            <a:ext cx="400685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Nom prénom (facultatif)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1149350" y="635000"/>
            <a:ext cx="45656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Georgia" panose="02040502050405020303" pitchFamily="18" charset="0"/>
                <a:ea typeface="CSongGB18030C-Light" panose="020A0304000101010101" pitchFamily="18" charset="-122"/>
                <a:cs typeface="Cascadia Mono" panose="020B0609020000020004" pitchFamily="49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3899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Modifiez le texte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044700"/>
            <a:ext cx="105156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276142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1929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5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7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6936258" y="2108199"/>
            <a:ext cx="4349579" cy="4229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9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939800" y="742779"/>
            <a:ext cx="2618946" cy="787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39800" y="1879600"/>
            <a:ext cx="10375900" cy="420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54595"/>
            <a:ext cx="7505700" cy="7778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5025"/>
            <a:ext cx="10420350" cy="4086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96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450226" cy="787400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914400" y="1922162"/>
            <a:ext cx="10445578" cy="138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14400" y="3736202"/>
            <a:ext cx="10445578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3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0400"/>
            <a:ext cx="10515600" cy="227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124990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187071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23571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123571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123571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560695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925695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4925695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4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4925695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9" name="Espace réservé pour une image  3"/>
          <p:cNvSpPr>
            <a:spLocks noGrp="1"/>
          </p:cNvSpPr>
          <p:nvPr>
            <p:ph type="pic" sz="quarter" idx="18"/>
          </p:nvPr>
        </p:nvSpPr>
        <p:spPr>
          <a:xfrm>
            <a:off x="925068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861568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0" hasCustomPrompt="1"/>
          </p:nvPr>
        </p:nvSpPr>
        <p:spPr>
          <a:xfrm>
            <a:off x="861568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22" name="Espace réservé du contenu 9"/>
          <p:cNvSpPr>
            <a:spLocks noGrp="1"/>
          </p:cNvSpPr>
          <p:nvPr>
            <p:ph sz="quarter" idx="21" hasCustomPrompt="1"/>
          </p:nvPr>
        </p:nvSpPr>
        <p:spPr>
          <a:xfrm>
            <a:off x="861568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</p:spTree>
    <p:extLst>
      <p:ext uri="{BB962C8B-B14F-4D97-AF65-F5344CB8AC3E}">
        <p14:creationId xmlns:p14="http://schemas.microsoft.com/office/powerpoint/2010/main" val="330374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3902710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3267710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5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3267710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6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3267710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7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7592695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6957695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6957695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6957695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4298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8" r:id="rId6"/>
    <p:sldLayoutId id="2147483655" r:id="rId7"/>
    <p:sldLayoutId id="2147483660" r:id="rId8"/>
    <p:sldLayoutId id="2147483656" r:id="rId9"/>
    <p:sldLayoutId id="2147483659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hlesieur.github.io/analyse_bdd_eleves_ensai/scripts/analyses_2015_2024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149349" y="1724024"/>
            <a:ext cx="9893302" cy="520700"/>
          </a:xfrm>
        </p:spPr>
        <p:txBody>
          <a:bodyPr/>
          <a:lstStyle/>
          <a:p>
            <a:r>
              <a:rPr lang="fr-FR" dirty="0">
                <a:latin typeface="+mj-lt"/>
              </a:rPr>
              <a:t>Premières analyses à partir des données d’admission, de Pamplemousse et de Moodle sur la période 2015-2025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1149349" y="2917826"/>
            <a:ext cx="2450062" cy="415924"/>
          </a:xfrm>
        </p:spPr>
        <p:txBody>
          <a:bodyPr/>
          <a:lstStyle/>
          <a:p>
            <a:r>
              <a:rPr lang="fr-FR" dirty="0"/>
              <a:t>1er juillet 2026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7"/>
          </p:nvPr>
        </p:nvSpPr>
        <p:spPr>
          <a:xfrm>
            <a:off x="1149348" y="658812"/>
            <a:ext cx="10814051" cy="1114426"/>
          </a:xfrm>
        </p:spPr>
        <p:txBody>
          <a:bodyPr/>
          <a:lstStyle/>
          <a:p>
            <a:r>
              <a:rPr lang="fr-FR" sz="5000" dirty="0">
                <a:latin typeface="+mj-lt"/>
              </a:rPr>
              <a:t>Trajectoires des étudiants à l’ENSAI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A4A2BF2-E617-584E-1661-8BDA87DC96DD}"/>
              </a:ext>
            </a:extLst>
          </p:cNvPr>
          <p:cNvSpPr txBox="1">
            <a:spLocks/>
          </p:cNvSpPr>
          <p:nvPr/>
        </p:nvSpPr>
        <p:spPr>
          <a:xfrm>
            <a:off x="1149348" y="3584574"/>
            <a:ext cx="4692651" cy="415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Christophe Lesieur, Stéphane </a:t>
            </a:r>
            <a:r>
              <a:rPr lang="fr-FR" dirty="0" err="1"/>
              <a:t>Legleye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D63354-3A4D-6CA3-3449-8EC992DE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68" y="4508501"/>
            <a:ext cx="7621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183D-6EE3-A453-B1C0-71903C2D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86CA9-A670-2593-C4C7-B29758C4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Présentation du projet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3570E1-2DD6-A38C-8AF9-96C8A59A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66" y="1634982"/>
            <a:ext cx="3224842" cy="32797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95896E3-FFE1-82E3-334B-51DEDD73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31" y="2348448"/>
            <a:ext cx="2657846" cy="1427709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3620B472-28BD-18C3-F7C1-E889ECF9D58A}"/>
              </a:ext>
            </a:extLst>
          </p:cNvPr>
          <p:cNvSpPr txBox="1">
            <a:spLocks/>
          </p:cNvSpPr>
          <p:nvPr/>
        </p:nvSpPr>
        <p:spPr>
          <a:xfrm>
            <a:off x="596658" y="1281994"/>
            <a:ext cx="11411311" cy="7059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b="1" dirty="0"/>
              <a:t>Un zest de Pamplemousse      +      Un brin de travail sur les admissions       +      Des données massives de Moodle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35E8804-43D1-B011-344F-AD0650EBE37F}"/>
              </a:ext>
            </a:extLst>
          </p:cNvPr>
          <p:cNvSpPr txBox="1">
            <a:spLocks/>
          </p:cNvSpPr>
          <p:nvPr/>
        </p:nvSpPr>
        <p:spPr>
          <a:xfrm>
            <a:off x="86265" y="5031609"/>
            <a:ext cx="3960244" cy="2995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notes à l’école et les voies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4ABA878-2085-1C73-AE72-C469CACCE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601" y="1876208"/>
            <a:ext cx="4106740" cy="2691442"/>
          </a:xfrm>
          <a:prstGeom prst="rect">
            <a:avLst/>
          </a:prstGeom>
        </p:spPr>
      </p:pic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EFF68C7-2A63-BFE7-D7A3-4EC8DD4A318C}"/>
              </a:ext>
            </a:extLst>
          </p:cNvPr>
          <p:cNvSpPr txBox="1">
            <a:spLocks/>
          </p:cNvSpPr>
          <p:nvPr/>
        </p:nvSpPr>
        <p:spPr>
          <a:xfrm>
            <a:off x="3528356" y="5031608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rangs d’admission des maths, BL et D2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E1B721F-68E1-2E73-B1D6-94D063481E29}"/>
              </a:ext>
            </a:extLst>
          </p:cNvPr>
          <p:cNvSpPr txBox="1">
            <a:spLocks/>
          </p:cNvSpPr>
          <p:nvPr/>
        </p:nvSpPr>
        <p:spPr>
          <a:xfrm>
            <a:off x="6970447" y="4923177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construire des indicateurs d’engagement numérique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16888E7D-53C3-6A47-AE06-BD7E3C52BD67}"/>
              </a:ext>
            </a:extLst>
          </p:cNvPr>
          <p:cNvSpPr txBox="1">
            <a:spLocks/>
          </p:cNvSpPr>
          <p:nvPr/>
        </p:nvSpPr>
        <p:spPr>
          <a:xfrm>
            <a:off x="380717" y="5753352"/>
            <a:ext cx="9910596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b="1" dirty="0"/>
              <a:t>= Une base d’information riche sur les élèves sur période 2015-2025</a:t>
            </a:r>
          </a:p>
        </p:txBody>
      </p:sp>
    </p:spTree>
    <p:extLst>
      <p:ext uri="{BB962C8B-B14F-4D97-AF65-F5344CB8AC3E}">
        <p14:creationId xmlns:p14="http://schemas.microsoft.com/office/powerpoint/2010/main" val="324712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942E7-2391-6D34-F7BF-F5ECF22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Effectifs par voie d’entrée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AE2B93C-8B28-ED74-8EA1-0A09E5B15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3019" y="5823973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</a:t>
            </a:r>
            <a:r>
              <a:rPr lang="fr-FR" sz="1400" baseline="30000" dirty="0"/>
              <a:t>ère</a:t>
            </a:r>
            <a:r>
              <a:rPr lang="fr-FR" sz="1400" dirty="0"/>
              <a:t> et 2</a:t>
            </a:r>
            <a:r>
              <a:rPr lang="fr-FR" sz="1400" baseline="30000" dirty="0"/>
              <a:t>ème</a:t>
            </a:r>
            <a:r>
              <a:rPr lang="fr-FR" sz="1400" dirty="0"/>
              <a:t> année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5822227-FB3C-2BCC-38AF-252DA6B59F9C}"/>
              </a:ext>
            </a:extLst>
          </p:cNvPr>
          <p:cNvSpPr txBox="1">
            <a:spLocks/>
          </p:cNvSpPr>
          <p:nvPr/>
        </p:nvSpPr>
        <p:spPr>
          <a:xfrm>
            <a:off x="389626" y="1588650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du recrutement des MP au profit d’une diversification des voies d’entrée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Notamment création MPI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Mais aussi hausse des PC/PSI </a:t>
            </a:r>
            <a:endParaRPr lang="fr-FR" sz="1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de la part du concours interne INSEE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Variation importante de la part des BL équilibrée par la variation des D2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Stabilité des BUT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récente des AST-2A</a:t>
            </a:r>
            <a:endParaRPr lang="fr-FR" sz="1600" dirty="0"/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D146BA-B4F8-7F16-E1DC-B0239FE8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88" y="1588650"/>
            <a:ext cx="6616642" cy="40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AD4A5-1DDE-20DE-2B0A-A25F7D66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Les matheux préfèrent le statut d’ingénieur</a:t>
            </a:r>
            <a:br>
              <a:rPr lang="fr-FR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DDB601E-4A60-6D43-7136-F3C325A0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6" y="3933659"/>
            <a:ext cx="3248298" cy="200995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40F8E9F-68F8-3F44-49CE-2E732266A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94" y="1204523"/>
            <a:ext cx="3768296" cy="233068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164EAA7-1CEA-BCE3-369A-7033C22BA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790" y="1195363"/>
            <a:ext cx="3657346" cy="224677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342EE54-634C-FF04-9A2B-3974C7A6A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940" y="1195363"/>
            <a:ext cx="3777814" cy="232146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D7EB6E4-4844-64A3-8BB5-B69F07796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7001" y="3933659"/>
            <a:ext cx="3247427" cy="200995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23CCBFE-D5B1-CE1A-BBA9-28E39CE0D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6940" y="3933659"/>
            <a:ext cx="3634456" cy="223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20-B453-80E5-EEBB-77A153FF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C07AF-105D-7292-C625-20D1B57B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1</a:t>
            </a:r>
            <a:r>
              <a:rPr lang="fr-FR" b="1" baseline="30000" dirty="0">
                <a:latin typeface="+mj-lt"/>
              </a:rPr>
              <a:t>ère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392AC3-4260-6E6C-4172-44CCA9D5CA78}"/>
              </a:ext>
            </a:extLst>
          </p:cNvPr>
          <p:cNvSpPr txBox="1"/>
          <p:nvPr/>
        </p:nvSpPr>
        <p:spPr>
          <a:xfrm>
            <a:off x="182593" y="1223076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1</a:t>
            </a:r>
            <a:r>
              <a:rPr lang="fr-FR" sz="1800" baseline="30000" dirty="0"/>
              <a:t>ère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12FABD5-4B94-3658-7B06-5485A64242D4}"/>
              </a:ext>
            </a:extLst>
          </p:cNvPr>
          <p:cNvSpPr txBox="1">
            <a:spLocks/>
          </p:cNvSpPr>
          <p:nvPr/>
        </p:nvSpPr>
        <p:spPr>
          <a:xfrm>
            <a:off x="182593" y="408368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admis via le concours INSEE ont une meilleure moyenne générale sur la période 2015-2025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ERASMUS sont les plus en difficulté (&lt;12/20), puis les BL et les PC/PSI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MPI : une voie d’entrée prometteuse…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BL, D2 et PC/PSI en retrait sur les matières statistiques et informatique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PC/PSI également en difficulté dans les matières d’économie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BL se rattrapent notamment sur les Humanités, tout comme les ERASMUS</a:t>
            </a:r>
          </a:p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BF320CF-A185-D026-1BF7-B11CCA82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97" y="1690688"/>
            <a:ext cx="6715158" cy="22947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C8A63D6-7859-2120-5467-6D05FC52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96" y="1049854"/>
            <a:ext cx="4757407" cy="29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8881-0813-A5D2-5A99-4AC24306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7D1AD-65D7-0234-0FC5-6C96E41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9771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2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D3F148-0368-C8D3-8EAA-8B6D20BD3E26}"/>
              </a:ext>
            </a:extLst>
          </p:cNvPr>
          <p:cNvSpPr txBox="1"/>
          <p:nvPr/>
        </p:nvSpPr>
        <p:spPr>
          <a:xfrm>
            <a:off x="0" y="1138540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2</a:t>
            </a:r>
            <a:r>
              <a:rPr lang="fr-FR" baseline="30000" dirty="0"/>
              <a:t>èm</a:t>
            </a:r>
            <a:r>
              <a:rPr lang="fr-FR" sz="1800" baseline="30000" dirty="0"/>
              <a:t>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1006B6E-812C-C8CA-8353-DE9E6B59A1FE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8449745-A252-943F-86F0-E58FCB7B7FE3}"/>
              </a:ext>
            </a:extLst>
          </p:cNvPr>
          <p:cNvSpPr txBox="1">
            <a:spLocks/>
          </p:cNvSpPr>
          <p:nvPr/>
        </p:nvSpPr>
        <p:spPr>
          <a:xfrm>
            <a:off x="664234" y="4374876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Ca s’équilibre : la première année a joué son rôle !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C’est tout de même un peu plus difficile pour les BL, D2 et PC/PSI sur le passé récent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AST-2A un peu au-dessus en moyenne générale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D2 sont davantage en difficulté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nouveaux arrivants AST-2A particulièrement performants sur les matières statistiques et informatiques</a:t>
            </a:r>
          </a:p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AB692D2-7A02-5C6B-7ADC-DDCD188C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84" y="1690688"/>
            <a:ext cx="6653153" cy="197553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874AFC9-9AAE-6A96-16E2-1B2503A0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296" y="1102678"/>
            <a:ext cx="4099505" cy="2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5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FC77-EFD4-7214-7876-F4D60DEA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A3C5-9B24-C115-CD96-B4436BAA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3340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Les PC/PSI en difficulté : tentative d’explication par le rang d’admission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8E661CD2-9BE5-1561-DA3A-A083ECC16378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4972847-152C-E87B-78C7-2D77908C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206" y="1544129"/>
            <a:ext cx="5913140" cy="3531553"/>
          </a:xfrm>
          <a:prstGeom prst="rect">
            <a:avLst/>
          </a:prstGeom>
        </p:spPr>
      </p:pic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969BF7D-4AED-62B8-45A6-ED0C6E3DB665}"/>
              </a:ext>
            </a:extLst>
          </p:cNvPr>
          <p:cNvSpPr txBox="1">
            <a:spLocks/>
          </p:cNvSpPr>
          <p:nvPr/>
        </p:nvSpPr>
        <p:spPr>
          <a:xfrm>
            <a:off x="673122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difficultés récentes des PC/PSI semblent trouver une origine dans un rang de classement plus élevé à l’entrée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Et inversement la bonne réussite des MPI semble aussi expliquée par un meilleur rang à l’entrée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50868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AFB1-7345-5807-23E0-05F1EC7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472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Les mathématiques et la voie d’entrée ?</a:t>
            </a:r>
            <a:br>
              <a:rPr lang="fr-FR" sz="3600" b="1" dirty="0">
                <a:latin typeface="+mj-lt"/>
              </a:rPr>
            </a:br>
            <a:br>
              <a:rPr lang="fr-FR" sz="3600" b="1" dirty="0">
                <a:latin typeface="+mj-lt"/>
              </a:rPr>
            </a:b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487BA-4557-E1FA-F7BA-E2E2955E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5480485"/>
            <a:ext cx="10169106" cy="34960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/>
              <a:t>La situation s’améliore davantage pour les voies d’entrée à plus grand risque de difficulté (BL et D2) que les filières à plus faible risque (MP, PC/PSI)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501342-3BBF-3506-26BC-6281C5CB2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52" y="1027906"/>
            <a:ext cx="7073246" cy="43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F007-7C33-EE19-10B2-756804F7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028F8-CCA4-51F0-6A63-4CDFD581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Les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79A211-E1DB-20F8-C8EE-3D6E5550A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1031" y="5167312"/>
            <a:ext cx="8206484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AST surreprésentés en GR et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D2 surreprésentés en MES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BUT surreprésentés en SBIO et DIGISPORT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Toutes les voies d’entrée sont représentées en GS et ID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7336B91D-3BC3-F65D-5B23-5575D815181E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0866860-EAF7-AEF8-A18D-09BFB900955F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DA62FD-F652-32D6-3EED-42971C7D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54" y="1433006"/>
            <a:ext cx="8996854" cy="376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2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0A84-7B3F-5B63-E554-8D0BAD44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7FD6F-CCB5-78C1-DF07-FC75CD51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Impact du niveau d’anglais sur la scolarité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37080-96F8-5D4C-A56E-30EFA1487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282833"/>
            <a:ext cx="10397706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Un léger lien entre le niveau d’anglais mesuré par le TOEIC et la moyenne sur les 2 premières années d’école, sans pouvoir y voir une causalité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fonctionnaires semblent avoir un niveau moins élevé selon le score TOEIC, mais le phénomène a le même pattern chez les ingénieurs et les attachés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E44CB01A-E49B-E386-426B-D2E6FA4A43D0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FFB2FD3-CEBC-796B-A00B-93950BF4EC17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3C9AA-3E90-5496-9899-4DDB5874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56" y="1690688"/>
            <a:ext cx="10739887" cy="224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4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DEF0C-9E81-D39D-21BD-D5A379EF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Engagement numérique : un début d’esquisse de commencement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FCA96-5438-526B-7677-D53BBA342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en cours sur les données Moodle 2020-2025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Construction d’indicateurs de d’engagement numérique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CF857-3B8B-0225-4EB1-818B87E1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41" y="3700732"/>
            <a:ext cx="6243170" cy="21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69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F43EFF-EDAA-EA8D-CC50-655624EB8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Vers un tableau de bord de pilotage pour la direction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Analyses économétriques,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sur la réussite à l’école à approfondir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Réaliser une typologie/cartographie des trajectoires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Développer les travaux sur les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analytics</a:t>
            </a:r>
            <a:endParaRPr lang="fr-FR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Etc.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hlinkClick r:id="rId2"/>
              </a:rPr>
              <a:t>https://chlesieur.github.io/analyse_bdd_eleves_ensai/scripts/analyses_2015_2024.html</a:t>
            </a:r>
            <a:endParaRPr lang="fr-FR" dirty="0"/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B8AE06B-FB7C-DA28-4C76-2D502597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Next </a:t>
            </a:r>
            <a:r>
              <a:rPr lang="fr-FR" dirty="0" err="1"/>
              <a:t>step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258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6378114" y="2903489"/>
            <a:ext cx="4049785" cy="1325563"/>
          </a:xfrm>
        </p:spPr>
        <p:txBody>
          <a:bodyPr/>
          <a:lstStyle/>
          <a:p>
            <a:r>
              <a:rPr lang="fr-FR" dirty="0">
                <a:latin typeface="+mj-lt"/>
              </a:rPr>
              <a:t>Des questions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B6E495-AB01-E9D1-315F-1E86D5F9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8596" cy="6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Bahnschrift Ligh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 PP ENSAI 2024 (004) [Lecture seule]" id="{A8C3ABBE-4DAF-470D-8BE6-22D8833A9F33}" vid="{5F2DD50E-0F97-4FC8-AEA4-A9228D75ACE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s ENSAI" ma:contentTypeID="0x0101003CC4B864CFCC5B4D9ACD432D285AC3BC003130031EBC5F8A408D719B71B7F316F7" ma:contentTypeVersion="100" ma:contentTypeDescription="" ma:contentTypeScope="" ma:versionID="b953b99991b6a203445a6aec087abea0">
  <xsd:schema xmlns:xsd="http://www.w3.org/2001/XMLSchema" xmlns:xs="http://www.w3.org/2001/XMLSchema" xmlns:p="http://schemas.microsoft.com/office/2006/metadata/properties" xmlns:ns2="ec989fea-bb25-4413-a12c-f328b06a6537" targetNamespace="http://schemas.microsoft.com/office/2006/metadata/properties" ma:root="true" ma:fieldsID="42c940d45ce8157fd86eab27bc1c28be" ns2:_="">
    <xsd:import namespace="ec989fea-bb25-4413-a12c-f328b06a6537"/>
    <xsd:element name="properties">
      <xsd:complexType>
        <xsd:sequence>
          <xsd:element name="documentManagement">
            <xsd:complexType>
              <xsd:all>
                <xsd:element ref="ns2:Mise_x0020_en_x0020_avant" minOccurs="0"/>
                <xsd:element ref="ns2:Date1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89fea-bb25-4413-a12c-f328b06a6537" elementFormDefault="qualified">
    <xsd:import namespace="http://schemas.microsoft.com/office/2006/documentManagement/types"/>
    <xsd:import namespace="http://schemas.microsoft.com/office/infopath/2007/PartnerControls"/>
    <xsd:element name="Mise_x0020_en_x0020_avant" ma:index="8" nillable="true" ma:displayName="Mise en avant" ma:default="0" ma:internalName="Mise_x0020_en_x0020_avant">
      <xsd:simpleType>
        <xsd:restriction base="dms:Boolean"/>
      </xsd:simpleType>
    </xsd:element>
    <xsd:element name="Date1" ma:index="9" nillable="true" ma:displayName="Date" ma:default="[today]" ma:format="DateOnly" ma:internalName="Date1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a3fec588-6c6b-4406-8ca4-9ac9567ea887" ContentTypeId="0x0101003CC4B864CFCC5B4D9ACD432D285AC3BC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1 xmlns="ec989fea-bb25-4413-a12c-f328b06a6537">2024-09-04T08:04:05+00:00</Date1>
    <Mise_x0020_en_x0020_avant xmlns="ec989fea-bb25-4413-a12c-f328b06a6537">false</Mise_x0020_en_x0020_avant>
  </documentManagement>
</p:properties>
</file>

<file path=customXml/itemProps1.xml><?xml version="1.0" encoding="utf-8"?>
<ds:datastoreItem xmlns:ds="http://schemas.openxmlformats.org/officeDocument/2006/customXml" ds:itemID="{D9364823-1FE6-41BC-976B-2ADEDF3F6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89fea-bb25-4413-a12c-f328b06a6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D901EE-349C-4207-96FC-2EDAA5B8F19A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192A3D37-6C49-4620-B2B6-76D5704EBC4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31EFE21-6212-40E3-9464-BEE2346D99CE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ec989fea-bb25-4413-a12c-f328b06a6537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 PPT ENSAI 2024</Template>
  <TotalTime>7293</TotalTime>
  <Words>610</Words>
  <Application>Microsoft Office PowerPoint</Application>
  <PresentationFormat>Grand écran</PresentationFormat>
  <Paragraphs>73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Aptos</vt:lpstr>
      <vt:lpstr>Arial</vt:lpstr>
      <vt:lpstr>Bahnschrift Light SemiCondensed</vt:lpstr>
      <vt:lpstr>Bahnschrift SemiLight</vt:lpstr>
      <vt:lpstr>Calibri</vt:lpstr>
      <vt:lpstr>Georgia</vt:lpstr>
      <vt:lpstr>Wingdings</vt:lpstr>
      <vt:lpstr>Conception personnalisée</vt:lpstr>
      <vt:lpstr>Présentation PowerPoint</vt:lpstr>
      <vt:lpstr>Présentation du projet</vt:lpstr>
      <vt:lpstr>Effectifs par voie d’entrée</vt:lpstr>
      <vt:lpstr>Les matheux préfèrent le statut d’ingénieur </vt:lpstr>
      <vt:lpstr>Résultats scolaire en 1ère année et voie d’entrée</vt:lpstr>
      <vt:lpstr>Résultats scolaire en 2ème année et voie d’entrée</vt:lpstr>
      <vt:lpstr>Les PC/PSI en difficulté : tentative d’explication par le rang d’admission</vt:lpstr>
      <vt:lpstr>Les mathématiques et la voie d’entrée ?   </vt:lpstr>
      <vt:lpstr>Les choix de filière de spécialisation</vt:lpstr>
      <vt:lpstr>Impact du niveau d’anglais sur la scolarité</vt:lpstr>
      <vt:lpstr>Engagement numérique : un début d’esquisse de commencement</vt:lpstr>
      <vt:lpstr>Next step</vt:lpstr>
      <vt:lpstr>Des questions ?</vt:lpstr>
    </vt:vector>
  </TitlesOfParts>
  <Company>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GANDUBERT Patrick</dc:creator>
  <cp:lastModifiedBy>LESIEUR Christophe</cp:lastModifiedBy>
  <cp:revision>121</cp:revision>
  <dcterms:created xsi:type="dcterms:W3CDTF">2024-10-07T14:28:24Z</dcterms:created>
  <dcterms:modified xsi:type="dcterms:W3CDTF">2026-06-26T14:56:29Z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0x0101003CC4B864CFCC5B4D9ACD432D285AC3BC003130031EBC5F8A408D719B71B7F316F7</vt:lpwstr>
  </property>
</Properties>
</file>