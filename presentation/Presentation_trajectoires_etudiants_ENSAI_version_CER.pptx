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4"/>
  </p:sldMasterIdLst>
  <p:notesMasterIdLst>
    <p:notesMasterId r:id="rId36"/>
  </p:notesMasterIdLst>
  <p:handoutMasterIdLst>
    <p:handoutMasterId r:id="rId37"/>
  </p:handoutMasterIdLst>
  <p:sldIdLst>
    <p:sldId id="259" r:id="rId5"/>
    <p:sldId id="317" r:id="rId6"/>
    <p:sldId id="284" r:id="rId7"/>
    <p:sldId id="288" r:id="rId8"/>
    <p:sldId id="322" r:id="rId9"/>
    <p:sldId id="293" r:id="rId10"/>
    <p:sldId id="295" r:id="rId11"/>
    <p:sldId id="313" r:id="rId12"/>
    <p:sldId id="289" r:id="rId13"/>
    <p:sldId id="319" r:id="rId14"/>
    <p:sldId id="320" r:id="rId15"/>
    <p:sldId id="323" r:id="rId16"/>
    <p:sldId id="291" r:id="rId17"/>
    <p:sldId id="301" r:id="rId18"/>
    <p:sldId id="318" r:id="rId19"/>
    <p:sldId id="277" r:id="rId20"/>
    <p:sldId id="325" r:id="rId21"/>
    <p:sldId id="326" r:id="rId22"/>
    <p:sldId id="324" r:id="rId23"/>
    <p:sldId id="327" r:id="rId24"/>
    <p:sldId id="328" r:id="rId25"/>
    <p:sldId id="329" r:id="rId26"/>
    <p:sldId id="330" r:id="rId27"/>
    <p:sldId id="331" r:id="rId28"/>
    <p:sldId id="332" r:id="rId29"/>
    <p:sldId id="333" r:id="rId30"/>
    <p:sldId id="334" r:id="rId31"/>
    <p:sldId id="335" r:id="rId32"/>
    <p:sldId id="336" r:id="rId33"/>
    <p:sldId id="338" r:id="rId34"/>
    <p:sldId id="337" r:id="rId35"/>
  </p:sldIdLst>
  <p:sldSz cx="12192000" cy="6858000"/>
  <p:notesSz cx="9926638" cy="6797675"/>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AEDB"/>
    <a:srgbClr val="005980"/>
    <a:srgbClr val="A6A6A6"/>
    <a:srgbClr val="009BDE"/>
    <a:srgbClr val="564A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1" d="100"/>
          <a:sy n="111" d="100"/>
        </p:scale>
        <p:origin x="534" y="96"/>
      </p:cViewPr>
      <p:guideLst/>
    </p:cSldViewPr>
  </p:slideViewPr>
  <p:notesTextViewPr>
    <p:cViewPr>
      <p:scale>
        <a:sx n="1" d="1"/>
        <a:sy n="1" d="1"/>
      </p:scale>
      <p:origin x="0" y="0"/>
    </p:cViewPr>
  </p:notesTextViewPr>
  <p:notesViewPr>
    <p:cSldViewPr snapToGrid="0">
      <p:cViewPr varScale="1">
        <p:scale>
          <a:sx n="88" d="100"/>
          <a:sy n="88" d="100"/>
        </p:scale>
        <p:origin x="382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domensai.ecole\dfs-ensai\Source\ETUDES\1_Dpt_Scolarite\Comites%20et%20commissions\Historique_RDBLTS_EXCLUSIONS_%202005-2024.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omensai.ecole\dfs-ensai\Source\ETUDES\1_Dpt_Scolarite\Comites%20et%20commissions\Historique_RDBLTS_EXCLUSIONS_%202005-2024.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r>
              <a:rPr lang="fr-FR" sz="2000"/>
              <a:t>Tx redoublement/exclusion</a:t>
            </a:r>
            <a:r>
              <a:rPr lang="fr-FR" sz="2000" baseline="0"/>
              <a:t> 1ère année</a:t>
            </a:r>
            <a:endParaRPr lang="fr-FR" sz="2000"/>
          </a:p>
        </c:rich>
      </c:tx>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lineChart>
        <c:grouping val="standard"/>
        <c:varyColors val="0"/>
        <c:ser>
          <c:idx val="0"/>
          <c:order val="0"/>
          <c:tx>
            <c:strRef>
              <c:f>'[Historique_RDBLTS_EXCLUSIONS_ 2005-2024.xlsx]TabGraphs'!$Q$2</c:f>
              <c:strCache>
                <c:ptCount val="1"/>
                <c:pt idx="0">
                  <c:v>Ingé</c:v>
                </c:pt>
              </c:strCache>
            </c:strRef>
          </c:tx>
          <c:spPr>
            <a:ln w="28575" cap="rnd">
              <a:solidFill>
                <a:schemeClr val="accent1"/>
              </a:solidFill>
              <a:round/>
            </a:ln>
            <a:effectLst/>
          </c:spPr>
          <c:marker>
            <c:symbol val="none"/>
          </c:marker>
          <c:trendline>
            <c:spPr>
              <a:ln w="28575" cap="rnd">
                <a:solidFill>
                  <a:schemeClr val="accent1"/>
                </a:solidFill>
                <a:prstDash val="sysDot"/>
              </a:ln>
              <a:effectLst/>
            </c:spPr>
            <c:trendlineType val="poly"/>
            <c:order val="2"/>
            <c:dispRSqr val="1"/>
            <c:dispEq val="0"/>
            <c:trendlineLbl>
              <c:layout>
                <c:manualLayout>
                  <c:x val="5.6527340332458445E-2"/>
                  <c:y val="-0.10621099445902596"/>
                </c:manualLayout>
              </c:layout>
              <c:numFmt formatCode="#,##0.00" sourceLinked="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fr-FR"/>
                </a:p>
              </c:txPr>
            </c:trendlineLbl>
          </c:trendline>
          <c:cat>
            <c:numRef>
              <c:f>'[Historique_RDBLTS_EXCLUSIONS_ 2005-2024.xlsx]TabGraphs'!$A$3:$A$22</c:f>
              <c:numCache>
                <c:formatCode>General</c:formatCode>
                <c:ptCount val="20"/>
                <c:pt idx="0">
                  <c:v>2005</c:v>
                </c:pt>
                <c:pt idx="1">
                  <c:v>2006</c:v>
                </c:pt>
                <c:pt idx="2">
                  <c:v>2007</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pt idx="17">
                  <c:v>2022</c:v>
                </c:pt>
                <c:pt idx="18">
                  <c:v>2023</c:v>
                </c:pt>
                <c:pt idx="19">
                  <c:v>2024</c:v>
                </c:pt>
              </c:numCache>
            </c:numRef>
          </c:cat>
          <c:val>
            <c:numRef>
              <c:f>'[Historique_RDBLTS_EXCLUSIONS_ 2005-2024.xlsx]TabGraphs'!$Q$3:$Q$22</c:f>
              <c:numCache>
                <c:formatCode>0%</c:formatCode>
                <c:ptCount val="20"/>
                <c:pt idx="0">
                  <c:v>0.12857142857142856</c:v>
                </c:pt>
                <c:pt idx="1">
                  <c:v>6.4516129032258063E-2</c:v>
                </c:pt>
                <c:pt idx="2">
                  <c:v>3.9473684210526314E-2</c:v>
                </c:pt>
                <c:pt idx="3">
                  <c:v>0.13333333333333333</c:v>
                </c:pt>
                <c:pt idx="4">
                  <c:v>1.3157894736842105E-2</c:v>
                </c:pt>
                <c:pt idx="5">
                  <c:v>7.1428571428571425E-2</c:v>
                </c:pt>
                <c:pt idx="6">
                  <c:v>0.1038961038961039</c:v>
                </c:pt>
                <c:pt idx="7">
                  <c:v>0.12903225806451613</c:v>
                </c:pt>
                <c:pt idx="8">
                  <c:v>7.7777777777777779E-2</c:v>
                </c:pt>
                <c:pt idx="9">
                  <c:v>6.5934065934065936E-2</c:v>
                </c:pt>
                <c:pt idx="10">
                  <c:v>7.4999999999999997E-2</c:v>
                </c:pt>
                <c:pt idx="11">
                  <c:v>1.1111111111111112E-2</c:v>
                </c:pt>
                <c:pt idx="12">
                  <c:v>3.3333333333333333E-2</c:v>
                </c:pt>
                <c:pt idx="13">
                  <c:v>3.2967032967032968E-2</c:v>
                </c:pt>
                <c:pt idx="14">
                  <c:v>1.1235955056179775E-2</c:v>
                </c:pt>
                <c:pt idx="15">
                  <c:v>4.3478260869565216E-2</c:v>
                </c:pt>
                <c:pt idx="16">
                  <c:v>3.2258064516129031E-2</c:v>
                </c:pt>
                <c:pt idx="17">
                  <c:v>4.0404040404040407E-2</c:v>
                </c:pt>
                <c:pt idx="18">
                  <c:v>1.8691588785046728E-2</c:v>
                </c:pt>
                <c:pt idx="19">
                  <c:v>8.5470085470085479E-3</c:v>
                </c:pt>
              </c:numCache>
            </c:numRef>
          </c:val>
          <c:smooth val="0"/>
          <c:extLst>
            <c:ext xmlns:c16="http://schemas.microsoft.com/office/drawing/2014/chart" uri="{C3380CC4-5D6E-409C-BE32-E72D297353CC}">
              <c16:uniqueId val="{00000001-015B-4DF7-8F4F-DAA0EE0CBDD6}"/>
            </c:ext>
          </c:extLst>
        </c:ser>
        <c:ser>
          <c:idx val="1"/>
          <c:order val="1"/>
          <c:tx>
            <c:strRef>
              <c:f>'[Historique_RDBLTS_EXCLUSIONS_ 2005-2024.xlsx]TabGraphs'!$R$2</c:f>
              <c:strCache>
                <c:ptCount val="1"/>
                <c:pt idx="0">
                  <c:v>Att</c:v>
                </c:pt>
              </c:strCache>
            </c:strRef>
          </c:tx>
          <c:spPr>
            <a:ln w="28575" cap="rnd">
              <a:solidFill>
                <a:schemeClr val="accent2"/>
              </a:solidFill>
              <a:round/>
            </a:ln>
            <a:effectLst/>
          </c:spPr>
          <c:marker>
            <c:symbol val="none"/>
          </c:marker>
          <c:trendline>
            <c:spPr>
              <a:ln w="28575" cap="rnd">
                <a:solidFill>
                  <a:schemeClr val="accent2"/>
                </a:solidFill>
                <a:prstDash val="sysDot"/>
              </a:ln>
              <a:effectLst/>
            </c:spPr>
            <c:trendlineType val="poly"/>
            <c:order val="2"/>
            <c:dispRSqr val="1"/>
            <c:dispEq val="0"/>
            <c:trendlineLbl>
              <c:layout>
                <c:manualLayout>
                  <c:x val="5.9305118110236324E-2"/>
                  <c:y val="-0.17763342082239719"/>
                </c:manualLayout>
              </c:layout>
              <c:numFmt formatCode="#,##0.00" sourceLinked="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fr-FR"/>
                </a:p>
              </c:txPr>
            </c:trendlineLbl>
          </c:trendline>
          <c:cat>
            <c:numRef>
              <c:f>'[Historique_RDBLTS_EXCLUSIONS_ 2005-2024.xlsx]TabGraphs'!$A$3:$A$22</c:f>
              <c:numCache>
                <c:formatCode>General</c:formatCode>
                <c:ptCount val="20"/>
                <c:pt idx="0">
                  <c:v>2005</c:v>
                </c:pt>
                <c:pt idx="1">
                  <c:v>2006</c:v>
                </c:pt>
                <c:pt idx="2">
                  <c:v>2007</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pt idx="17">
                  <c:v>2022</c:v>
                </c:pt>
                <c:pt idx="18">
                  <c:v>2023</c:v>
                </c:pt>
                <c:pt idx="19">
                  <c:v>2024</c:v>
                </c:pt>
              </c:numCache>
            </c:numRef>
          </c:cat>
          <c:val>
            <c:numRef>
              <c:f>'[Historique_RDBLTS_EXCLUSIONS_ 2005-2024.xlsx]TabGraphs'!$R$3:$R$22</c:f>
              <c:numCache>
                <c:formatCode>0%</c:formatCode>
                <c:ptCount val="20"/>
                <c:pt idx="0">
                  <c:v>4.7619047619047616E-2</c:v>
                </c:pt>
                <c:pt idx="1">
                  <c:v>7.0175438596491224E-2</c:v>
                </c:pt>
                <c:pt idx="2">
                  <c:v>7.407407407407407E-2</c:v>
                </c:pt>
                <c:pt idx="3">
                  <c:v>0.10526315789473684</c:v>
                </c:pt>
                <c:pt idx="4">
                  <c:v>8.3333333333333329E-2</c:v>
                </c:pt>
                <c:pt idx="5">
                  <c:v>4.7619047619047616E-2</c:v>
                </c:pt>
                <c:pt idx="6">
                  <c:v>7.8431372549019607E-2</c:v>
                </c:pt>
                <c:pt idx="7">
                  <c:v>4.878048780487805E-2</c:v>
                </c:pt>
                <c:pt idx="8">
                  <c:v>0.12195121951219512</c:v>
                </c:pt>
                <c:pt idx="9">
                  <c:v>0.125</c:v>
                </c:pt>
                <c:pt idx="10">
                  <c:v>0.16666666666666666</c:v>
                </c:pt>
                <c:pt idx="11">
                  <c:v>0.125</c:v>
                </c:pt>
                <c:pt idx="12">
                  <c:v>3.7037037037037035E-2</c:v>
                </c:pt>
                <c:pt idx="13">
                  <c:v>9.2592592592592587E-2</c:v>
                </c:pt>
                <c:pt idx="14">
                  <c:v>2.0408163265306121E-2</c:v>
                </c:pt>
                <c:pt idx="15">
                  <c:v>0.21568627450980393</c:v>
                </c:pt>
                <c:pt idx="16">
                  <c:v>0.1206896551724138</c:v>
                </c:pt>
                <c:pt idx="17">
                  <c:v>0.1</c:v>
                </c:pt>
                <c:pt idx="18">
                  <c:v>8.3333333333333329E-2</c:v>
                </c:pt>
                <c:pt idx="19">
                  <c:v>0.17647058823529413</c:v>
                </c:pt>
              </c:numCache>
            </c:numRef>
          </c:val>
          <c:smooth val="0"/>
          <c:extLst>
            <c:ext xmlns:c16="http://schemas.microsoft.com/office/drawing/2014/chart" uri="{C3380CC4-5D6E-409C-BE32-E72D297353CC}">
              <c16:uniqueId val="{00000003-015B-4DF7-8F4F-DAA0EE0CBDD6}"/>
            </c:ext>
          </c:extLst>
        </c:ser>
        <c:dLbls>
          <c:showLegendKey val="0"/>
          <c:showVal val="0"/>
          <c:showCatName val="0"/>
          <c:showSerName val="0"/>
          <c:showPercent val="0"/>
          <c:showBubbleSize val="0"/>
        </c:dLbls>
        <c:smooth val="0"/>
        <c:axId val="993904527"/>
        <c:axId val="993908271"/>
      </c:lineChart>
      <c:catAx>
        <c:axId val="9939045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fr-FR"/>
          </a:p>
        </c:txPr>
        <c:crossAx val="993908271"/>
        <c:crosses val="autoZero"/>
        <c:auto val="1"/>
        <c:lblAlgn val="ctr"/>
        <c:lblOffset val="100"/>
        <c:noMultiLvlLbl val="0"/>
      </c:catAx>
      <c:valAx>
        <c:axId val="99390827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fr-FR"/>
          </a:p>
        </c:txPr>
        <c:crossAx val="99390452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r>
              <a:rPr lang="fr-FR" sz="2000"/>
              <a:t>Tx redoublement/exclusion</a:t>
            </a:r>
            <a:r>
              <a:rPr lang="fr-FR" sz="2000" baseline="0"/>
              <a:t> 2ème année</a:t>
            </a:r>
            <a:endParaRPr lang="fr-FR" sz="2000"/>
          </a:p>
        </c:rich>
      </c:tx>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lineChart>
        <c:grouping val="standard"/>
        <c:varyColors val="0"/>
        <c:ser>
          <c:idx val="0"/>
          <c:order val="0"/>
          <c:tx>
            <c:v>Ing</c:v>
          </c:tx>
          <c:spPr>
            <a:ln w="28575" cap="rnd">
              <a:solidFill>
                <a:schemeClr val="accent1"/>
              </a:solidFill>
              <a:round/>
            </a:ln>
            <a:effectLst/>
          </c:spPr>
          <c:marker>
            <c:symbol val="none"/>
          </c:marker>
          <c:trendline>
            <c:spPr>
              <a:ln w="28575" cap="rnd">
                <a:solidFill>
                  <a:schemeClr val="accent1"/>
                </a:solidFill>
                <a:prstDash val="sysDot"/>
              </a:ln>
              <a:effectLst/>
            </c:spPr>
            <c:trendlineType val="poly"/>
            <c:order val="2"/>
            <c:dispRSqr val="1"/>
            <c:dispEq val="0"/>
            <c:trendlineLbl>
              <c:layout>
                <c:manualLayout>
                  <c:x val="6.7638451443569447E-2"/>
                  <c:y val="-6.386993292505104E-2"/>
                </c:manualLayout>
              </c:layout>
              <c:numFmt formatCode="#,##0.00" sourceLinked="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fr-FR"/>
                </a:p>
              </c:txPr>
            </c:trendlineLbl>
          </c:trendline>
          <c:cat>
            <c:numRef>
              <c:f>'[Historique_RDBLTS_EXCLUSIONS_ 2005-2024.xlsx]TabGraphs'!$A$25:$A$44</c:f>
              <c:numCache>
                <c:formatCode>General</c:formatCode>
                <c:ptCount val="20"/>
                <c:pt idx="0">
                  <c:v>2005</c:v>
                </c:pt>
                <c:pt idx="1">
                  <c:v>2006</c:v>
                </c:pt>
                <c:pt idx="2">
                  <c:v>2007</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pt idx="17">
                  <c:v>2022</c:v>
                </c:pt>
                <c:pt idx="18">
                  <c:v>2023</c:v>
                </c:pt>
                <c:pt idx="19">
                  <c:v>2024</c:v>
                </c:pt>
              </c:numCache>
            </c:numRef>
          </c:cat>
          <c:val>
            <c:numRef>
              <c:f>'[Historique_RDBLTS_EXCLUSIONS_ 2005-2024.xlsx]TabGraphs'!$Q$25:$Q$44</c:f>
              <c:numCache>
                <c:formatCode>0%</c:formatCode>
                <c:ptCount val="20"/>
                <c:pt idx="0">
                  <c:v>4.1666666666666664E-2</c:v>
                </c:pt>
                <c:pt idx="1">
                  <c:v>0</c:v>
                </c:pt>
                <c:pt idx="2">
                  <c:v>0</c:v>
                </c:pt>
                <c:pt idx="3">
                  <c:v>0</c:v>
                </c:pt>
                <c:pt idx="4">
                  <c:v>0</c:v>
                </c:pt>
                <c:pt idx="5">
                  <c:v>0</c:v>
                </c:pt>
                <c:pt idx="6">
                  <c:v>2.9850746268656716E-2</c:v>
                </c:pt>
                <c:pt idx="7">
                  <c:v>4.8192771084337352E-2</c:v>
                </c:pt>
                <c:pt idx="8">
                  <c:v>4.2105263157894736E-2</c:v>
                </c:pt>
                <c:pt idx="9">
                  <c:v>6.7307692307692304E-2</c:v>
                </c:pt>
                <c:pt idx="10">
                  <c:v>3.1914893617021274E-2</c:v>
                </c:pt>
                <c:pt idx="11">
                  <c:v>2.2222222222222223E-2</c:v>
                </c:pt>
                <c:pt idx="12">
                  <c:v>9.7087378640776691E-3</c:v>
                </c:pt>
                <c:pt idx="13">
                  <c:v>0</c:v>
                </c:pt>
                <c:pt idx="14">
                  <c:v>9.1743119266055051E-3</c:v>
                </c:pt>
                <c:pt idx="15">
                  <c:v>3.7383177570093455E-2</c:v>
                </c:pt>
                <c:pt idx="16">
                  <c:v>4.9504950495049507E-2</c:v>
                </c:pt>
                <c:pt idx="17">
                  <c:v>2.5862068965517241E-2</c:v>
                </c:pt>
                <c:pt idx="18">
                  <c:v>1.834862385321101E-2</c:v>
                </c:pt>
                <c:pt idx="19">
                  <c:v>2.3809523809523808E-2</c:v>
                </c:pt>
              </c:numCache>
            </c:numRef>
          </c:val>
          <c:smooth val="0"/>
          <c:extLst>
            <c:ext xmlns:c16="http://schemas.microsoft.com/office/drawing/2014/chart" uri="{C3380CC4-5D6E-409C-BE32-E72D297353CC}">
              <c16:uniqueId val="{00000001-54B0-43E6-AC3C-6DAEB07430F4}"/>
            </c:ext>
          </c:extLst>
        </c:ser>
        <c:ser>
          <c:idx val="1"/>
          <c:order val="1"/>
          <c:tx>
            <c:v>Att</c:v>
          </c:tx>
          <c:spPr>
            <a:ln w="28575" cap="rnd">
              <a:solidFill>
                <a:schemeClr val="accent2"/>
              </a:solidFill>
              <a:round/>
            </a:ln>
            <a:effectLst/>
          </c:spPr>
          <c:marker>
            <c:symbol val="none"/>
          </c:marker>
          <c:trendline>
            <c:spPr>
              <a:ln w="28575" cap="rnd">
                <a:solidFill>
                  <a:schemeClr val="accent2"/>
                </a:solidFill>
                <a:prstDash val="sysDot"/>
              </a:ln>
              <a:effectLst/>
            </c:spPr>
            <c:trendlineType val="poly"/>
            <c:order val="2"/>
            <c:dispRSqr val="1"/>
            <c:dispEq val="0"/>
            <c:trendlineLbl>
              <c:layout>
                <c:manualLayout>
                  <c:x val="6.7638451443569447E-2"/>
                  <c:y val="-7.1594852726742486E-2"/>
                </c:manualLayout>
              </c:layout>
              <c:numFmt formatCode="#,##0.00" sourceLinked="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fr-FR"/>
                </a:p>
              </c:txPr>
            </c:trendlineLbl>
          </c:trendline>
          <c:cat>
            <c:numRef>
              <c:f>'[Historique_RDBLTS_EXCLUSIONS_ 2005-2024.xlsx]TabGraphs'!$A$25:$A$44</c:f>
              <c:numCache>
                <c:formatCode>General</c:formatCode>
                <c:ptCount val="20"/>
                <c:pt idx="0">
                  <c:v>2005</c:v>
                </c:pt>
                <c:pt idx="1">
                  <c:v>2006</c:v>
                </c:pt>
                <c:pt idx="2">
                  <c:v>2007</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pt idx="17">
                  <c:v>2022</c:v>
                </c:pt>
                <c:pt idx="18">
                  <c:v>2023</c:v>
                </c:pt>
                <c:pt idx="19">
                  <c:v>2024</c:v>
                </c:pt>
              </c:numCache>
            </c:numRef>
          </c:cat>
          <c:val>
            <c:numRef>
              <c:f>'[Historique_RDBLTS_EXCLUSIONS_ 2005-2024.xlsx]TabGraphs'!$R$25:$R$44</c:f>
              <c:numCache>
                <c:formatCode>0%</c:formatCode>
                <c:ptCount val="20"/>
                <c:pt idx="0">
                  <c:v>2.3255813953488372E-2</c:v>
                </c:pt>
                <c:pt idx="1">
                  <c:v>0</c:v>
                </c:pt>
                <c:pt idx="2">
                  <c:v>1.7543859649122806E-2</c:v>
                </c:pt>
                <c:pt idx="3">
                  <c:v>0.02</c:v>
                </c:pt>
                <c:pt idx="4">
                  <c:v>0</c:v>
                </c:pt>
                <c:pt idx="5">
                  <c:v>8.6956521739130432E-2</c:v>
                </c:pt>
                <c:pt idx="6">
                  <c:v>5.2631578947368418E-2</c:v>
                </c:pt>
                <c:pt idx="7">
                  <c:v>0</c:v>
                </c:pt>
                <c:pt idx="8">
                  <c:v>4.7619047619047616E-2</c:v>
                </c:pt>
                <c:pt idx="9">
                  <c:v>8.1081081081081086E-2</c:v>
                </c:pt>
                <c:pt idx="10">
                  <c:v>0</c:v>
                </c:pt>
                <c:pt idx="11">
                  <c:v>0</c:v>
                </c:pt>
                <c:pt idx="12">
                  <c:v>4.0816326530612242E-2</c:v>
                </c:pt>
                <c:pt idx="13">
                  <c:v>9.6153846153846159E-2</c:v>
                </c:pt>
                <c:pt idx="14">
                  <c:v>3.7037037037037035E-2</c:v>
                </c:pt>
                <c:pt idx="15">
                  <c:v>8.3333333333333329E-2</c:v>
                </c:pt>
                <c:pt idx="16">
                  <c:v>2.2727272727272728E-2</c:v>
                </c:pt>
                <c:pt idx="17">
                  <c:v>7.0175438596491224E-2</c:v>
                </c:pt>
                <c:pt idx="18">
                  <c:v>6.3829787234042548E-2</c:v>
                </c:pt>
                <c:pt idx="19">
                  <c:v>6.25E-2</c:v>
                </c:pt>
              </c:numCache>
            </c:numRef>
          </c:val>
          <c:smooth val="0"/>
          <c:extLst>
            <c:ext xmlns:c16="http://schemas.microsoft.com/office/drawing/2014/chart" uri="{C3380CC4-5D6E-409C-BE32-E72D297353CC}">
              <c16:uniqueId val="{00000003-54B0-43E6-AC3C-6DAEB07430F4}"/>
            </c:ext>
          </c:extLst>
        </c:ser>
        <c:dLbls>
          <c:showLegendKey val="0"/>
          <c:showVal val="0"/>
          <c:showCatName val="0"/>
          <c:showSerName val="0"/>
          <c:showPercent val="0"/>
          <c:showBubbleSize val="0"/>
        </c:dLbls>
        <c:smooth val="0"/>
        <c:axId val="218380559"/>
        <c:axId val="218379311"/>
      </c:lineChart>
      <c:catAx>
        <c:axId val="2183805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fr-FR"/>
          </a:p>
        </c:txPr>
        <c:crossAx val="218379311"/>
        <c:crosses val="autoZero"/>
        <c:auto val="1"/>
        <c:lblAlgn val="ctr"/>
        <c:lblOffset val="100"/>
        <c:noMultiLvlLbl val="0"/>
      </c:catAx>
      <c:valAx>
        <c:axId val="218379311"/>
        <c:scaling>
          <c:orientation val="minMax"/>
          <c:max val="0.25"/>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fr-FR"/>
          </a:p>
        </c:txPr>
        <c:crossAx val="21838055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1"/>
            <a:ext cx="4301543" cy="341064"/>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5622798" y="1"/>
            <a:ext cx="4301543" cy="341064"/>
          </a:xfrm>
          <a:prstGeom prst="rect">
            <a:avLst/>
          </a:prstGeom>
        </p:spPr>
        <p:txBody>
          <a:bodyPr vert="horz" lIns="91440" tIns="45720" rIns="91440" bIns="45720" rtlCol="0"/>
          <a:lstStyle>
            <a:lvl1pPr algn="r">
              <a:defRPr sz="1200"/>
            </a:lvl1pPr>
          </a:lstStyle>
          <a:p>
            <a:fld id="{E7FCCED0-103C-4C10-8D72-99DD07E324A0}" type="datetimeFigureOut">
              <a:rPr lang="fr-FR" smtClean="0"/>
              <a:t>18/08/2026</a:t>
            </a:fld>
            <a:endParaRPr lang="fr-FR"/>
          </a:p>
        </p:txBody>
      </p:sp>
      <p:sp>
        <p:nvSpPr>
          <p:cNvPr id="4" name="Espace réservé du pied de page 3"/>
          <p:cNvSpPr>
            <a:spLocks noGrp="1"/>
          </p:cNvSpPr>
          <p:nvPr>
            <p:ph type="ftr" sz="quarter" idx="2"/>
          </p:nvPr>
        </p:nvSpPr>
        <p:spPr>
          <a:xfrm>
            <a:off x="0" y="6456612"/>
            <a:ext cx="4301543" cy="341063"/>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5622798" y="6456612"/>
            <a:ext cx="4301543" cy="341063"/>
          </a:xfrm>
          <a:prstGeom prst="rect">
            <a:avLst/>
          </a:prstGeom>
        </p:spPr>
        <p:txBody>
          <a:bodyPr vert="horz" lIns="91440" tIns="45720" rIns="91440" bIns="45720" rtlCol="0" anchor="b"/>
          <a:lstStyle>
            <a:lvl1pPr algn="r">
              <a:defRPr sz="1200"/>
            </a:lvl1pPr>
          </a:lstStyle>
          <a:p>
            <a:fld id="{844C92F0-C3EC-4C25-8D86-B30BA11ABE61}" type="slidenum">
              <a:rPr lang="fr-FR" smtClean="0"/>
              <a:t>‹N°›</a:t>
            </a:fld>
            <a:endParaRPr lang="fr-FR"/>
          </a:p>
        </p:txBody>
      </p:sp>
    </p:spTree>
    <p:extLst>
      <p:ext uri="{BB962C8B-B14F-4D97-AF65-F5344CB8AC3E}">
        <p14:creationId xmlns:p14="http://schemas.microsoft.com/office/powerpoint/2010/main" val="15673369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1"/>
            <a:ext cx="4301543" cy="341064"/>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5622798" y="1"/>
            <a:ext cx="4301543" cy="341064"/>
          </a:xfrm>
          <a:prstGeom prst="rect">
            <a:avLst/>
          </a:prstGeom>
        </p:spPr>
        <p:txBody>
          <a:bodyPr vert="horz" lIns="91440" tIns="45720" rIns="91440" bIns="45720" rtlCol="0"/>
          <a:lstStyle>
            <a:lvl1pPr algn="r">
              <a:defRPr sz="1200"/>
            </a:lvl1pPr>
          </a:lstStyle>
          <a:p>
            <a:fld id="{EF258B95-F104-4A72-A4BF-C3A46957C253}" type="datetimeFigureOut">
              <a:rPr lang="fr-FR" smtClean="0"/>
              <a:t>18/08/2026</a:t>
            </a:fld>
            <a:endParaRPr lang="fr-FR"/>
          </a:p>
        </p:txBody>
      </p:sp>
      <p:sp>
        <p:nvSpPr>
          <p:cNvPr id="4" name="Espace réservé de l'image des diapositives 3"/>
          <p:cNvSpPr>
            <a:spLocks noGrp="1" noRot="1" noChangeAspect="1"/>
          </p:cNvSpPr>
          <p:nvPr>
            <p:ph type="sldImg" idx="2"/>
          </p:nvPr>
        </p:nvSpPr>
        <p:spPr>
          <a:xfrm>
            <a:off x="2924175" y="849313"/>
            <a:ext cx="4078288" cy="2293937"/>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992664" y="3271381"/>
            <a:ext cx="7941310" cy="2676585"/>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6456612"/>
            <a:ext cx="4301543" cy="341063"/>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5622798" y="6456612"/>
            <a:ext cx="4301543" cy="341063"/>
          </a:xfrm>
          <a:prstGeom prst="rect">
            <a:avLst/>
          </a:prstGeom>
        </p:spPr>
        <p:txBody>
          <a:bodyPr vert="horz" lIns="91440" tIns="45720" rIns="91440" bIns="45720" rtlCol="0" anchor="b"/>
          <a:lstStyle>
            <a:lvl1pPr algn="r">
              <a:defRPr sz="1200"/>
            </a:lvl1pPr>
          </a:lstStyle>
          <a:p>
            <a:fld id="{B461E338-64DE-4218-8E01-89E259BBC0EE}" type="slidenum">
              <a:rPr lang="fr-FR" smtClean="0"/>
              <a:t>‹N°›</a:t>
            </a:fld>
            <a:endParaRPr lang="fr-FR"/>
          </a:p>
        </p:txBody>
      </p:sp>
    </p:spTree>
    <p:extLst>
      <p:ext uri="{BB962C8B-B14F-4D97-AF65-F5344CB8AC3E}">
        <p14:creationId xmlns:p14="http://schemas.microsoft.com/office/powerpoint/2010/main" val="3031113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B461E338-64DE-4218-8E01-89E259BBC0EE}" type="slidenum">
              <a:rPr lang="fr-FR" smtClean="0"/>
              <a:t>1</a:t>
            </a:fld>
            <a:endParaRPr lang="fr-FR"/>
          </a:p>
        </p:txBody>
      </p:sp>
    </p:spTree>
    <p:extLst>
      <p:ext uri="{BB962C8B-B14F-4D97-AF65-F5344CB8AC3E}">
        <p14:creationId xmlns:p14="http://schemas.microsoft.com/office/powerpoint/2010/main" val="3811496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B461E338-64DE-4218-8E01-89E259BBC0EE}" type="slidenum">
              <a:rPr lang="fr-FR" smtClean="0"/>
              <a:t>2</a:t>
            </a:fld>
            <a:endParaRPr lang="fr-FR"/>
          </a:p>
        </p:txBody>
      </p:sp>
    </p:spTree>
    <p:extLst>
      <p:ext uri="{BB962C8B-B14F-4D97-AF65-F5344CB8AC3E}">
        <p14:creationId xmlns:p14="http://schemas.microsoft.com/office/powerpoint/2010/main" val="3346114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B461E338-64DE-4218-8E01-89E259BBC0EE}" type="slidenum">
              <a:rPr lang="fr-FR" smtClean="0"/>
              <a:t>3</a:t>
            </a:fld>
            <a:endParaRPr lang="fr-FR"/>
          </a:p>
        </p:txBody>
      </p:sp>
    </p:spTree>
    <p:extLst>
      <p:ext uri="{BB962C8B-B14F-4D97-AF65-F5344CB8AC3E}">
        <p14:creationId xmlns:p14="http://schemas.microsoft.com/office/powerpoint/2010/main" val="7086744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B461E338-64DE-4218-8E01-89E259BBC0EE}" type="slidenum">
              <a:rPr lang="fr-FR" smtClean="0"/>
              <a:t>4</a:t>
            </a:fld>
            <a:endParaRPr lang="fr-FR"/>
          </a:p>
        </p:txBody>
      </p:sp>
    </p:spTree>
    <p:extLst>
      <p:ext uri="{BB962C8B-B14F-4D97-AF65-F5344CB8AC3E}">
        <p14:creationId xmlns:p14="http://schemas.microsoft.com/office/powerpoint/2010/main" val="23061305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B461E338-64DE-4218-8E01-89E259BBC0EE}" type="slidenum">
              <a:rPr lang="fr-FR" smtClean="0"/>
              <a:t>5</a:t>
            </a:fld>
            <a:endParaRPr lang="fr-FR"/>
          </a:p>
        </p:txBody>
      </p:sp>
    </p:spTree>
    <p:extLst>
      <p:ext uri="{BB962C8B-B14F-4D97-AF65-F5344CB8AC3E}">
        <p14:creationId xmlns:p14="http://schemas.microsoft.com/office/powerpoint/2010/main" val="19127597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B461E338-64DE-4218-8E01-89E259BBC0EE}" type="slidenum">
              <a:rPr lang="fr-FR" smtClean="0"/>
              <a:t>6</a:t>
            </a:fld>
            <a:endParaRPr lang="fr-FR"/>
          </a:p>
        </p:txBody>
      </p:sp>
    </p:spTree>
    <p:extLst>
      <p:ext uri="{BB962C8B-B14F-4D97-AF65-F5344CB8AC3E}">
        <p14:creationId xmlns:p14="http://schemas.microsoft.com/office/powerpoint/2010/main" val="32969150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B461E338-64DE-4218-8E01-89E259BBC0EE}" type="slidenum">
              <a:rPr lang="fr-FR" smtClean="0"/>
              <a:t>7</a:t>
            </a:fld>
            <a:endParaRPr lang="fr-FR"/>
          </a:p>
        </p:txBody>
      </p:sp>
    </p:spTree>
    <p:extLst>
      <p:ext uri="{BB962C8B-B14F-4D97-AF65-F5344CB8AC3E}">
        <p14:creationId xmlns:p14="http://schemas.microsoft.com/office/powerpoint/2010/main" val="28543162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B461E338-64DE-4218-8E01-89E259BBC0EE}" type="slidenum">
              <a:rPr lang="fr-FR" smtClean="0"/>
              <a:t>8</a:t>
            </a:fld>
            <a:endParaRPr lang="fr-FR"/>
          </a:p>
        </p:txBody>
      </p:sp>
    </p:spTree>
    <p:extLst>
      <p:ext uri="{BB962C8B-B14F-4D97-AF65-F5344CB8AC3E}">
        <p14:creationId xmlns:p14="http://schemas.microsoft.com/office/powerpoint/2010/main" val="33120153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B461E338-64DE-4218-8E01-89E259BBC0EE}" type="slidenum">
              <a:rPr lang="fr-FR" smtClean="0"/>
              <a:t>9</a:t>
            </a:fld>
            <a:endParaRPr lang="fr-FR"/>
          </a:p>
        </p:txBody>
      </p:sp>
    </p:spTree>
    <p:extLst>
      <p:ext uri="{BB962C8B-B14F-4D97-AF65-F5344CB8AC3E}">
        <p14:creationId xmlns:p14="http://schemas.microsoft.com/office/powerpoint/2010/main" val="19496791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B461E338-64DE-4218-8E01-89E259BBC0EE}" type="slidenum">
              <a:rPr lang="fr-FR" smtClean="0"/>
              <a:t>10</a:t>
            </a:fld>
            <a:endParaRPr lang="fr-FR"/>
          </a:p>
        </p:txBody>
      </p:sp>
    </p:spTree>
    <p:extLst>
      <p:ext uri="{BB962C8B-B14F-4D97-AF65-F5344CB8AC3E}">
        <p14:creationId xmlns:p14="http://schemas.microsoft.com/office/powerpoint/2010/main" val="4597853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B461E338-64DE-4218-8E01-89E259BBC0EE}" type="slidenum">
              <a:rPr lang="fr-FR" smtClean="0"/>
              <a:t>11</a:t>
            </a:fld>
            <a:endParaRPr lang="fr-FR"/>
          </a:p>
        </p:txBody>
      </p:sp>
    </p:spTree>
    <p:extLst>
      <p:ext uri="{BB962C8B-B14F-4D97-AF65-F5344CB8AC3E}">
        <p14:creationId xmlns:p14="http://schemas.microsoft.com/office/powerpoint/2010/main" val="19707554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B461E338-64DE-4218-8E01-89E259BBC0EE}" type="slidenum">
              <a:rPr lang="fr-FR" smtClean="0"/>
              <a:t>13</a:t>
            </a:fld>
            <a:endParaRPr lang="fr-FR"/>
          </a:p>
        </p:txBody>
      </p:sp>
    </p:spTree>
    <p:extLst>
      <p:ext uri="{BB962C8B-B14F-4D97-AF65-F5344CB8AC3E}">
        <p14:creationId xmlns:p14="http://schemas.microsoft.com/office/powerpoint/2010/main" val="39019708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B461E338-64DE-4218-8E01-89E259BBC0EE}" type="slidenum">
              <a:rPr lang="fr-FR" smtClean="0"/>
              <a:t>14</a:t>
            </a:fld>
            <a:endParaRPr lang="fr-FR"/>
          </a:p>
        </p:txBody>
      </p:sp>
    </p:spTree>
    <p:extLst>
      <p:ext uri="{BB962C8B-B14F-4D97-AF65-F5344CB8AC3E}">
        <p14:creationId xmlns:p14="http://schemas.microsoft.com/office/powerpoint/2010/main" val="23960488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B461E338-64DE-4218-8E01-89E259BBC0EE}" type="slidenum">
              <a:rPr lang="fr-FR" smtClean="0"/>
              <a:t>15</a:t>
            </a:fld>
            <a:endParaRPr lang="fr-FR"/>
          </a:p>
        </p:txBody>
      </p:sp>
    </p:spTree>
    <p:extLst>
      <p:ext uri="{BB962C8B-B14F-4D97-AF65-F5344CB8AC3E}">
        <p14:creationId xmlns:p14="http://schemas.microsoft.com/office/powerpoint/2010/main" val="7580402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B461E338-64DE-4218-8E01-89E259BBC0EE}" type="slidenum">
              <a:rPr lang="fr-FR" smtClean="0"/>
              <a:t>16</a:t>
            </a:fld>
            <a:endParaRPr lang="fr-FR"/>
          </a:p>
        </p:txBody>
      </p:sp>
    </p:spTree>
    <p:extLst>
      <p:ext uri="{BB962C8B-B14F-4D97-AF65-F5344CB8AC3E}">
        <p14:creationId xmlns:p14="http://schemas.microsoft.com/office/powerpoint/2010/main" val="14935778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Diapositive de tit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Espace réservé du texte 6"/>
          <p:cNvSpPr>
            <a:spLocks noGrp="1"/>
          </p:cNvSpPr>
          <p:nvPr>
            <p:ph type="body" sz="quarter" idx="13" hasCustomPrompt="1"/>
          </p:nvPr>
        </p:nvSpPr>
        <p:spPr>
          <a:xfrm>
            <a:off x="1149350" y="2705100"/>
            <a:ext cx="5384800" cy="520700"/>
          </a:xfrm>
          <a:prstGeom prst="rect">
            <a:avLst/>
          </a:prstGeom>
        </p:spPr>
        <p:txBody>
          <a:bodyPr/>
          <a:lstStyle>
            <a:lvl1pPr marL="0" indent="0" algn="l">
              <a:buNone/>
              <a:defRPr>
                <a:solidFill>
                  <a:schemeClr val="bg1"/>
                </a:solidFill>
                <a:latin typeface="Georgia" panose="02040502050405020303" pitchFamily="18" charset="0"/>
                <a:cs typeface="Frank Ruhl Hofshi" panose="00000500000000000000" pitchFamily="50" charset="-79"/>
              </a:defRPr>
            </a:lvl1pPr>
          </a:lstStyle>
          <a:p>
            <a:pPr lvl="0"/>
            <a:r>
              <a:rPr lang="fr-FR" dirty="0"/>
              <a:t>Sous titre</a:t>
            </a:r>
          </a:p>
        </p:txBody>
      </p:sp>
      <p:sp>
        <p:nvSpPr>
          <p:cNvPr id="10" name="Espace réservé du texte 9"/>
          <p:cNvSpPr>
            <a:spLocks noGrp="1"/>
          </p:cNvSpPr>
          <p:nvPr>
            <p:ph type="body" sz="quarter" idx="14" hasCustomPrompt="1"/>
          </p:nvPr>
        </p:nvSpPr>
        <p:spPr>
          <a:xfrm>
            <a:off x="1149350" y="3492500"/>
            <a:ext cx="1701800" cy="508000"/>
          </a:xfrm>
          <a:prstGeom prst="rect">
            <a:avLst/>
          </a:prstGeom>
        </p:spPr>
        <p:txBody>
          <a:bodyPr/>
          <a:lstStyle>
            <a:lvl1pPr marL="0" indent="0">
              <a:buNone/>
              <a:defRPr sz="2000">
                <a:solidFill>
                  <a:schemeClr val="bg1"/>
                </a:solidFill>
                <a:latin typeface="Bahnschrift SemiLight" panose="020B0502040204020203" pitchFamily="34" charset="0"/>
                <a:cs typeface="Thorndale AMT" panose="02020603050405020304" pitchFamily="18" charset="0"/>
              </a:defRPr>
            </a:lvl1pPr>
          </a:lstStyle>
          <a:p>
            <a:pPr lvl="0"/>
            <a:r>
              <a:rPr lang="fr-FR" dirty="0"/>
              <a:t>Date</a:t>
            </a:r>
          </a:p>
        </p:txBody>
      </p:sp>
      <p:sp>
        <p:nvSpPr>
          <p:cNvPr id="16" name="Espace réservé du texte 9"/>
          <p:cNvSpPr>
            <a:spLocks noGrp="1"/>
          </p:cNvSpPr>
          <p:nvPr>
            <p:ph type="body" sz="quarter" idx="16" hasCustomPrompt="1"/>
          </p:nvPr>
        </p:nvSpPr>
        <p:spPr>
          <a:xfrm>
            <a:off x="1149350" y="5143500"/>
            <a:ext cx="4006850" cy="508000"/>
          </a:xfrm>
          <a:prstGeom prst="rect">
            <a:avLst/>
          </a:prstGeom>
        </p:spPr>
        <p:txBody>
          <a:bodyPr/>
          <a:lstStyle>
            <a:lvl1pPr marL="0" indent="0">
              <a:buNone/>
              <a:defRPr sz="2000" baseline="0">
                <a:latin typeface="Bahnschrift SemiLight" panose="020B0502040204020203" pitchFamily="34" charset="0"/>
                <a:cs typeface="Thorndale AMT" panose="02020603050405020304" pitchFamily="18" charset="0"/>
              </a:defRPr>
            </a:lvl1pPr>
          </a:lstStyle>
          <a:p>
            <a:pPr lvl="0"/>
            <a:r>
              <a:rPr lang="fr-FR" dirty="0"/>
              <a:t>Nom prénom (facultatif)</a:t>
            </a:r>
          </a:p>
        </p:txBody>
      </p:sp>
      <p:sp>
        <p:nvSpPr>
          <p:cNvPr id="8" name="Espace réservé du texte 2"/>
          <p:cNvSpPr>
            <a:spLocks noGrp="1"/>
          </p:cNvSpPr>
          <p:nvPr>
            <p:ph type="body" sz="quarter" idx="17" hasCustomPrompt="1"/>
          </p:nvPr>
        </p:nvSpPr>
        <p:spPr>
          <a:xfrm>
            <a:off x="1149350" y="635000"/>
            <a:ext cx="4565650" cy="1714500"/>
          </a:xfrm>
          <a:prstGeom prst="rect">
            <a:avLst/>
          </a:prstGeom>
        </p:spPr>
        <p:txBody>
          <a:bodyPr/>
          <a:lstStyle>
            <a:lvl1pPr marL="0" indent="0">
              <a:buNone/>
              <a:defRPr sz="5400" baseline="0">
                <a:solidFill>
                  <a:schemeClr val="bg1"/>
                </a:solidFill>
                <a:latin typeface="Georgia" panose="02040502050405020303" pitchFamily="18" charset="0"/>
                <a:ea typeface="CSongGB18030C-Light" panose="020A0304000101010101" pitchFamily="18" charset="-122"/>
                <a:cs typeface="Cascadia Mono" panose="020B0609020000020004" pitchFamily="49" charset="0"/>
              </a:defRPr>
            </a:lvl1pPr>
          </a:lstStyle>
          <a:p>
            <a:pPr lvl="0"/>
            <a:r>
              <a:rPr lang="fr-FR" dirty="0"/>
              <a:t>Titre de la présentation</a:t>
            </a:r>
          </a:p>
        </p:txBody>
      </p:sp>
    </p:spTree>
    <p:extLst>
      <p:ext uri="{BB962C8B-B14F-4D97-AF65-F5344CB8AC3E}">
        <p14:creationId xmlns:p14="http://schemas.microsoft.com/office/powerpoint/2010/main" val="738990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Disposition personnalisé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838200" y="365125"/>
            <a:ext cx="10515600" cy="1325563"/>
          </a:xfrm>
          <a:prstGeom prst="rect">
            <a:avLst/>
          </a:prstGeom>
        </p:spPr>
        <p:txBody>
          <a:bodyPr/>
          <a:lstStyle>
            <a:lvl1pPr>
              <a:defRPr sz="4000">
                <a:latin typeface="Georgia" panose="02040502050405020303" pitchFamily="18" charset="0"/>
                <a:cs typeface="Frank Ruhl Hofshi" panose="00000500000000000000" pitchFamily="50" charset="-79"/>
              </a:defRPr>
            </a:lvl1pPr>
          </a:lstStyle>
          <a:p>
            <a:r>
              <a:rPr lang="fr-FR" dirty="0"/>
              <a:t>Modifiez le texte du titre</a:t>
            </a:r>
          </a:p>
        </p:txBody>
      </p:sp>
      <p:sp>
        <p:nvSpPr>
          <p:cNvPr id="4" name="Espace réservé du texte 3"/>
          <p:cNvSpPr>
            <a:spLocks noGrp="1"/>
          </p:cNvSpPr>
          <p:nvPr>
            <p:ph type="body" sz="quarter" idx="10" hasCustomPrompt="1"/>
          </p:nvPr>
        </p:nvSpPr>
        <p:spPr>
          <a:xfrm>
            <a:off x="838200" y="2044700"/>
            <a:ext cx="10515600" cy="3886200"/>
          </a:xfrm>
          <a:prstGeom prst="rect">
            <a:avLst/>
          </a:prstGeom>
        </p:spPr>
        <p:txBody>
          <a:bodyPr/>
          <a:lstStyle>
            <a:lvl1pPr marL="0" indent="0">
              <a:buNone/>
              <a:defRPr>
                <a:latin typeface="Bahnschrift SemiLight" panose="020B0502040204020203" pitchFamily="34" charset="0"/>
                <a:cs typeface="Thorndale AMT" panose="02020603050405020304" pitchFamily="18" charset="0"/>
              </a:defRPr>
            </a:lvl1pPr>
          </a:lstStyle>
          <a:p>
            <a:pPr lvl="0"/>
            <a:r>
              <a:rPr lang="fr-FR" dirty="0"/>
              <a:t>Ajoutez du texte ici</a:t>
            </a:r>
          </a:p>
        </p:txBody>
      </p:sp>
    </p:spTree>
    <p:extLst>
      <p:ext uri="{BB962C8B-B14F-4D97-AF65-F5344CB8AC3E}">
        <p14:creationId xmlns:p14="http://schemas.microsoft.com/office/powerpoint/2010/main" val="2761420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sposition personnalisé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838200" y="365125"/>
            <a:ext cx="4292600" cy="1325563"/>
          </a:xfrm>
          <a:prstGeom prst="rect">
            <a:avLst/>
          </a:prstGeom>
        </p:spPr>
        <p:txBody>
          <a:bodyPr/>
          <a:lstStyle>
            <a:lvl1pPr>
              <a:defRPr sz="4000">
                <a:solidFill>
                  <a:schemeClr val="bg1"/>
                </a:solidFill>
                <a:latin typeface="Georgia" panose="02040502050405020303" pitchFamily="18" charset="0"/>
                <a:cs typeface="Frank Ruhl Hofshi" panose="00000500000000000000" pitchFamily="50" charset="-79"/>
              </a:defRPr>
            </a:lvl1pPr>
          </a:lstStyle>
          <a:p>
            <a:r>
              <a:rPr lang="fr-FR" dirty="0"/>
              <a:t>Insérer un titre</a:t>
            </a:r>
          </a:p>
        </p:txBody>
      </p:sp>
      <p:sp>
        <p:nvSpPr>
          <p:cNvPr id="4" name="Espace réservé du texte 3"/>
          <p:cNvSpPr>
            <a:spLocks noGrp="1"/>
          </p:cNvSpPr>
          <p:nvPr>
            <p:ph type="body" sz="quarter" idx="10"/>
          </p:nvPr>
        </p:nvSpPr>
        <p:spPr>
          <a:xfrm>
            <a:off x="838200" y="2108200"/>
            <a:ext cx="4292600" cy="4229100"/>
          </a:xfrm>
          <a:prstGeom prst="rect">
            <a:avLst/>
          </a:prstGeom>
        </p:spPr>
        <p:txBody>
          <a:bodyPr/>
          <a:lstStyle>
            <a:lvl1pPr marL="0" indent="0">
              <a:buNone/>
              <a:defRPr>
                <a:solidFill>
                  <a:schemeClr val="bg1"/>
                </a:solidFill>
                <a:latin typeface="Bahnschrift SemiLight" panose="020B0502040204020203" pitchFamily="34" charset="0"/>
                <a:cs typeface="Thorndale AMT" panose="02020603050405020304" pitchFamily="18" charset="0"/>
              </a:defRPr>
            </a:lvl1pPr>
            <a:lvl2pPr marL="457200" indent="0">
              <a:buNone/>
              <a:defRPr lang="fr-FR" sz="2800" kern="1200" dirty="0" smtClean="0">
                <a:solidFill>
                  <a:schemeClr val="bg1"/>
                </a:solidFill>
                <a:latin typeface="Bahnschrift SemiLight" panose="020B0502040204020203" pitchFamily="34" charset="0"/>
                <a:ea typeface="+mn-ea"/>
                <a:cs typeface="Thorndale AMT" panose="02020603050405020304" pitchFamily="18" charset="0"/>
              </a:defRPr>
            </a:lvl2pPr>
            <a:lvl3pPr marL="914400" indent="0">
              <a:buNone/>
              <a:defRPr>
                <a:solidFill>
                  <a:schemeClr val="bg1"/>
                </a:solidFill>
                <a:latin typeface="Bahnschrift SemiLight" panose="020B0502040204020203" pitchFamily="34" charset="0"/>
                <a:cs typeface="Thorndale AMT" panose="02020603050405020304" pitchFamily="18" charset="0"/>
              </a:defRPr>
            </a:lvl3pPr>
            <a:lvl4pPr marL="1371600" indent="0">
              <a:buNone/>
              <a:defRPr>
                <a:solidFill>
                  <a:schemeClr val="bg1"/>
                </a:solidFill>
                <a:latin typeface="Bahnschrift SemiLight" panose="020B0502040204020203" pitchFamily="34" charset="0"/>
                <a:cs typeface="Thorndale AMT" panose="02020603050405020304" pitchFamily="18" charset="0"/>
              </a:defRPr>
            </a:lvl4pPr>
            <a:lvl5pPr marL="1828800" indent="0">
              <a:buNone/>
              <a:defRPr>
                <a:solidFill>
                  <a:schemeClr val="bg1"/>
                </a:solidFill>
                <a:latin typeface="Bahnschrift SemiLight" panose="020B0502040204020203" pitchFamily="34" charset="0"/>
                <a:cs typeface="Thorndale AMT" panose="02020603050405020304" pitchFamily="18" charset="0"/>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5" name="Espace réservé du texte 3"/>
          <p:cNvSpPr>
            <a:spLocks noGrp="1"/>
          </p:cNvSpPr>
          <p:nvPr>
            <p:ph type="body" sz="quarter" idx="11"/>
          </p:nvPr>
        </p:nvSpPr>
        <p:spPr>
          <a:xfrm>
            <a:off x="7201929" y="2108200"/>
            <a:ext cx="4292600" cy="4229100"/>
          </a:xfrm>
          <a:prstGeom prst="rect">
            <a:avLst/>
          </a:prstGeom>
        </p:spPr>
        <p:txBody>
          <a:bodyPr/>
          <a:lstStyle>
            <a:lvl1pPr marL="0" indent="0">
              <a:buNone/>
              <a:defRPr>
                <a:solidFill>
                  <a:schemeClr val="tx1"/>
                </a:solidFill>
                <a:latin typeface="Bahnschrift SemiLight" panose="020B0502040204020203" pitchFamily="34" charset="0"/>
                <a:cs typeface="Thorndale AMT" panose="02020603050405020304" pitchFamily="18" charset="0"/>
              </a:defRPr>
            </a:lvl1pPr>
            <a:lvl2pPr marL="457200" indent="0">
              <a:buNone/>
              <a:defRPr lang="fr-FR" sz="2800" kern="1200" dirty="0" smtClean="0">
                <a:solidFill>
                  <a:schemeClr val="tx1"/>
                </a:solidFill>
                <a:latin typeface="Bahnschrift SemiLight" panose="020B0502040204020203" pitchFamily="34" charset="0"/>
                <a:ea typeface="+mn-ea"/>
                <a:cs typeface="Thorndale AMT" panose="02020603050405020304" pitchFamily="18" charset="0"/>
              </a:defRPr>
            </a:lvl2pPr>
            <a:lvl3pPr marL="914400" indent="0">
              <a:buNone/>
              <a:defRPr>
                <a:solidFill>
                  <a:schemeClr val="tx1"/>
                </a:solidFill>
                <a:latin typeface="Bahnschrift SemiLight" panose="020B0502040204020203" pitchFamily="34" charset="0"/>
                <a:cs typeface="Thorndale AMT" panose="02020603050405020304" pitchFamily="18" charset="0"/>
              </a:defRPr>
            </a:lvl3pPr>
            <a:lvl4pPr marL="1371600" indent="0">
              <a:buNone/>
              <a:defRPr>
                <a:solidFill>
                  <a:schemeClr val="tx1"/>
                </a:solidFill>
                <a:latin typeface="Bahnschrift SemiLight" panose="020B0502040204020203" pitchFamily="34" charset="0"/>
                <a:cs typeface="Thorndale AMT" panose="02020603050405020304" pitchFamily="18" charset="0"/>
              </a:defRPr>
            </a:lvl4pPr>
            <a:lvl5pPr marL="1828800" indent="0">
              <a:buNone/>
              <a:defRPr>
                <a:solidFill>
                  <a:schemeClr val="tx1"/>
                </a:solidFill>
                <a:latin typeface="Bahnschrift SemiLight" panose="020B0502040204020203" pitchFamily="34" charset="0"/>
                <a:cs typeface="Thorndale AMT" panose="02020603050405020304" pitchFamily="18" charset="0"/>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710559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Disposition personnalisé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re 1"/>
          <p:cNvSpPr>
            <a:spLocks noGrp="1"/>
          </p:cNvSpPr>
          <p:nvPr>
            <p:ph type="title" hasCustomPrompt="1"/>
          </p:nvPr>
        </p:nvSpPr>
        <p:spPr>
          <a:xfrm>
            <a:off x="838200" y="365125"/>
            <a:ext cx="4292600" cy="1325563"/>
          </a:xfrm>
          <a:prstGeom prst="rect">
            <a:avLst/>
          </a:prstGeom>
        </p:spPr>
        <p:txBody>
          <a:bodyPr/>
          <a:lstStyle>
            <a:lvl1pPr>
              <a:defRPr sz="4000">
                <a:solidFill>
                  <a:schemeClr val="tx1"/>
                </a:solidFill>
                <a:latin typeface="Georgia" panose="02040502050405020303" pitchFamily="18" charset="0"/>
                <a:cs typeface="Frank Ruhl Hofshi" panose="00000500000000000000" pitchFamily="50" charset="-79"/>
              </a:defRPr>
            </a:lvl1pPr>
          </a:lstStyle>
          <a:p>
            <a:r>
              <a:rPr lang="fr-FR" dirty="0"/>
              <a:t>Insérer un titre</a:t>
            </a:r>
          </a:p>
        </p:txBody>
      </p:sp>
      <p:sp>
        <p:nvSpPr>
          <p:cNvPr id="7" name="Espace réservé du texte 3"/>
          <p:cNvSpPr>
            <a:spLocks noGrp="1"/>
          </p:cNvSpPr>
          <p:nvPr>
            <p:ph type="body" sz="quarter" idx="10"/>
          </p:nvPr>
        </p:nvSpPr>
        <p:spPr>
          <a:xfrm>
            <a:off x="838200" y="2108200"/>
            <a:ext cx="4292600" cy="4229100"/>
          </a:xfrm>
          <a:prstGeom prst="rect">
            <a:avLst/>
          </a:prstGeom>
        </p:spPr>
        <p:txBody>
          <a:bodyPr/>
          <a:lstStyle>
            <a:lvl1pPr marL="0" indent="0">
              <a:buNone/>
              <a:defRPr>
                <a:solidFill>
                  <a:schemeClr val="tx1"/>
                </a:solidFill>
                <a:latin typeface="Bahnschrift SemiLight" panose="020B0502040204020203" pitchFamily="34" charset="0"/>
                <a:cs typeface="Thorndale AMT" panose="02020603050405020304" pitchFamily="18" charset="0"/>
              </a:defRPr>
            </a:lvl1pPr>
            <a:lvl2pPr marL="457200" indent="0">
              <a:buNone/>
              <a:defRPr>
                <a:solidFill>
                  <a:schemeClr val="tx1"/>
                </a:solidFill>
                <a:latin typeface="Bahnschrift SemiLight" panose="020B0502040204020203" pitchFamily="34" charset="0"/>
                <a:cs typeface="Thorndale AMT" panose="02020603050405020304" pitchFamily="18" charset="0"/>
              </a:defRPr>
            </a:lvl2pPr>
            <a:lvl3pPr marL="914400" indent="0">
              <a:buNone/>
              <a:defRPr>
                <a:solidFill>
                  <a:schemeClr val="tx1"/>
                </a:solidFill>
                <a:latin typeface="Bahnschrift SemiLight" panose="020B0502040204020203" pitchFamily="34" charset="0"/>
                <a:cs typeface="Thorndale AMT" panose="02020603050405020304" pitchFamily="18" charset="0"/>
              </a:defRPr>
            </a:lvl3pPr>
            <a:lvl4pPr marL="1371600" indent="0">
              <a:buNone/>
              <a:defRPr>
                <a:solidFill>
                  <a:schemeClr val="tx1"/>
                </a:solidFill>
                <a:latin typeface="Bahnschrift SemiLight" panose="020B0502040204020203" pitchFamily="34" charset="0"/>
                <a:cs typeface="Thorndale AMT" panose="02020603050405020304" pitchFamily="18" charset="0"/>
              </a:defRPr>
            </a:lvl4pPr>
            <a:lvl5pPr marL="1828800" indent="0">
              <a:buNone/>
              <a:defRPr>
                <a:solidFill>
                  <a:schemeClr val="tx1"/>
                </a:solidFill>
                <a:latin typeface="Bahnschrift SemiLight" panose="020B0502040204020203" pitchFamily="34" charset="0"/>
                <a:cs typeface="Thorndale AMT" panose="02020603050405020304" pitchFamily="18" charset="0"/>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8" name="Espace réservé du texte 5"/>
          <p:cNvSpPr>
            <a:spLocks noGrp="1"/>
          </p:cNvSpPr>
          <p:nvPr>
            <p:ph type="body" sz="quarter" idx="11"/>
          </p:nvPr>
        </p:nvSpPr>
        <p:spPr>
          <a:xfrm>
            <a:off x="6936258" y="2108199"/>
            <a:ext cx="4349579" cy="4229101"/>
          </a:xfrm>
          <a:prstGeom prst="rect">
            <a:avLst/>
          </a:prstGeom>
        </p:spPr>
        <p:txBody>
          <a:bodyPr/>
          <a:lstStyle>
            <a:lvl1pPr marL="0" indent="0">
              <a:buNone/>
              <a:defRPr>
                <a:latin typeface="Bahnschrift SemiLight" panose="020B0502040204020203" pitchFamily="34" charset="0"/>
                <a:cs typeface="Thorndale AMT" panose="02020603050405020304" pitchFamily="18" charset="0"/>
              </a:defRPr>
            </a:lvl1pPr>
            <a:lvl2pPr marL="457200" indent="0">
              <a:buNone/>
              <a:defRPr>
                <a:latin typeface="Bahnschrift SemiLight" panose="020B0502040204020203" pitchFamily="34" charset="0"/>
                <a:cs typeface="Thorndale AMT" panose="02020603050405020304" pitchFamily="18" charset="0"/>
              </a:defRPr>
            </a:lvl2pPr>
            <a:lvl3pPr marL="914400" indent="0">
              <a:buNone/>
              <a:defRPr>
                <a:latin typeface="Bahnschrift SemiLight" panose="020B0502040204020203" pitchFamily="34" charset="0"/>
                <a:cs typeface="Thorndale AMT" panose="02020603050405020304" pitchFamily="18" charset="0"/>
              </a:defRPr>
            </a:lvl3pPr>
            <a:lvl4pPr marL="1371600" indent="0">
              <a:buNone/>
              <a:defRPr>
                <a:latin typeface="Bahnschrift SemiLight" panose="020B0502040204020203" pitchFamily="34" charset="0"/>
                <a:cs typeface="Thorndale AMT" panose="02020603050405020304" pitchFamily="18" charset="0"/>
              </a:defRPr>
            </a:lvl4pPr>
            <a:lvl5pPr marL="1828800" indent="0">
              <a:buNone/>
              <a:defRPr>
                <a:latin typeface="Bahnschrift SemiLight" panose="020B0502040204020203" pitchFamily="34" charset="0"/>
                <a:cs typeface="Thorndale AMT" panose="02020603050405020304" pitchFamily="18" charset="0"/>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1164935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Disposition personnalisé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Espace réservé du texte 3"/>
          <p:cNvSpPr>
            <a:spLocks noGrp="1"/>
          </p:cNvSpPr>
          <p:nvPr>
            <p:ph type="body" sz="quarter" idx="10" hasCustomPrompt="1"/>
          </p:nvPr>
        </p:nvSpPr>
        <p:spPr>
          <a:xfrm>
            <a:off x="939800" y="742779"/>
            <a:ext cx="2618946" cy="787400"/>
          </a:xfrm>
          <a:prstGeom prst="rect">
            <a:avLst/>
          </a:prstGeom>
        </p:spPr>
        <p:txBody>
          <a:bodyPr/>
          <a:lstStyle>
            <a:lvl1pPr marL="0" indent="0" algn="l">
              <a:buNone/>
              <a:defRPr sz="4000">
                <a:solidFill>
                  <a:schemeClr val="bg1"/>
                </a:solidFill>
                <a:latin typeface="Georgia" panose="02040502050405020303" pitchFamily="18" charset="0"/>
                <a:cs typeface="Frank Ruhl Hofshi" panose="00000500000000000000" pitchFamily="50" charset="-79"/>
              </a:defRPr>
            </a:lvl1pPr>
          </a:lstStyle>
          <a:p>
            <a:pPr lvl="0"/>
            <a:r>
              <a:rPr lang="fr-FR" dirty="0"/>
              <a:t>Titre</a:t>
            </a:r>
          </a:p>
        </p:txBody>
      </p:sp>
      <p:sp>
        <p:nvSpPr>
          <p:cNvPr id="6" name="Espace réservé du texte 5"/>
          <p:cNvSpPr>
            <a:spLocks noGrp="1"/>
          </p:cNvSpPr>
          <p:nvPr>
            <p:ph type="body" sz="quarter" idx="11"/>
          </p:nvPr>
        </p:nvSpPr>
        <p:spPr>
          <a:xfrm>
            <a:off x="939800" y="1879600"/>
            <a:ext cx="10375900" cy="4203700"/>
          </a:xfrm>
          <a:prstGeom prst="rect">
            <a:avLst/>
          </a:prstGeom>
        </p:spPr>
        <p:txBody>
          <a:bodyPr/>
          <a:lstStyle>
            <a:lvl1pPr marL="0" indent="0">
              <a:buNone/>
              <a:defRPr>
                <a:solidFill>
                  <a:schemeClr val="tx1"/>
                </a:solidFill>
                <a:latin typeface="Bahnschrift SemiLight" panose="020B0502040204020203" pitchFamily="34" charset="0"/>
                <a:cs typeface="Thorndale AMT" panose="02020603050405020304" pitchFamily="18" charset="0"/>
              </a:defRPr>
            </a:lvl1pPr>
            <a:lvl2pPr marL="457200" indent="0">
              <a:buNone/>
              <a:defRPr>
                <a:solidFill>
                  <a:schemeClr val="tx1"/>
                </a:solidFill>
                <a:latin typeface="Bahnschrift Light SemiCondensed" panose="020B0502040204020203" pitchFamily="34" charset="0"/>
                <a:cs typeface="Thorndale AMT" panose="02020603050405020304" pitchFamily="18" charset="0"/>
              </a:defRPr>
            </a:lvl2pPr>
            <a:lvl3pPr marL="914400" indent="0">
              <a:buNone/>
              <a:defRPr>
                <a:solidFill>
                  <a:schemeClr val="tx1"/>
                </a:solidFill>
                <a:latin typeface="Bahnschrift Light SemiCondensed" panose="020B0502040204020203" pitchFamily="34" charset="0"/>
                <a:cs typeface="Thorndale AMT" panose="02020603050405020304" pitchFamily="18" charset="0"/>
              </a:defRPr>
            </a:lvl3pPr>
            <a:lvl4pPr marL="1371600" indent="0">
              <a:buNone/>
              <a:defRPr>
                <a:solidFill>
                  <a:schemeClr val="tx1"/>
                </a:solidFill>
                <a:latin typeface="Bahnschrift Light SemiCondensed" panose="020B0502040204020203" pitchFamily="34" charset="0"/>
                <a:cs typeface="Thorndale AMT" panose="02020603050405020304" pitchFamily="18" charset="0"/>
              </a:defRPr>
            </a:lvl4pPr>
            <a:lvl5pPr marL="1828800" indent="0">
              <a:buNone/>
              <a:defRPr>
                <a:solidFill>
                  <a:schemeClr val="tx1"/>
                </a:solidFill>
                <a:latin typeface="Bahnschrift Light SemiCondensed" panose="020B0502040204020203" pitchFamily="34" charset="0"/>
                <a:cs typeface="Thorndale AMT" panose="02020603050405020304" pitchFamily="18" charset="0"/>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419908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Disposition personnalisé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8200" y="554595"/>
            <a:ext cx="7505700" cy="777875"/>
          </a:xfrm>
          <a:prstGeom prst="rect">
            <a:avLst/>
          </a:prstGeom>
        </p:spPr>
        <p:txBody>
          <a:bodyPr/>
          <a:lstStyle>
            <a:lvl1pPr>
              <a:defRPr sz="4000">
                <a:solidFill>
                  <a:schemeClr val="bg1"/>
                </a:solidFill>
                <a:latin typeface="Georgia" panose="02040502050405020303" pitchFamily="18" charset="0"/>
                <a:cs typeface="Frank Ruhl Hofshi" panose="00000500000000000000" pitchFamily="50" charset="-79"/>
              </a:defRPr>
            </a:lvl1pPr>
          </a:lstStyle>
          <a:p>
            <a:r>
              <a:rPr lang="fr-FR"/>
              <a:t>Modifiez le style du titre</a:t>
            </a:r>
            <a:endParaRPr lang="fr-FR" dirty="0"/>
          </a:p>
        </p:txBody>
      </p:sp>
      <p:sp>
        <p:nvSpPr>
          <p:cNvPr id="4" name="Espace réservé du texte 3"/>
          <p:cNvSpPr>
            <a:spLocks noGrp="1"/>
          </p:cNvSpPr>
          <p:nvPr>
            <p:ph type="body" sz="quarter" idx="10"/>
          </p:nvPr>
        </p:nvSpPr>
        <p:spPr>
          <a:xfrm>
            <a:off x="838200" y="2105025"/>
            <a:ext cx="10420350" cy="4086225"/>
          </a:xfrm>
          <a:prstGeom prst="rect">
            <a:avLst/>
          </a:prstGeom>
        </p:spPr>
        <p:txBody>
          <a:bodyPr/>
          <a:lstStyle>
            <a:lvl1pPr marL="0" indent="0">
              <a:buNone/>
              <a:defRPr>
                <a:latin typeface="Bahnschrift SemiLight" panose="020B0502040204020203" pitchFamily="34" charset="0"/>
              </a:defRPr>
            </a:lvl1pPr>
            <a:lvl2pPr marL="457200" indent="0">
              <a:buNone/>
              <a:defRPr>
                <a:latin typeface="Bahnschrift SemiLight" panose="020B0502040204020203" pitchFamily="34" charset="0"/>
              </a:defRPr>
            </a:lvl2pPr>
            <a:lvl3pPr marL="914400" indent="0">
              <a:buNone/>
              <a:defRPr>
                <a:latin typeface="Bahnschrift SemiLight" panose="020B0502040204020203" pitchFamily="34" charset="0"/>
              </a:defRPr>
            </a:lvl3pPr>
            <a:lvl4pPr marL="1371600" indent="0">
              <a:buNone/>
              <a:defRPr>
                <a:latin typeface="Bahnschrift SemiLight" panose="020B0502040204020203" pitchFamily="34" charset="0"/>
              </a:defRPr>
            </a:lvl4pPr>
            <a:lvl5pPr marL="1828800" indent="0">
              <a:buNone/>
              <a:defRPr>
                <a:latin typeface="Bahnschrift SemiLight" panose="020B0502040204020203" pitchFamily="34" charset="0"/>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2719648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Disposition personnalisé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914400" y="685800"/>
            <a:ext cx="6450226" cy="787400"/>
          </a:xfrm>
          <a:prstGeom prst="rect">
            <a:avLst/>
          </a:prstGeom>
        </p:spPr>
        <p:txBody>
          <a:bodyPr/>
          <a:lstStyle>
            <a:lvl1pPr>
              <a:defRPr sz="4000" b="0">
                <a:solidFill>
                  <a:schemeClr val="bg1"/>
                </a:solidFill>
                <a:latin typeface="Georgia" panose="02040502050405020303" pitchFamily="18" charset="0"/>
                <a:cs typeface="Frank Ruhl Hofshi" panose="00000500000000000000" pitchFamily="50" charset="-79"/>
              </a:defRPr>
            </a:lvl1pPr>
          </a:lstStyle>
          <a:p>
            <a:r>
              <a:rPr lang="fr-FR" dirty="0"/>
              <a:t>Titre</a:t>
            </a:r>
          </a:p>
        </p:txBody>
      </p:sp>
      <p:sp>
        <p:nvSpPr>
          <p:cNvPr id="4" name="Espace réservé du texte 3"/>
          <p:cNvSpPr>
            <a:spLocks noGrp="1"/>
          </p:cNvSpPr>
          <p:nvPr>
            <p:ph type="body" sz="quarter" idx="10"/>
          </p:nvPr>
        </p:nvSpPr>
        <p:spPr>
          <a:xfrm>
            <a:off x="914400" y="1922162"/>
            <a:ext cx="10445578" cy="1384300"/>
          </a:xfrm>
          <a:prstGeom prst="rect">
            <a:avLst/>
          </a:prstGeom>
        </p:spPr>
        <p:txBody>
          <a:bodyPr/>
          <a:lstStyle>
            <a:lvl1pPr marL="0" indent="0">
              <a:buNone/>
              <a:defRPr>
                <a:latin typeface="Bahnschrift SemiLight" panose="020B0502040204020203" pitchFamily="34" charset="0"/>
                <a:cs typeface="Thorndale AMT" panose="02020603050405020304" pitchFamily="18" charset="0"/>
              </a:defRPr>
            </a:lvl1pPr>
            <a:lvl2pPr marL="457200" indent="0">
              <a:buNone/>
              <a:defRPr>
                <a:latin typeface="Bahnschrift SemiLight" panose="020B0502040204020203" pitchFamily="34" charset="0"/>
                <a:cs typeface="Thorndale AMT" panose="02020603050405020304" pitchFamily="18" charset="0"/>
              </a:defRPr>
            </a:lvl2pPr>
          </a:lstStyle>
          <a:p>
            <a:pPr lvl="0"/>
            <a:r>
              <a:rPr lang="fr-FR"/>
              <a:t>Modifier les styles du texte du masque</a:t>
            </a:r>
          </a:p>
          <a:p>
            <a:pPr lvl="1"/>
            <a:r>
              <a:rPr lang="fr-FR"/>
              <a:t>Deuxième niveau</a:t>
            </a:r>
          </a:p>
        </p:txBody>
      </p:sp>
      <p:sp>
        <p:nvSpPr>
          <p:cNvPr id="6" name="Espace réservé du texte 5"/>
          <p:cNvSpPr>
            <a:spLocks noGrp="1"/>
          </p:cNvSpPr>
          <p:nvPr>
            <p:ph type="body" sz="quarter" idx="11"/>
          </p:nvPr>
        </p:nvSpPr>
        <p:spPr>
          <a:xfrm>
            <a:off x="914400" y="3736202"/>
            <a:ext cx="10445578" cy="2057400"/>
          </a:xfrm>
          <a:prstGeom prst="rect">
            <a:avLst/>
          </a:prstGeom>
        </p:spPr>
        <p:txBody>
          <a:bodyPr/>
          <a:lstStyle>
            <a:lvl1pPr marL="0" indent="0">
              <a:buNone/>
              <a:defRPr>
                <a:latin typeface="Bahnschrift SemiLight" panose="020B0502040204020203" pitchFamily="34" charset="0"/>
                <a:cs typeface="Thorndale AMT" panose="02020603050405020304" pitchFamily="18" charset="0"/>
              </a:defRPr>
            </a:lvl1pPr>
            <a:lvl2pPr marL="457200" indent="0">
              <a:buNone/>
              <a:defRPr>
                <a:latin typeface="Bahnschrift SemiLight" panose="020B0502040204020203" pitchFamily="34" charset="0"/>
                <a:cs typeface="Thorndale AMT" panose="02020603050405020304" pitchFamily="18" charset="0"/>
              </a:defRPr>
            </a:lvl2pPr>
            <a:lvl3pPr marL="914400" indent="0">
              <a:buNone/>
              <a:defRPr>
                <a:latin typeface="Bahnschrift SemiLight" panose="020B0502040204020203" pitchFamily="34" charset="0"/>
                <a:cs typeface="Thorndale AMT" panose="02020603050405020304" pitchFamily="18" charset="0"/>
              </a:defRPr>
            </a:lvl3pPr>
            <a:lvl4pPr marL="1371600" indent="0">
              <a:buNone/>
              <a:defRPr>
                <a:latin typeface="Bahnschrift SemiLight" panose="020B0502040204020203" pitchFamily="34" charset="0"/>
                <a:cs typeface="Thorndale AMT" panose="02020603050405020304" pitchFamily="18" charset="0"/>
              </a:defRPr>
            </a:lvl4pPr>
            <a:lvl5pPr marL="1828800" indent="0">
              <a:buNone/>
              <a:defRPr>
                <a:latin typeface="Bahnschrift SemiLight" panose="020B0502040204020203" pitchFamily="34" charset="0"/>
                <a:cs typeface="Thorndale AMT" panose="02020603050405020304" pitchFamily="18" charset="0"/>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36295303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Disposition personnalisé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1325563"/>
          </a:xfrm>
          <a:prstGeom prst="rect">
            <a:avLst/>
          </a:prstGeom>
        </p:spPr>
        <p:txBody>
          <a:bodyPr/>
          <a:lstStyle>
            <a:lvl1pPr>
              <a:defRPr sz="4000">
                <a:latin typeface="Georgia" panose="02040502050405020303" pitchFamily="18" charset="0"/>
                <a:cs typeface="Frank Ruhl Hofshi" panose="00000500000000000000" pitchFamily="50" charset="-79"/>
              </a:defRPr>
            </a:lvl1pPr>
          </a:lstStyle>
          <a:p>
            <a:r>
              <a:rPr lang="fr-FR"/>
              <a:t>Modifiez le style du titre</a:t>
            </a:r>
            <a:endParaRPr lang="fr-FR" dirty="0"/>
          </a:p>
        </p:txBody>
      </p:sp>
      <p:sp>
        <p:nvSpPr>
          <p:cNvPr id="4" name="Espace réservé du texte 3"/>
          <p:cNvSpPr>
            <a:spLocks noGrp="1"/>
          </p:cNvSpPr>
          <p:nvPr>
            <p:ph type="body" sz="quarter" idx="10" hasCustomPrompt="1"/>
          </p:nvPr>
        </p:nvSpPr>
        <p:spPr>
          <a:xfrm>
            <a:off x="838200" y="1930400"/>
            <a:ext cx="10515600" cy="2273300"/>
          </a:xfrm>
          <a:prstGeom prst="rect">
            <a:avLst/>
          </a:prstGeom>
        </p:spPr>
        <p:txBody>
          <a:bodyPr/>
          <a:lstStyle>
            <a:lvl1pPr marL="0" indent="0">
              <a:buNone/>
              <a:defRPr baseline="0">
                <a:latin typeface="Bahnschrift SemiLight" panose="020B0502040204020203" pitchFamily="34" charset="0"/>
                <a:cs typeface="Thorndale AMT" panose="02020603050405020304" pitchFamily="18" charset="0"/>
              </a:defRPr>
            </a:lvl1pPr>
          </a:lstStyle>
          <a:p>
            <a:pPr lvl="0"/>
            <a:r>
              <a:rPr lang="fr-FR" dirty="0"/>
              <a:t>Ajoutez du texte ici</a:t>
            </a:r>
          </a:p>
        </p:txBody>
      </p:sp>
    </p:spTree>
    <p:extLst>
      <p:ext uri="{BB962C8B-B14F-4D97-AF65-F5344CB8AC3E}">
        <p14:creationId xmlns:p14="http://schemas.microsoft.com/office/powerpoint/2010/main" val="1249902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Disposition personnalisée">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828675" y="603251"/>
            <a:ext cx="10515600" cy="730250"/>
          </a:xfrm>
          <a:prstGeom prst="rect">
            <a:avLst/>
          </a:prstGeom>
        </p:spPr>
        <p:txBody>
          <a:bodyPr/>
          <a:lstStyle>
            <a:lvl1pPr>
              <a:defRPr sz="4000" baseline="0">
                <a:solidFill>
                  <a:schemeClr val="accent1">
                    <a:lumMod val="75000"/>
                  </a:schemeClr>
                </a:solidFill>
                <a:latin typeface="Georgia" panose="02040502050405020303" pitchFamily="18" charset="0"/>
                <a:cs typeface="Frank Ruhl Hofshi" panose="00000500000000000000" pitchFamily="50" charset="-79"/>
              </a:defRPr>
            </a:lvl1pPr>
          </a:lstStyle>
          <a:p>
            <a:r>
              <a:rPr lang="fr-FR" dirty="0"/>
              <a:t>Contacts</a:t>
            </a:r>
          </a:p>
        </p:txBody>
      </p:sp>
      <p:sp>
        <p:nvSpPr>
          <p:cNvPr id="4" name="Espace réservé pour une image  3"/>
          <p:cNvSpPr>
            <a:spLocks noGrp="1"/>
          </p:cNvSpPr>
          <p:nvPr>
            <p:ph type="pic" sz="quarter" idx="10"/>
          </p:nvPr>
        </p:nvSpPr>
        <p:spPr>
          <a:xfrm>
            <a:off x="1870710" y="2362200"/>
            <a:ext cx="1104900" cy="1117600"/>
          </a:xfrm>
          <a:prstGeom prst="ellipse">
            <a:avLst/>
          </a:prstGeom>
        </p:spPr>
        <p:txBody>
          <a:bodyPr/>
          <a:lstStyle>
            <a:lvl1pPr marL="0" indent="0">
              <a:buNone/>
              <a:defRPr sz="1200"/>
            </a:lvl1pPr>
          </a:lstStyle>
          <a:p>
            <a:r>
              <a:rPr lang="fr-FR"/>
              <a:t>Cliquez sur l'icône pour ajouter une image</a:t>
            </a:r>
            <a:endParaRPr lang="fr-FR" dirty="0"/>
          </a:p>
        </p:txBody>
      </p:sp>
      <p:sp>
        <p:nvSpPr>
          <p:cNvPr id="6" name="Espace réservé du texte 5"/>
          <p:cNvSpPr>
            <a:spLocks noGrp="1"/>
          </p:cNvSpPr>
          <p:nvPr>
            <p:ph type="body" sz="quarter" idx="11" hasCustomPrompt="1"/>
          </p:nvPr>
        </p:nvSpPr>
        <p:spPr>
          <a:xfrm>
            <a:off x="1235710" y="3644900"/>
            <a:ext cx="1587500" cy="355600"/>
          </a:xfrm>
          <a:prstGeom prst="rect">
            <a:avLst/>
          </a:prstGeom>
        </p:spPr>
        <p:txBody>
          <a:bodyPr/>
          <a:lstStyle>
            <a:lvl1pPr marL="0" indent="0">
              <a:buNone/>
              <a:defRPr sz="1400" b="1">
                <a:latin typeface="Arial" panose="020B0604020202020204" pitchFamily="34" charset="0"/>
                <a:cs typeface="Arial" panose="020B0604020202020204" pitchFamily="34" charset="0"/>
              </a:defRPr>
            </a:lvl1pPr>
          </a:lstStyle>
          <a:p>
            <a:pPr lvl="0"/>
            <a:r>
              <a:rPr lang="fr-FR" dirty="0"/>
              <a:t>Prénom NOM</a:t>
            </a:r>
          </a:p>
        </p:txBody>
      </p:sp>
      <p:sp>
        <p:nvSpPr>
          <p:cNvPr id="8" name="Espace réservé du texte 7"/>
          <p:cNvSpPr>
            <a:spLocks noGrp="1"/>
          </p:cNvSpPr>
          <p:nvPr>
            <p:ph type="body" sz="quarter" idx="12" hasCustomPrompt="1"/>
          </p:nvPr>
        </p:nvSpPr>
        <p:spPr>
          <a:xfrm>
            <a:off x="1235710" y="4005262"/>
            <a:ext cx="1823720" cy="320675"/>
          </a:xfrm>
          <a:prstGeom prst="rect">
            <a:avLst/>
          </a:prstGeom>
        </p:spPr>
        <p:txBody>
          <a:bodyPr/>
          <a:lstStyle>
            <a:lvl1pPr marL="0" indent="0" algn="l">
              <a:buNone/>
              <a:defRPr sz="1200">
                <a:solidFill>
                  <a:schemeClr val="bg2">
                    <a:lumMod val="50000"/>
                  </a:schemeClr>
                </a:solidFill>
                <a:latin typeface="Arial" panose="020B0604020202020204" pitchFamily="34" charset="0"/>
                <a:cs typeface="Arial" panose="020B0604020202020204" pitchFamily="34" charset="0"/>
              </a:defRPr>
            </a:lvl1pPr>
          </a:lstStyle>
          <a:p>
            <a:pPr lvl="0"/>
            <a:r>
              <a:rPr lang="fr-FR" dirty="0"/>
              <a:t>Titre du poste / Rôle</a:t>
            </a:r>
          </a:p>
        </p:txBody>
      </p:sp>
      <p:sp>
        <p:nvSpPr>
          <p:cNvPr id="10" name="Espace réservé du contenu 9"/>
          <p:cNvSpPr>
            <a:spLocks noGrp="1"/>
          </p:cNvSpPr>
          <p:nvPr>
            <p:ph sz="quarter" idx="13" hasCustomPrompt="1"/>
          </p:nvPr>
        </p:nvSpPr>
        <p:spPr>
          <a:xfrm>
            <a:off x="1235710" y="4930774"/>
            <a:ext cx="1889125" cy="243205"/>
          </a:xfrm>
          <a:prstGeom prst="rect">
            <a:avLst/>
          </a:prstGeom>
        </p:spPr>
        <p:txBody>
          <a:bodyPr/>
          <a:lstStyle>
            <a:lvl1pPr marL="0" indent="0">
              <a:buNone/>
              <a:defRPr sz="1050">
                <a:latin typeface="Arial" panose="020B0604020202020204" pitchFamily="34" charset="0"/>
                <a:cs typeface="Arial" panose="020B0604020202020204" pitchFamily="34" charset="0"/>
              </a:defRPr>
            </a:lvl1pPr>
          </a:lstStyle>
          <a:p>
            <a:pPr lvl="0"/>
            <a:r>
              <a:rPr lang="fr-FR" dirty="0"/>
              <a:t>Adresse.mail@ensai.fr</a:t>
            </a:r>
          </a:p>
        </p:txBody>
      </p:sp>
      <p:sp>
        <p:nvSpPr>
          <p:cNvPr id="11" name="Espace réservé pour une image  3"/>
          <p:cNvSpPr>
            <a:spLocks noGrp="1"/>
          </p:cNvSpPr>
          <p:nvPr>
            <p:ph type="pic" sz="quarter" idx="14"/>
          </p:nvPr>
        </p:nvSpPr>
        <p:spPr>
          <a:xfrm>
            <a:off x="5560695" y="2362200"/>
            <a:ext cx="1104900" cy="1117600"/>
          </a:xfrm>
          <a:prstGeom prst="ellipse">
            <a:avLst/>
          </a:prstGeom>
        </p:spPr>
        <p:txBody>
          <a:bodyPr/>
          <a:lstStyle>
            <a:lvl1pPr marL="0" indent="0">
              <a:buNone/>
              <a:defRPr sz="1200"/>
            </a:lvl1pPr>
          </a:lstStyle>
          <a:p>
            <a:r>
              <a:rPr lang="fr-FR"/>
              <a:t>Cliquez sur l'icône pour ajouter une image</a:t>
            </a:r>
            <a:endParaRPr lang="fr-FR" dirty="0"/>
          </a:p>
        </p:txBody>
      </p:sp>
      <p:sp>
        <p:nvSpPr>
          <p:cNvPr id="12" name="Espace réservé du texte 5"/>
          <p:cNvSpPr>
            <a:spLocks noGrp="1"/>
          </p:cNvSpPr>
          <p:nvPr>
            <p:ph type="body" sz="quarter" idx="15" hasCustomPrompt="1"/>
          </p:nvPr>
        </p:nvSpPr>
        <p:spPr>
          <a:xfrm>
            <a:off x="4925695" y="3644900"/>
            <a:ext cx="1587500" cy="355600"/>
          </a:xfrm>
          <a:prstGeom prst="rect">
            <a:avLst/>
          </a:prstGeom>
        </p:spPr>
        <p:txBody>
          <a:bodyPr/>
          <a:lstStyle>
            <a:lvl1pPr marL="0" indent="0">
              <a:buNone/>
              <a:defRPr sz="1400" b="1">
                <a:latin typeface="Arial" panose="020B0604020202020204" pitchFamily="34" charset="0"/>
                <a:cs typeface="Arial" panose="020B0604020202020204" pitchFamily="34" charset="0"/>
              </a:defRPr>
            </a:lvl1pPr>
          </a:lstStyle>
          <a:p>
            <a:pPr lvl="0"/>
            <a:r>
              <a:rPr lang="fr-FR" dirty="0"/>
              <a:t>Prénom NOM</a:t>
            </a:r>
          </a:p>
        </p:txBody>
      </p:sp>
      <p:sp>
        <p:nvSpPr>
          <p:cNvPr id="13" name="Espace réservé du texte 7"/>
          <p:cNvSpPr>
            <a:spLocks noGrp="1"/>
          </p:cNvSpPr>
          <p:nvPr>
            <p:ph type="body" sz="quarter" idx="16" hasCustomPrompt="1"/>
          </p:nvPr>
        </p:nvSpPr>
        <p:spPr>
          <a:xfrm>
            <a:off x="4925695" y="4005262"/>
            <a:ext cx="1823720" cy="320675"/>
          </a:xfrm>
          <a:prstGeom prst="rect">
            <a:avLst/>
          </a:prstGeom>
        </p:spPr>
        <p:txBody>
          <a:bodyPr/>
          <a:lstStyle>
            <a:lvl1pPr marL="0" indent="0" algn="l">
              <a:buNone/>
              <a:defRPr sz="1200">
                <a:solidFill>
                  <a:schemeClr val="bg2">
                    <a:lumMod val="50000"/>
                  </a:schemeClr>
                </a:solidFill>
                <a:latin typeface="Arial" panose="020B0604020202020204" pitchFamily="34" charset="0"/>
                <a:cs typeface="Arial" panose="020B0604020202020204" pitchFamily="34" charset="0"/>
              </a:defRPr>
            </a:lvl1pPr>
          </a:lstStyle>
          <a:p>
            <a:pPr lvl="0"/>
            <a:r>
              <a:rPr lang="fr-FR" dirty="0"/>
              <a:t>Titre du poste / Rôle</a:t>
            </a:r>
          </a:p>
        </p:txBody>
      </p:sp>
      <p:sp>
        <p:nvSpPr>
          <p:cNvPr id="14" name="Espace réservé du contenu 9"/>
          <p:cNvSpPr>
            <a:spLocks noGrp="1"/>
          </p:cNvSpPr>
          <p:nvPr>
            <p:ph sz="quarter" idx="17" hasCustomPrompt="1"/>
          </p:nvPr>
        </p:nvSpPr>
        <p:spPr>
          <a:xfrm>
            <a:off x="4925695" y="4930774"/>
            <a:ext cx="1889125" cy="243205"/>
          </a:xfrm>
          <a:prstGeom prst="rect">
            <a:avLst/>
          </a:prstGeom>
        </p:spPr>
        <p:txBody>
          <a:bodyPr/>
          <a:lstStyle>
            <a:lvl1pPr marL="0" indent="0">
              <a:buNone/>
              <a:defRPr sz="1050">
                <a:latin typeface="Arial" panose="020B0604020202020204" pitchFamily="34" charset="0"/>
                <a:cs typeface="Arial" panose="020B0604020202020204" pitchFamily="34" charset="0"/>
              </a:defRPr>
            </a:lvl1pPr>
          </a:lstStyle>
          <a:p>
            <a:pPr lvl="0"/>
            <a:r>
              <a:rPr lang="fr-FR" dirty="0"/>
              <a:t>Adresse.mail@ensai.fr</a:t>
            </a:r>
          </a:p>
        </p:txBody>
      </p:sp>
      <p:sp>
        <p:nvSpPr>
          <p:cNvPr id="19" name="Espace réservé pour une image  3"/>
          <p:cNvSpPr>
            <a:spLocks noGrp="1"/>
          </p:cNvSpPr>
          <p:nvPr>
            <p:ph type="pic" sz="quarter" idx="18"/>
          </p:nvPr>
        </p:nvSpPr>
        <p:spPr>
          <a:xfrm>
            <a:off x="9250680" y="2362200"/>
            <a:ext cx="1104900" cy="1117600"/>
          </a:xfrm>
          <a:prstGeom prst="ellipse">
            <a:avLst/>
          </a:prstGeom>
        </p:spPr>
        <p:txBody>
          <a:bodyPr/>
          <a:lstStyle>
            <a:lvl1pPr marL="0" indent="0">
              <a:buNone/>
              <a:defRPr sz="1200"/>
            </a:lvl1pPr>
          </a:lstStyle>
          <a:p>
            <a:r>
              <a:rPr lang="fr-FR"/>
              <a:t>Cliquez sur l'icône pour ajouter une image</a:t>
            </a:r>
            <a:endParaRPr lang="fr-FR" dirty="0"/>
          </a:p>
        </p:txBody>
      </p:sp>
      <p:sp>
        <p:nvSpPr>
          <p:cNvPr id="20" name="Espace réservé du texte 5"/>
          <p:cNvSpPr>
            <a:spLocks noGrp="1"/>
          </p:cNvSpPr>
          <p:nvPr>
            <p:ph type="body" sz="quarter" idx="19" hasCustomPrompt="1"/>
          </p:nvPr>
        </p:nvSpPr>
        <p:spPr>
          <a:xfrm>
            <a:off x="8615680" y="3644900"/>
            <a:ext cx="1587500" cy="355600"/>
          </a:xfrm>
          <a:prstGeom prst="rect">
            <a:avLst/>
          </a:prstGeom>
        </p:spPr>
        <p:txBody>
          <a:bodyPr/>
          <a:lstStyle>
            <a:lvl1pPr marL="0" indent="0">
              <a:buNone/>
              <a:defRPr sz="1400" b="1">
                <a:latin typeface="Arial" panose="020B0604020202020204" pitchFamily="34" charset="0"/>
                <a:cs typeface="Arial" panose="020B0604020202020204" pitchFamily="34" charset="0"/>
              </a:defRPr>
            </a:lvl1pPr>
          </a:lstStyle>
          <a:p>
            <a:pPr lvl="0"/>
            <a:r>
              <a:rPr lang="fr-FR" dirty="0"/>
              <a:t>Prénom NOM</a:t>
            </a:r>
          </a:p>
        </p:txBody>
      </p:sp>
      <p:sp>
        <p:nvSpPr>
          <p:cNvPr id="21" name="Espace réservé du texte 7"/>
          <p:cNvSpPr>
            <a:spLocks noGrp="1"/>
          </p:cNvSpPr>
          <p:nvPr>
            <p:ph type="body" sz="quarter" idx="20" hasCustomPrompt="1"/>
          </p:nvPr>
        </p:nvSpPr>
        <p:spPr>
          <a:xfrm>
            <a:off x="8615680" y="4005262"/>
            <a:ext cx="1823720" cy="320675"/>
          </a:xfrm>
          <a:prstGeom prst="rect">
            <a:avLst/>
          </a:prstGeom>
        </p:spPr>
        <p:txBody>
          <a:bodyPr/>
          <a:lstStyle>
            <a:lvl1pPr marL="0" indent="0" algn="l">
              <a:buNone/>
              <a:defRPr sz="1200">
                <a:solidFill>
                  <a:schemeClr val="bg2">
                    <a:lumMod val="50000"/>
                  </a:schemeClr>
                </a:solidFill>
                <a:latin typeface="Arial" panose="020B0604020202020204" pitchFamily="34" charset="0"/>
                <a:cs typeface="Arial" panose="020B0604020202020204" pitchFamily="34" charset="0"/>
              </a:defRPr>
            </a:lvl1pPr>
          </a:lstStyle>
          <a:p>
            <a:pPr lvl="0"/>
            <a:r>
              <a:rPr lang="fr-FR" dirty="0"/>
              <a:t>Titre du poste / Rôle</a:t>
            </a:r>
          </a:p>
        </p:txBody>
      </p:sp>
      <p:sp>
        <p:nvSpPr>
          <p:cNvPr id="22" name="Espace réservé du contenu 9"/>
          <p:cNvSpPr>
            <a:spLocks noGrp="1"/>
          </p:cNvSpPr>
          <p:nvPr>
            <p:ph sz="quarter" idx="21" hasCustomPrompt="1"/>
          </p:nvPr>
        </p:nvSpPr>
        <p:spPr>
          <a:xfrm>
            <a:off x="8615680" y="4930774"/>
            <a:ext cx="1889125" cy="243205"/>
          </a:xfrm>
          <a:prstGeom prst="rect">
            <a:avLst/>
          </a:prstGeom>
        </p:spPr>
        <p:txBody>
          <a:bodyPr/>
          <a:lstStyle>
            <a:lvl1pPr marL="0" indent="0">
              <a:buNone/>
              <a:defRPr sz="1050">
                <a:latin typeface="Arial" panose="020B0604020202020204" pitchFamily="34" charset="0"/>
                <a:cs typeface="Arial" panose="020B0604020202020204" pitchFamily="34" charset="0"/>
              </a:defRPr>
            </a:lvl1pPr>
          </a:lstStyle>
          <a:p>
            <a:pPr lvl="0"/>
            <a:r>
              <a:rPr lang="fr-FR" dirty="0"/>
              <a:t>Adresse.mail@ensai.fr</a:t>
            </a:r>
          </a:p>
        </p:txBody>
      </p:sp>
    </p:spTree>
    <p:extLst>
      <p:ext uri="{BB962C8B-B14F-4D97-AF65-F5344CB8AC3E}">
        <p14:creationId xmlns:p14="http://schemas.microsoft.com/office/powerpoint/2010/main" val="3303740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Disposition personnalisé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Espace réservé pour une image  3"/>
          <p:cNvSpPr>
            <a:spLocks noGrp="1"/>
          </p:cNvSpPr>
          <p:nvPr>
            <p:ph type="pic" sz="quarter" idx="10"/>
          </p:nvPr>
        </p:nvSpPr>
        <p:spPr>
          <a:xfrm>
            <a:off x="3902710" y="2349500"/>
            <a:ext cx="1104900" cy="1117600"/>
          </a:xfrm>
          <a:prstGeom prst="ellipse">
            <a:avLst/>
          </a:prstGeom>
        </p:spPr>
        <p:txBody>
          <a:bodyPr/>
          <a:lstStyle>
            <a:lvl1pPr marL="0" indent="0">
              <a:buNone/>
              <a:defRPr sz="1200"/>
            </a:lvl1pPr>
          </a:lstStyle>
          <a:p>
            <a:r>
              <a:rPr lang="fr-FR"/>
              <a:t>Cliquez sur l'icône pour ajouter une image</a:t>
            </a:r>
            <a:endParaRPr lang="fr-FR" dirty="0"/>
          </a:p>
        </p:txBody>
      </p:sp>
      <p:sp>
        <p:nvSpPr>
          <p:cNvPr id="4" name="Espace réservé du texte 5"/>
          <p:cNvSpPr>
            <a:spLocks noGrp="1"/>
          </p:cNvSpPr>
          <p:nvPr>
            <p:ph type="body" sz="quarter" idx="11" hasCustomPrompt="1"/>
          </p:nvPr>
        </p:nvSpPr>
        <p:spPr>
          <a:xfrm>
            <a:off x="3267710" y="3632200"/>
            <a:ext cx="1587500" cy="355600"/>
          </a:xfrm>
          <a:prstGeom prst="rect">
            <a:avLst/>
          </a:prstGeom>
        </p:spPr>
        <p:txBody>
          <a:bodyPr/>
          <a:lstStyle>
            <a:lvl1pPr marL="0" indent="0">
              <a:buNone/>
              <a:defRPr sz="1400" b="1">
                <a:latin typeface="Arial" panose="020B0604020202020204" pitchFamily="34" charset="0"/>
                <a:cs typeface="Arial" panose="020B0604020202020204" pitchFamily="34" charset="0"/>
              </a:defRPr>
            </a:lvl1pPr>
          </a:lstStyle>
          <a:p>
            <a:pPr lvl="0"/>
            <a:r>
              <a:rPr lang="fr-FR" dirty="0"/>
              <a:t>Prénom NOM</a:t>
            </a:r>
          </a:p>
        </p:txBody>
      </p:sp>
      <p:sp>
        <p:nvSpPr>
          <p:cNvPr id="5" name="Espace réservé du texte 7"/>
          <p:cNvSpPr>
            <a:spLocks noGrp="1"/>
          </p:cNvSpPr>
          <p:nvPr>
            <p:ph type="body" sz="quarter" idx="12" hasCustomPrompt="1"/>
          </p:nvPr>
        </p:nvSpPr>
        <p:spPr>
          <a:xfrm>
            <a:off x="3267710" y="3992562"/>
            <a:ext cx="1823720" cy="320675"/>
          </a:xfrm>
          <a:prstGeom prst="rect">
            <a:avLst/>
          </a:prstGeom>
        </p:spPr>
        <p:txBody>
          <a:bodyPr/>
          <a:lstStyle>
            <a:lvl1pPr marL="0" indent="0" algn="l">
              <a:buNone/>
              <a:defRPr sz="1200">
                <a:solidFill>
                  <a:schemeClr val="bg2">
                    <a:lumMod val="50000"/>
                  </a:schemeClr>
                </a:solidFill>
                <a:latin typeface="Arial" panose="020B0604020202020204" pitchFamily="34" charset="0"/>
                <a:cs typeface="Arial" panose="020B0604020202020204" pitchFamily="34" charset="0"/>
              </a:defRPr>
            </a:lvl1pPr>
          </a:lstStyle>
          <a:p>
            <a:pPr lvl="0"/>
            <a:r>
              <a:rPr lang="fr-FR" dirty="0"/>
              <a:t>Titre du poste / Rôle</a:t>
            </a:r>
          </a:p>
        </p:txBody>
      </p:sp>
      <p:sp>
        <p:nvSpPr>
          <p:cNvPr id="6" name="Espace réservé du contenu 9"/>
          <p:cNvSpPr>
            <a:spLocks noGrp="1"/>
          </p:cNvSpPr>
          <p:nvPr>
            <p:ph sz="quarter" idx="13" hasCustomPrompt="1"/>
          </p:nvPr>
        </p:nvSpPr>
        <p:spPr>
          <a:xfrm>
            <a:off x="3267710" y="4918074"/>
            <a:ext cx="1889125" cy="243205"/>
          </a:xfrm>
          <a:prstGeom prst="rect">
            <a:avLst/>
          </a:prstGeom>
        </p:spPr>
        <p:txBody>
          <a:bodyPr/>
          <a:lstStyle>
            <a:lvl1pPr marL="0" indent="0">
              <a:buNone/>
              <a:defRPr sz="1050">
                <a:latin typeface="Arial" panose="020B0604020202020204" pitchFamily="34" charset="0"/>
                <a:cs typeface="Arial" panose="020B0604020202020204" pitchFamily="34" charset="0"/>
              </a:defRPr>
            </a:lvl1pPr>
          </a:lstStyle>
          <a:p>
            <a:pPr lvl="0"/>
            <a:r>
              <a:rPr lang="fr-FR" dirty="0"/>
              <a:t>Adresse.mail@ensai.fr</a:t>
            </a:r>
          </a:p>
        </p:txBody>
      </p:sp>
      <p:sp>
        <p:nvSpPr>
          <p:cNvPr id="7" name="Espace réservé pour une image  3"/>
          <p:cNvSpPr>
            <a:spLocks noGrp="1"/>
          </p:cNvSpPr>
          <p:nvPr>
            <p:ph type="pic" sz="quarter" idx="14"/>
          </p:nvPr>
        </p:nvSpPr>
        <p:spPr>
          <a:xfrm>
            <a:off x="7592695" y="2349500"/>
            <a:ext cx="1104900" cy="1117600"/>
          </a:xfrm>
          <a:prstGeom prst="ellipse">
            <a:avLst/>
          </a:prstGeom>
        </p:spPr>
        <p:txBody>
          <a:bodyPr/>
          <a:lstStyle>
            <a:lvl1pPr marL="0" indent="0">
              <a:buNone/>
              <a:defRPr sz="1200"/>
            </a:lvl1pPr>
          </a:lstStyle>
          <a:p>
            <a:r>
              <a:rPr lang="fr-FR"/>
              <a:t>Cliquez sur l'icône pour ajouter une image</a:t>
            </a:r>
            <a:endParaRPr lang="fr-FR" dirty="0"/>
          </a:p>
        </p:txBody>
      </p:sp>
      <p:sp>
        <p:nvSpPr>
          <p:cNvPr id="8" name="Espace réservé du texte 5"/>
          <p:cNvSpPr>
            <a:spLocks noGrp="1"/>
          </p:cNvSpPr>
          <p:nvPr>
            <p:ph type="body" sz="quarter" idx="15" hasCustomPrompt="1"/>
          </p:nvPr>
        </p:nvSpPr>
        <p:spPr>
          <a:xfrm>
            <a:off x="6957695" y="3632200"/>
            <a:ext cx="1587500" cy="355600"/>
          </a:xfrm>
          <a:prstGeom prst="rect">
            <a:avLst/>
          </a:prstGeom>
        </p:spPr>
        <p:txBody>
          <a:bodyPr/>
          <a:lstStyle>
            <a:lvl1pPr marL="0" indent="0">
              <a:buNone/>
              <a:defRPr sz="1400" b="1">
                <a:latin typeface="Arial" panose="020B0604020202020204" pitchFamily="34" charset="0"/>
                <a:cs typeface="Arial" panose="020B0604020202020204" pitchFamily="34" charset="0"/>
              </a:defRPr>
            </a:lvl1pPr>
          </a:lstStyle>
          <a:p>
            <a:pPr lvl="0"/>
            <a:r>
              <a:rPr lang="fr-FR" dirty="0"/>
              <a:t>Prénom NOM</a:t>
            </a:r>
          </a:p>
        </p:txBody>
      </p:sp>
      <p:sp>
        <p:nvSpPr>
          <p:cNvPr id="9" name="Espace réservé du texte 7"/>
          <p:cNvSpPr>
            <a:spLocks noGrp="1"/>
          </p:cNvSpPr>
          <p:nvPr>
            <p:ph type="body" sz="quarter" idx="16" hasCustomPrompt="1"/>
          </p:nvPr>
        </p:nvSpPr>
        <p:spPr>
          <a:xfrm>
            <a:off x="6957695" y="3992562"/>
            <a:ext cx="1823720" cy="320675"/>
          </a:xfrm>
          <a:prstGeom prst="rect">
            <a:avLst/>
          </a:prstGeom>
        </p:spPr>
        <p:txBody>
          <a:bodyPr/>
          <a:lstStyle>
            <a:lvl1pPr marL="0" indent="0" algn="l">
              <a:buNone/>
              <a:defRPr sz="1200">
                <a:solidFill>
                  <a:schemeClr val="bg2">
                    <a:lumMod val="50000"/>
                  </a:schemeClr>
                </a:solidFill>
                <a:latin typeface="Arial" panose="020B0604020202020204" pitchFamily="34" charset="0"/>
                <a:cs typeface="Arial" panose="020B0604020202020204" pitchFamily="34" charset="0"/>
              </a:defRPr>
            </a:lvl1pPr>
          </a:lstStyle>
          <a:p>
            <a:pPr lvl="0"/>
            <a:r>
              <a:rPr lang="fr-FR" dirty="0"/>
              <a:t>Titre du poste / Rôle</a:t>
            </a:r>
          </a:p>
        </p:txBody>
      </p:sp>
      <p:sp>
        <p:nvSpPr>
          <p:cNvPr id="10" name="Espace réservé du contenu 9"/>
          <p:cNvSpPr>
            <a:spLocks noGrp="1"/>
          </p:cNvSpPr>
          <p:nvPr>
            <p:ph sz="quarter" idx="17" hasCustomPrompt="1"/>
          </p:nvPr>
        </p:nvSpPr>
        <p:spPr>
          <a:xfrm>
            <a:off x="6957695" y="4918074"/>
            <a:ext cx="1889125" cy="243205"/>
          </a:xfrm>
          <a:prstGeom prst="rect">
            <a:avLst/>
          </a:prstGeom>
        </p:spPr>
        <p:txBody>
          <a:bodyPr/>
          <a:lstStyle>
            <a:lvl1pPr marL="0" indent="0">
              <a:buNone/>
              <a:defRPr sz="1050">
                <a:latin typeface="Arial" panose="020B0604020202020204" pitchFamily="34" charset="0"/>
                <a:cs typeface="Arial" panose="020B0604020202020204" pitchFamily="34" charset="0"/>
              </a:defRPr>
            </a:lvl1pPr>
          </a:lstStyle>
          <a:p>
            <a:pPr lvl="0"/>
            <a:r>
              <a:rPr lang="fr-FR" dirty="0"/>
              <a:t>Adresse.mail@ensai.fr</a:t>
            </a:r>
          </a:p>
        </p:txBody>
      </p:sp>
      <p:sp>
        <p:nvSpPr>
          <p:cNvPr id="11" name="Titre 1"/>
          <p:cNvSpPr>
            <a:spLocks noGrp="1"/>
          </p:cNvSpPr>
          <p:nvPr>
            <p:ph type="title" hasCustomPrompt="1"/>
          </p:nvPr>
        </p:nvSpPr>
        <p:spPr>
          <a:xfrm>
            <a:off x="828675" y="603251"/>
            <a:ext cx="10515600" cy="730250"/>
          </a:xfrm>
          <a:prstGeom prst="rect">
            <a:avLst/>
          </a:prstGeom>
        </p:spPr>
        <p:txBody>
          <a:bodyPr/>
          <a:lstStyle>
            <a:lvl1pPr>
              <a:defRPr sz="4000" baseline="0">
                <a:solidFill>
                  <a:schemeClr val="accent1">
                    <a:lumMod val="75000"/>
                  </a:schemeClr>
                </a:solidFill>
                <a:latin typeface="Georgia" panose="02040502050405020303" pitchFamily="18" charset="0"/>
                <a:cs typeface="Frank Ruhl Hofshi" panose="00000500000000000000" pitchFamily="50" charset="-79"/>
              </a:defRPr>
            </a:lvl1pPr>
          </a:lstStyle>
          <a:p>
            <a:r>
              <a:rPr lang="fr-FR" dirty="0"/>
              <a:t>Contacts</a:t>
            </a:r>
          </a:p>
        </p:txBody>
      </p:sp>
    </p:spTree>
    <p:extLst>
      <p:ext uri="{BB962C8B-B14F-4D97-AF65-F5344CB8AC3E}">
        <p14:creationId xmlns:p14="http://schemas.microsoft.com/office/powerpoint/2010/main" val="3842987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Disposition personnalisé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1554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7395500"/>
      </p:ext>
    </p:extLst>
  </p:cSld>
  <p:clrMap bg1="lt1" tx1="dk1" bg2="lt2" tx2="dk2" accent1="accent1" accent2="accent2" accent3="accent3" accent4="accent4" accent5="accent5" accent6="accent6" hlink="hlink" folHlink="folHlink"/>
  <p:sldLayoutIdLst>
    <p:sldLayoutId id="2147483651" r:id="rId1"/>
    <p:sldLayoutId id="2147483661" r:id="rId2"/>
    <p:sldLayoutId id="2147483652" r:id="rId3"/>
    <p:sldLayoutId id="2147483653" r:id="rId4"/>
    <p:sldLayoutId id="2147483654" r:id="rId5"/>
    <p:sldLayoutId id="2147483658" r:id="rId6"/>
    <p:sldLayoutId id="2147483655" r:id="rId7"/>
    <p:sldLayoutId id="2147483660" r:id="rId8"/>
    <p:sldLayoutId id="2147483656" r:id="rId9"/>
    <p:sldLayoutId id="2147483659" r:id="rId10"/>
    <p:sldLayoutId id="214748365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hyperlink" Target="https://chlesieur.github.io/analyse_bdd_eleves_ensai/scripts/analyses_2015_2024.html"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p:cNvSpPr>
            <a:spLocks noGrp="1"/>
          </p:cNvSpPr>
          <p:nvPr>
            <p:ph type="body" sz="quarter" idx="13"/>
          </p:nvPr>
        </p:nvSpPr>
        <p:spPr>
          <a:xfrm>
            <a:off x="1149349" y="1724024"/>
            <a:ext cx="9893302" cy="520700"/>
          </a:xfrm>
        </p:spPr>
        <p:txBody>
          <a:bodyPr/>
          <a:lstStyle/>
          <a:p>
            <a:r>
              <a:rPr lang="fr-FR" dirty="0">
                <a:latin typeface="+mj-lt"/>
              </a:rPr>
              <a:t>Premières analyses à partir des données d’admission, de Pamplemousse et de Moodle sur la période 2015-2025</a:t>
            </a:r>
          </a:p>
        </p:txBody>
      </p:sp>
      <p:sp>
        <p:nvSpPr>
          <p:cNvPr id="7" name="Espace réservé du texte 6"/>
          <p:cNvSpPr>
            <a:spLocks noGrp="1"/>
          </p:cNvSpPr>
          <p:nvPr>
            <p:ph type="body" sz="quarter" idx="14"/>
          </p:nvPr>
        </p:nvSpPr>
        <p:spPr>
          <a:xfrm>
            <a:off x="1149349" y="2917826"/>
            <a:ext cx="3405398" cy="415924"/>
          </a:xfrm>
        </p:spPr>
        <p:txBody>
          <a:bodyPr/>
          <a:lstStyle/>
          <a:p>
            <a:r>
              <a:rPr lang="fr-FR" dirty="0"/>
              <a:t>CER du 1er juillet 2026</a:t>
            </a:r>
          </a:p>
        </p:txBody>
      </p:sp>
      <p:sp>
        <p:nvSpPr>
          <p:cNvPr id="9" name="Espace réservé du texte 8"/>
          <p:cNvSpPr>
            <a:spLocks noGrp="1"/>
          </p:cNvSpPr>
          <p:nvPr>
            <p:ph type="body" sz="quarter" idx="17"/>
          </p:nvPr>
        </p:nvSpPr>
        <p:spPr>
          <a:xfrm>
            <a:off x="1149348" y="658812"/>
            <a:ext cx="10814051" cy="1114426"/>
          </a:xfrm>
        </p:spPr>
        <p:txBody>
          <a:bodyPr/>
          <a:lstStyle/>
          <a:p>
            <a:r>
              <a:rPr lang="fr-FR" sz="5000" dirty="0">
                <a:latin typeface="+mj-lt"/>
              </a:rPr>
              <a:t>Trajectoires des étudiants à l’ENSAI</a:t>
            </a:r>
          </a:p>
        </p:txBody>
      </p:sp>
      <p:sp>
        <p:nvSpPr>
          <p:cNvPr id="5" name="Espace réservé du texte 6">
            <a:extLst>
              <a:ext uri="{FF2B5EF4-FFF2-40B4-BE49-F238E27FC236}">
                <a16:creationId xmlns:a16="http://schemas.microsoft.com/office/drawing/2014/main" id="{1A4A2BF2-E617-584E-1661-8BDA87DC96DD}"/>
              </a:ext>
            </a:extLst>
          </p:cNvPr>
          <p:cNvSpPr txBox="1">
            <a:spLocks/>
          </p:cNvSpPr>
          <p:nvPr/>
        </p:nvSpPr>
        <p:spPr>
          <a:xfrm>
            <a:off x="1149348" y="3584574"/>
            <a:ext cx="4692651" cy="415924"/>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1"/>
                </a:solidFill>
                <a:latin typeface="Bahnschrift SemiLight" panose="020B0502040204020203" pitchFamily="34" charset="0"/>
                <a:ea typeface="+mn-ea"/>
                <a:cs typeface="Thorndale AMT"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Stéphane </a:t>
            </a:r>
            <a:r>
              <a:rPr lang="fr-FR" dirty="0" err="1"/>
              <a:t>Legleye</a:t>
            </a:r>
            <a:r>
              <a:rPr lang="fr-FR" dirty="0"/>
              <a:t>, Christophe Lesieur</a:t>
            </a:r>
          </a:p>
        </p:txBody>
      </p:sp>
      <p:pic>
        <p:nvPicPr>
          <p:cNvPr id="10" name="Image 9">
            <a:extLst>
              <a:ext uri="{FF2B5EF4-FFF2-40B4-BE49-F238E27FC236}">
                <a16:creationId xmlns:a16="http://schemas.microsoft.com/office/drawing/2014/main" id="{73D63354-3A4D-6CA3-3449-8EC992DEECE5}"/>
              </a:ext>
            </a:extLst>
          </p:cNvPr>
          <p:cNvPicPr>
            <a:picLocks noChangeAspect="1"/>
          </p:cNvPicPr>
          <p:nvPr/>
        </p:nvPicPr>
        <p:blipFill>
          <a:blip r:embed="rId3"/>
          <a:stretch>
            <a:fillRect/>
          </a:stretch>
        </p:blipFill>
        <p:spPr>
          <a:xfrm>
            <a:off x="748768" y="4508501"/>
            <a:ext cx="7621064" cy="1905266"/>
          </a:xfrm>
          <a:prstGeom prst="rect">
            <a:avLst/>
          </a:prstGeom>
        </p:spPr>
      </p:pic>
    </p:spTree>
    <p:extLst>
      <p:ext uri="{BB962C8B-B14F-4D97-AF65-F5344CB8AC3E}">
        <p14:creationId xmlns:p14="http://schemas.microsoft.com/office/powerpoint/2010/main" val="741536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2183D-6EE3-A453-B1C0-71903C2D3B7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CC86CA9-A670-2593-C4C7-B29758C44765}"/>
              </a:ext>
            </a:extLst>
          </p:cNvPr>
          <p:cNvSpPr>
            <a:spLocks noGrp="1"/>
          </p:cNvSpPr>
          <p:nvPr>
            <p:ph type="title"/>
          </p:nvPr>
        </p:nvSpPr>
        <p:spPr>
          <a:xfrm>
            <a:off x="838200" y="365125"/>
            <a:ext cx="9720385" cy="775921"/>
          </a:xfrm>
        </p:spPr>
        <p:txBody>
          <a:bodyPr/>
          <a:lstStyle/>
          <a:p>
            <a:r>
              <a:rPr lang="fr-FR" sz="3600" b="1" dirty="0">
                <a:latin typeface="Bahnschrift SemiLight" panose="020B0502040204020203" pitchFamily="34" charset="0"/>
                <a:ea typeface="+mn-ea"/>
              </a:rPr>
              <a:t>Présentation du projet</a:t>
            </a:r>
          </a:p>
        </p:txBody>
      </p:sp>
      <p:pic>
        <p:nvPicPr>
          <p:cNvPr id="9" name="Image 8">
            <a:extLst>
              <a:ext uri="{FF2B5EF4-FFF2-40B4-BE49-F238E27FC236}">
                <a16:creationId xmlns:a16="http://schemas.microsoft.com/office/drawing/2014/main" id="{A23570E1-2DD6-A38C-8AF9-96C8A59ACC3A}"/>
              </a:ext>
            </a:extLst>
          </p:cNvPr>
          <p:cNvPicPr>
            <a:picLocks noChangeAspect="1"/>
          </p:cNvPicPr>
          <p:nvPr/>
        </p:nvPicPr>
        <p:blipFill>
          <a:blip r:embed="rId3"/>
          <a:stretch>
            <a:fillRect/>
          </a:stretch>
        </p:blipFill>
        <p:spPr>
          <a:xfrm>
            <a:off x="821666" y="1634982"/>
            <a:ext cx="3224842" cy="3279715"/>
          </a:xfrm>
          <a:prstGeom prst="rect">
            <a:avLst/>
          </a:prstGeom>
        </p:spPr>
      </p:pic>
      <p:pic>
        <p:nvPicPr>
          <p:cNvPr id="11" name="Image 10">
            <a:extLst>
              <a:ext uri="{FF2B5EF4-FFF2-40B4-BE49-F238E27FC236}">
                <a16:creationId xmlns:a16="http://schemas.microsoft.com/office/drawing/2014/main" id="{E95896E3-FFE1-82E3-334B-51DEDD7396DC}"/>
              </a:ext>
            </a:extLst>
          </p:cNvPr>
          <p:cNvPicPr>
            <a:picLocks noChangeAspect="1"/>
          </p:cNvPicPr>
          <p:nvPr/>
        </p:nvPicPr>
        <p:blipFill>
          <a:blip r:embed="rId4"/>
          <a:stretch>
            <a:fillRect/>
          </a:stretch>
        </p:blipFill>
        <p:spPr>
          <a:xfrm>
            <a:off x="4271516" y="2048017"/>
            <a:ext cx="3127061" cy="1679756"/>
          </a:xfrm>
          <a:prstGeom prst="rect">
            <a:avLst/>
          </a:prstGeom>
        </p:spPr>
      </p:pic>
      <p:sp>
        <p:nvSpPr>
          <p:cNvPr id="13" name="Espace réservé du texte 2">
            <a:extLst>
              <a:ext uri="{FF2B5EF4-FFF2-40B4-BE49-F238E27FC236}">
                <a16:creationId xmlns:a16="http://schemas.microsoft.com/office/drawing/2014/main" id="{3620B472-28BD-18C3-F7C1-E889ECF9D58A}"/>
              </a:ext>
            </a:extLst>
          </p:cNvPr>
          <p:cNvSpPr txBox="1">
            <a:spLocks/>
          </p:cNvSpPr>
          <p:nvPr/>
        </p:nvSpPr>
        <p:spPr>
          <a:xfrm>
            <a:off x="596658" y="1281994"/>
            <a:ext cx="11411311" cy="70597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Bahnschrift SemiLight" panose="020B0502040204020203" pitchFamily="34" charset="0"/>
                <a:ea typeface="+mn-ea"/>
                <a:cs typeface="Thorndale AMT"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fr-FR" sz="1600" b="1" dirty="0"/>
              <a:t>Un zest de Pamplemousse      +      Un brin de travail sur les admissions       +      Des données massives de Moodle  </a:t>
            </a:r>
          </a:p>
        </p:txBody>
      </p:sp>
      <p:sp>
        <p:nvSpPr>
          <p:cNvPr id="15" name="Espace réservé du texte 2">
            <a:extLst>
              <a:ext uri="{FF2B5EF4-FFF2-40B4-BE49-F238E27FC236}">
                <a16:creationId xmlns:a16="http://schemas.microsoft.com/office/drawing/2014/main" id="{335E8804-43D1-B011-344F-AD0650EBE37F}"/>
              </a:ext>
            </a:extLst>
          </p:cNvPr>
          <p:cNvSpPr txBox="1">
            <a:spLocks/>
          </p:cNvSpPr>
          <p:nvPr/>
        </p:nvSpPr>
        <p:spPr>
          <a:xfrm>
            <a:off x="86265" y="5031609"/>
            <a:ext cx="3960244" cy="29951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Bahnschrift SemiLight" panose="020B0502040204020203" pitchFamily="34" charset="0"/>
                <a:ea typeface="+mn-ea"/>
                <a:cs typeface="Thorndale AMT"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fr-FR" sz="1600" i="1" dirty="0"/>
              <a:t>Pour les notes à l’école et les voies </a:t>
            </a:r>
          </a:p>
        </p:txBody>
      </p:sp>
      <p:pic>
        <p:nvPicPr>
          <p:cNvPr id="17" name="Image 16">
            <a:extLst>
              <a:ext uri="{FF2B5EF4-FFF2-40B4-BE49-F238E27FC236}">
                <a16:creationId xmlns:a16="http://schemas.microsoft.com/office/drawing/2014/main" id="{E4ABA878-2085-1C73-AE72-C469CACCE508}"/>
              </a:ext>
            </a:extLst>
          </p:cNvPr>
          <p:cNvPicPr>
            <a:picLocks noChangeAspect="1"/>
          </p:cNvPicPr>
          <p:nvPr/>
        </p:nvPicPr>
        <p:blipFill>
          <a:blip r:embed="rId5"/>
          <a:stretch>
            <a:fillRect/>
          </a:stretch>
        </p:blipFill>
        <p:spPr>
          <a:xfrm>
            <a:off x="7488600" y="1699404"/>
            <a:ext cx="4376517" cy="2868246"/>
          </a:xfrm>
          <a:prstGeom prst="rect">
            <a:avLst/>
          </a:prstGeom>
        </p:spPr>
      </p:pic>
      <p:sp>
        <p:nvSpPr>
          <p:cNvPr id="21" name="Espace réservé du texte 2">
            <a:extLst>
              <a:ext uri="{FF2B5EF4-FFF2-40B4-BE49-F238E27FC236}">
                <a16:creationId xmlns:a16="http://schemas.microsoft.com/office/drawing/2014/main" id="{AEFF68C7-2A63-BFE7-D7A3-4EC8DD4A318C}"/>
              </a:ext>
            </a:extLst>
          </p:cNvPr>
          <p:cNvSpPr txBox="1">
            <a:spLocks/>
          </p:cNvSpPr>
          <p:nvPr/>
        </p:nvSpPr>
        <p:spPr>
          <a:xfrm>
            <a:off x="3528356" y="5031608"/>
            <a:ext cx="4106739" cy="54439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Bahnschrift SemiLight" panose="020B0502040204020203" pitchFamily="34" charset="0"/>
                <a:ea typeface="+mn-ea"/>
                <a:cs typeface="Thorndale AMT"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fr-FR" sz="1600" i="1" dirty="0"/>
              <a:t>Pour les rangs d’admission des maths, BL et D2</a:t>
            </a:r>
          </a:p>
        </p:txBody>
      </p:sp>
      <p:sp>
        <p:nvSpPr>
          <p:cNvPr id="23" name="Espace réservé du texte 2">
            <a:extLst>
              <a:ext uri="{FF2B5EF4-FFF2-40B4-BE49-F238E27FC236}">
                <a16:creationId xmlns:a16="http://schemas.microsoft.com/office/drawing/2014/main" id="{DE1B721F-68E1-2E73-B1D6-94D063481E29}"/>
              </a:ext>
            </a:extLst>
          </p:cNvPr>
          <p:cNvSpPr txBox="1">
            <a:spLocks/>
          </p:cNvSpPr>
          <p:nvPr/>
        </p:nvSpPr>
        <p:spPr>
          <a:xfrm>
            <a:off x="6970447" y="4923177"/>
            <a:ext cx="4106739" cy="54439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Bahnschrift SemiLight" panose="020B0502040204020203" pitchFamily="34" charset="0"/>
                <a:ea typeface="+mn-ea"/>
                <a:cs typeface="Thorndale AMT"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fr-FR" sz="1600" i="1" dirty="0"/>
              <a:t>Pour construire des indicateurs d’engagement numérique</a:t>
            </a:r>
          </a:p>
        </p:txBody>
      </p:sp>
      <p:sp>
        <p:nvSpPr>
          <p:cNvPr id="25" name="Espace réservé du texte 2">
            <a:extLst>
              <a:ext uri="{FF2B5EF4-FFF2-40B4-BE49-F238E27FC236}">
                <a16:creationId xmlns:a16="http://schemas.microsoft.com/office/drawing/2014/main" id="{16888E7D-53C3-6A47-AE06-BD7E3C52BD67}"/>
              </a:ext>
            </a:extLst>
          </p:cNvPr>
          <p:cNvSpPr txBox="1">
            <a:spLocks/>
          </p:cNvSpPr>
          <p:nvPr/>
        </p:nvSpPr>
        <p:spPr>
          <a:xfrm>
            <a:off x="380717" y="5753352"/>
            <a:ext cx="9910596" cy="54439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Bahnschrift SemiLight" panose="020B0502040204020203" pitchFamily="34" charset="0"/>
                <a:ea typeface="+mn-ea"/>
                <a:cs typeface="Thorndale AMT"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fr-FR" b="1" dirty="0"/>
              <a:t>= Une base d’information riche sur les élèves sur période 2015-2025</a:t>
            </a:r>
          </a:p>
        </p:txBody>
      </p:sp>
    </p:spTree>
    <p:extLst>
      <p:ext uri="{BB962C8B-B14F-4D97-AF65-F5344CB8AC3E}">
        <p14:creationId xmlns:p14="http://schemas.microsoft.com/office/powerpoint/2010/main" val="3247128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D942E7-2391-6D34-F7BF-F5ECF2218731}"/>
              </a:ext>
            </a:extLst>
          </p:cNvPr>
          <p:cNvSpPr>
            <a:spLocks noGrp="1"/>
          </p:cNvSpPr>
          <p:nvPr>
            <p:ph type="title"/>
          </p:nvPr>
        </p:nvSpPr>
        <p:spPr>
          <a:xfrm>
            <a:off x="838200" y="365125"/>
            <a:ext cx="10393392" cy="775921"/>
          </a:xfrm>
        </p:spPr>
        <p:txBody>
          <a:bodyPr/>
          <a:lstStyle/>
          <a:p>
            <a:r>
              <a:rPr lang="fr-FR" sz="3600" dirty="0">
                <a:latin typeface="Bahnschrift SemiLight" panose="020B0502040204020203" pitchFamily="34" charset="0"/>
                <a:ea typeface="+mn-ea"/>
              </a:rPr>
              <a:t>Une baisse des profils MP depuis le CCINP</a:t>
            </a:r>
          </a:p>
        </p:txBody>
      </p:sp>
      <p:sp>
        <p:nvSpPr>
          <p:cNvPr id="6" name="Espace réservé du texte 2">
            <a:extLst>
              <a:ext uri="{FF2B5EF4-FFF2-40B4-BE49-F238E27FC236}">
                <a16:creationId xmlns:a16="http://schemas.microsoft.com/office/drawing/2014/main" id="{DAE2B93C-8B28-ED74-8EA1-0A09E5B15CCA}"/>
              </a:ext>
            </a:extLst>
          </p:cNvPr>
          <p:cNvSpPr>
            <a:spLocks noGrp="1"/>
          </p:cNvSpPr>
          <p:nvPr>
            <p:ph type="body" sz="quarter" idx="10"/>
          </p:nvPr>
        </p:nvSpPr>
        <p:spPr>
          <a:xfrm>
            <a:off x="5423019" y="5823973"/>
            <a:ext cx="4946583" cy="668902"/>
          </a:xfrm>
        </p:spPr>
        <p:txBody>
          <a:bodyPr/>
          <a:lstStyle/>
          <a:p>
            <a:r>
              <a:rPr lang="fr-FR" sz="1400" dirty="0"/>
              <a:t>Sources : Données d’admission et Pamplemousse</a:t>
            </a:r>
          </a:p>
          <a:p>
            <a:r>
              <a:rPr lang="fr-FR" sz="1400" dirty="0"/>
              <a:t>Champ : élèves admis en 1</a:t>
            </a:r>
            <a:r>
              <a:rPr lang="fr-FR" sz="1400" baseline="30000" dirty="0"/>
              <a:t>ère</a:t>
            </a:r>
            <a:r>
              <a:rPr lang="fr-FR" sz="1400" dirty="0"/>
              <a:t> et 2</a:t>
            </a:r>
            <a:r>
              <a:rPr lang="fr-FR" sz="1400" baseline="30000" dirty="0"/>
              <a:t>ème</a:t>
            </a:r>
            <a:r>
              <a:rPr lang="fr-FR" sz="1400" dirty="0"/>
              <a:t> année</a:t>
            </a:r>
          </a:p>
        </p:txBody>
      </p:sp>
      <p:sp>
        <p:nvSpPr>
          <p:cNvPr id="7" name="Espace réservé du texte 2">
            <a:extLst>
              <a:ext uri="{FF2B5EF4-FFF2-40B4-BE49-F238E27FC236}">
                <a16:creationId xmlns:a16="http://schemas.microsoft.com/office/drawing/2014/main" id="{15822227-FB3C-2BCC-38AF-252DA6B59F9C}"/>
              </a:ext>
            </a:extLst>
          </p:cNvPr>
          <p:cNvSpPr txBox="1">
            <a:spLocks/>
          </p:cNvSpPr>
          <p:nvPr/>
        </p:nvSpPr>
        <p:spPr>
          <a:xfrm>
            <a:off x="294735" y="1581514"/>
            <a:ext cx="4363529" cy="413544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Bahnschrift SemiLight" panose="020B0502040204020203" pitchFamily="34" charset="0"/>
                <a:ea typeface="+mn-ea"/>
                <a:cs typeface="Thorndale AMT"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Wingdings" panose="05000000000000000000" pitchFamily="2" charset="2"/>
              <a:buChar char="q"/>
            </a:pPr>
            <a:r>
              <a:rPr lang="fr-FR" sz="2000" dirty="0"/>
              <a:t>Diversification des voies d’entrée</a:t>
            </a:r>
          </a:p>
          <a:p>
            <a:pPr marL="1028700" lvl="1" indent="-342900">
              <a:buFont typeface="Wingdings" panose="05000000000000000000" pitchFamily="2" charset="2"/>
              <a:buChar char="q"/>
            </a:pPr>
            <a:r>
              <a:rPr lang="fr-FR" sz="1600" dirty="0"/>
              <a:t>Notamment création MPI</a:t>
            </a:r>
          </a:p>
          <a:p>
            <a:pPr marL="1028700" lvl="1" indent="-342900">
              <a:buFont typeface="Wingdings" panose="05000000000000000000" pitchFamily="2" charset="2"/>
              <a:buChar char="q"/>
            </a:pPr>
            <a:r>
              <a:rPr lang="fr-FR" sz="1600" dirty="0"/>
              <a:t>Mais aussi hausse des PC/PSI </a:t>
            </a:r>
            <a:endParaRPr lang="fr-FR" sz="1200" dirty="0"/>
          </a:p>
          <a:p>
            <a:pPr marL="342900" indent="-342900">
              <a:buFont typeface="Wingdings" panose="05000000000000000000" pitchFamily="2" charset="2"/>
              <a:buChar char="q"/>
            </a:pPr>
            <a:r>
              <a:rPr lang="fr-FR" sz="2000" dirty="0"/>
              <a:t>Baisse de la part du concours interne INSEE</a:t>
            </a:r>
          </a:p>
          <a:p>
            <a:pPr marL="342900" indent="-342900">
              <a:buFont typeface="Wingdings" panose="05000000000000000000" pitchFamily="2" charset="2"/>
              <a:buChar char="q"/>
            </a:pPr>
            <a:r>
              <a:rPr lang="fr-FR" sz="2000" dirty="0"/>
              <a:t>Variation de la part des BL équilibrée par la variation des D2</a:t>
            </a:r>
          </a:p>
          <a:p>
            <a:pPr marL="342900" indent="-342900">
              <a:buFont typeface="Wingdings" panose="05000000000000000000" pitchFamily="2" charset="2"/>
              <a:buChar char="q"/>
            </a:pPr>
            <a:r>
              <a:rPr lang="fr-FR" sz="2000" dirty="0"/>
              <a:t>Stabilité des BUT</a:t>
            </a:r>
          </a:p>
          <a:p>
            <a:pPr lvl="1" indent="0">
              <a:buNone/>
            </a:pPr>
            <a:endParaRPr lang="fr-FR" sz="1600" dirty="0"/>
          </a:p>
        </p:txBody>
      </p:sp>
      <p:pic>
        <p:nvPicPr>
          <p:cNvPr id="5" name="Image 4">
            <a:extLst>
              <a:ext uri="{FF2B5EF4-FFF2-40B4-BE49-F238E27FC236}">
                <a16:creationId xmlns:a16="http://schemas.microsoft.com/office/drawing/2014/main" id="{D2A3C2F1-4A78-64E6-A289-079AE8D1A489}"/>
              </a:ext>
            </a:extLst>
          </p:cNvPr>
          <p:cNvPicPr>
            <a:picLocks noChangeAspect="1"/>
          </p:cNvPicPr>
          <p:nvPr/>
        </p:nvPicPr>
        <p:blipFill>
          <a:blip r:embed="rId3"/>
          <a:stretch>
            <a:fillRect/>
          </a:stretch>
        </p:blipFill>
        <p:spPr>
          <a:xfrm>
            <a:off x="4658264" y="1182499"/>
            <a:ext cx="7313797" cy="4493002"/>
          </a:xfrm>
          <a:prstGeom prst="rect">
            <a:avLst/>
          </a:prstGeom>
        </p:spPr>
      </p:pic>
    </p:spTree>
    <p:extLst>
      <p:ext uri="{BB962C8B-B14F-4D97-AF65-F5344CB8AC3E}">
        <p14:creationId xmlns:p14="http://schemas.microsoft.com/office/powerpoint/2010/main" val="32364541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6EAD4A5-1DDE-20DE-2B0A-A25F7D66247C}"/>
              </a:ext>
            </a:extLst>
          </p:cNvPr>
          <p:cNvSpPr>
            <a:spLocks noGrp="1"/>
          </p:cNvSpPr>
          <p:nvPr>
            <p:ph type="title"/>
          </p:nvPr>
        </p:nvSpPr>
        <p:spPr/>
        <p:txBody>
          <a:bodyPr/>
          <a:lstStyle/>
          <a:p>
            <a:r>
              <a:rPr lang="fr-FR" sz="3600" b="1" dirty="0">
                <a:latin typeface="+mj-lt"/>
              </a:rPr>
              <a:t>Les matheux préfèrent le statut d’ingénieur</a:t>
            </a:r>
            <a:br>
              <a:rPr lang="fr-FR" sz="3600" b="1" dirty="0">
                <a:latin typeface="+mj-lt"/>
              </a:rPr>
            </a:br>
            <a:endParaRPr lang="fr-FR" sz="2400" b="1" dirty="0">
              <a:latin typeface="+mj-lt"/>
            </a:endParaRPr>
          </a:p>
        </p:txBody>
      </p:sp>
      <p:pic>
        <p:nvPicPr>
          <p:cNvPr id="16" name="Image 15">
            <a:extLst>
              <a:ext uri="{FF2B5EF4-FFF2-40B4-BE49-F238E27FC236}">
                <a16:creationId xmlns:a16="http://schemas.microsoft.com/office/drawing/2014/main" id="{3F0132A4-2903-EDB8-BC61-9066EA710D42}"/>
              </a:ext>
            </a:extLst>
          </p:cNvPr>
          <p:cNvPicPr>
            <a:picLocks noChangeAspect="1"/>
          </p:cNvPicPr>
          <p:nvPr/>
        </p:nvPicPr>
        <p:blipFill>
          <a:blip r:embed="rId3"/>
          <a:stretch>
            <a:fillRect/>
          </a:stretch>
        </p:blipFill>
        <p:spPr>
          <a:xfrm>
            <a:off x="190205" y="1699831"/>
            <a:ext cx="5612497" cy="3458337"/>
          </a:xfrm>
          <a:prstGeom prst="rect">
            <a:avLst/>
          </a:prstGeom>
        </p:spPr>
      </p:pic>
      <p:pic>
        <p:nvPicPr>
          <p:cNvPr id="18" name="Image 17">
            <a:extLst>
              <a:ext uri="{FF2B5EF4-FFF2-40B4-BE49-F238E27FC236}">
                <a16:creationId xmlns:a16="http://schemas.microsoft.com/office/drawing/2014/main" id="{C9717907-F6AA-1C4C-3DC3-8D0CF3243D11}"/>
              </a:ext>
            </a:extLst>
          </p:cNvPr>
          <p:cNvPicPr>
            <a:picLocks noChangeAspect="1"/>
          </p:cNvPicPr>
          <p:nvPr/>
        </p:nvPicPr>
        <p:blipFill>
          <a:blip r:embed="rId4"/>
          <a:stretch>
            <a:fillRect/>
          </a:stretch>
        </p:blipFill>
        <p:spPr>
          <a:xfrm>
            <a:off x="5707104" y="1690688"/>
            <a:ext cx="6165295" cy="3795665"/>
          </a:xfrm>
          <a:prstGeom prst="rect">
            <a:avLst/>
          </a:prstGeom>
        </p:spPr>
      </p:pic>
      <p:sp>
        <p:nvSpPr>
          <p:cNvPr id="20" name="Espace réservé du texte 2">
            <a:extLst>
              <a:ext uri="{FF2B5EF4-FFF2-40B4-BE49-F238E27FC236}">
                <a16:creationId xmlns:a16="http://schemas.microsoft.com/office/drawing/2014/main" id="{50AF3A28-0B6B-BC2F-B6EE-7B5FDA61F6C6}"/>
              </a:ext>
            </a:extLst>
          </p:cNvPr>
          <p:cNvSpPr txBox="1">
            <a:spLocks/>
          </p:cNvSpPr>
          <p:nvPr/>
        </p:nvSpPr>
        <p:spPr>
          <a:xfrm>
            <a:off x="0" y="5384274"/>
            <a:ext cx="9574897" cy="749108"/>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Bahnschrift SemiLight" panose="020B0502040204020203" pitchFamily="34" charset="0"/>
                <a:ea typeface="+mn-ea"/>
                <a:cs typeface="Thorndale AMT"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28700" lvl="1" indent="-342900">
              <a:buFont typeface="Wingdings" panose="05000000000000000000" pitchFamily="2" charset="2"/>
              <a:buChar char="q"/>
            </a:pPr>
            <a:r>
              <a:rPr lang="fr-FR" sz="2000" dirty="0"/>
              <a:t>Une tendance renforcée depuis le concours CCINP</a:t>
            </a:r>
          </a:p>
          <a:p>
            <a:pPr marL="1028700" lvl="1" indent="-342900">
              <a:buFont typeface="Wingdings" panose="05000000000000000000" pitchFamily="2" charset="2"/>
              <a:buChar char="q"/>
            </a:pPr>
            <a:r>
              <a:rPr lang="fr-FR" sz="2000" dirty="0"/>
              <a:t>Quelques bons classés choisissent le statut d’attaché</a:t>
            </a:r>
          </a:p>
          <a:p>
            <a:pPr marL="1028700" lvl="1" indent="-342900">
              <a:buFont typeface="Wingdings" panose="05000000000000000000" pitchFamily="2" charset="2"/>
              <a:buChar char="q"/>
            </a:pPr>
            <a:r>
              <a:rPr lang="fr-FR" sz="2000" dirty="0"/>
              <a:t>Mais les moins bien classés sont surreprésentés parmi les fonctionnaires</a:t>
            </a:r>
          </a:p>
        </p:txBody>
      </p:sp>
    </p:spTree>
    <p:extLst>
      <p:ext uri="{BB962C8B-B14F-4D97-AF65-F5344CB8AC3E}">
        <p14:creationId xmlns:p14="http://schemas.microsoft.com/office/powerpoint/2010/main" val="43469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B12A4-5EC3-8AC0-00F1-4221D02C090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3818C78-5CDC-5B38-3207-2CC11787CD3B}"/>
              </a:ext>
            </a:extLst>
          </p:cNvPr>
          <p:cNvSpPr>
            <a:spLocks noGrp="1"/>
          </p:cNvSpPr>
          <p:nvPr>
            <p:ph type="title"/>
          </p:nvPr>
        </p:nvSpPr>
        <p:spPr/>
        <p:txBody>
          <a:bodyPr/>
          <a:lstStyle/>
          <a:p>
            <a:r>
              <a:rPr lang="fr-FR" sz="3600" b="1" dirty="0">
                <a:latin typeface="+mj-lt"/>
              </a:rPr>
              <a:t>Les BL et les D2 reviennent vers le statut attaché</a:t>
            </a:r>
            <a:br>
              <a:rPr lang="fr-FR" sz="3600" b="1" dirty="0">
                <a:latin typeface="+mj-lt"/>
              </a:rPr>
            </a:br>
            <a:endParaRPr lang="fr-FR" sz="2400" b="1" dirty="0">
              <a:latin typeface="+mj-lt"/>
            </a:endParaRPr>
          </a:p>
        </p:txBody>
      </p:sp>
      <p:sp>
        <p:nvSpPr>
          <p:cNvPr id="8" name="ZoneTexte 7">
            <a:extLst>
              <a:ext uri="{FF2B5EF4-FFF2-40B4-BE49-F238E27FC236}">
                <a16:creationId xmlns:a16="http://schemas.microsoft.com/office/drawing/2014/main" id="{E330DA31-6963-CDAB-09F8-24F04F3E43E2}"/>
              </a:ext>
            </a:extLst>
          </p:cNvPr>
          <p:cNvSpPr txBox="1"/>
          <p:nvPr/>
        </p:nvSpPr>
        <p:spPr>
          <a:xfrm>
            <a:off x="1562376" y="936254"/>
            <a:ext cx="2362200" cy="369332"/>
          </a:xfrm>
          <a:prstGeom prst="rect">
            <a:avLst/>
          </a:prstGeom>
          <a:noFill/>
        </p:spPr>
        <p:txBody>
          <a:bodyPr wrap="square">
            <a:spAutoFit/>
          </a:bodyPr>
          <a:lstStyle/>
          <a:p>
            <a:pPr marL="228600"/>
            <a:r>
              <a:rPr lang="fr-FR" sz="1800" b="1" dirty="0"/>
              <a:t>Concours BL</a:t>
            </a:r>
          </a:p>
        </p:txBody>
      </p:sp>
      <p:sp>
        <p:nvSpPr>
          <p:cNvPr id="14" name="ZoneTexte 13">
            <a:extLst>
              <a:ext uri="{FF2B5EF4-FFF2-40B4-BE49-F238E27FC236}">
                <a16:creationId xmlns:a16="http://schemas.microsoft.com/office/drawing/2014/main" id="{B2476289-B20C-6558-1356-FEDB7EED81FB}"/>
              </a:ext>
            </a:extLst>
          </p:cNvPr>
          <p:cNvSpPr txBox="1"/>
          <p:nvPr/>
        </p:nvSpPr>
        <p:spPr>
          <a:xfrm>
            <a:off x="7619466" y="936254"/>
            <a:ext cx="2362200" cy="369332"/>
          </a:xfrm>
          <a:prstGeom prst="rect">
            <a:avLst/>
          </a:prstGeom>
          <a:noFill/>
        </p:spPr>
        <p:txBody>
          <a:bodyPr wrap="square">
            <a:spAutoFit/>
          </a:bodyPr>
          <a:lstStyle/>
          <a:p>
            <a:pPr marL="228600"/>
            <a:r>
              <a:rPr lang="fr-FR" sz="1800" b="1" dirty="0"/>
              <a:t>Concours D2</a:t>
            </a:r>
          </a:p>
        </p:txBody>
      </p:sp>
      <p:pic>
        <p:nvPicPr>
          <p:cNvPr id="6" name="Image 5">
            <a:extLst>
              <a:ext uri="{FF2B5EF4-FFF2-40B4-BE49-F238E27FC236}">
                <a16:creationId xmlns:a16="http://schemas.microsoft.com/office/drawing/2014/main" id="{6EA64596-83FB-9664-641D-B7CE0C941C99}"/>
              </a:ext>
            </a:extLst>
          </p:cNvPr>
          <p:cNvPicPr>
            <a:picLocks noChangeAspect="1"/>
          </p:cNvPicPr>
          <p:nvPr/>
        </p:nvPicPr>
        <p:blipFill>
          <a:blip r:embed="rId3"/>
          <a:stretch>
            <a:fillRect/>
          </a:stretch>
        </p:blipFill>
        <p:spPr>
          <a:xfrm>
            <a:off x="712897" y="1305586"/>
            <a:ext cx="4327750" cy="2668613"/>
          </a:xfrm>
          <a:prstGeom prst="rect">
            <a:avLst/>
          </a:prstGeom>
        </p:spPr>
      </p:pic>
      <p:pic>
        <p:nvPicPr>
          <p:cNvPr id="15" name="Image 14">
            <a:extLst>
              <a:ext uri="{FF2B5EF4-FFF2-40B4-BE49-F238E27FC236}">
                <a16:creationId xmlns:a16="http://schemas.microsoft.com/office/drawing/2014/main" id="{EAB39C8B-92EF-BD51-9A9C-0CD9BA6B9433}"/>
              </a:ext>
            </a:extLst>
          </p:cNvPr>
          <p:cNvPicPr>
            <a:picLocks noChangeAspect="1"/>
          </p:cNvPicPr>
          <p:nvPr/>
        </p:nvPicPr>
        <p:blipFill>
          <a:blip r:embed="rId4"/>
          <a:stretch>
            <a:fillRect/>
          </a:stretch>
        </p:blipFill>
        <p:spPr>
          <a:xfrm>
            <a:off x="712896" y="3980912"/>
            <a:ext cx="4327751" cy="2675519"/>
          </a:xfrm>
          <a:prstGeom prst="rect">
            <a:avLst/>
          </a:prstGeom>
        </p:spPr>
      </p:pic>
      <p:pic>
        <p:nvPicPr>
          <p:cNvPr id="17" name="Image 16">
            <a:extLst>
              <a:ext uri="{FF2B5EF4-FFF2-40B4-BE49-F238E27FC236}">
                <a16:creationId xmlns:a16="http://schemas.microsoft.com/office/drawing/2014/main" id="{0D5D6D11-9EC4-3311-0F20-89C90466AB70}"/>
              </a:ext>
            </a:extLst>
          </p:cNvPr>
          <p:cNvPicPr>
            <a:picLocks noChangeAspect="1"/>
          </p:cNvPicPr>
          <p:nvPr/>
        </p:nvPicPr>
        <p:blipFill>
          <a:blip r:embed="rId5"/>
          <a:stretch>
            <a:fillRect/>
          </a:stretch>
        </p:blipFill>
        <p:spPr>
          <a:xfrm>
            <a:off x="6785419" y="1292999"/>
            <a:ext cx="4409263" cy="2730997"/>
          </a:xfrm>
          <a:prstGeom prst="rect">
            <a:avLst/>
          </a:prstGeom>
        </p:spPr>
      </p:pic>
      <p:pic>
        <p:nvPicPr>
          <p:cNvPr id="19" name="Image 18">
            <a:extLst>
              <a:ext uri="{FF2B5EF4-FFF2-40B4-BE49-F238E27FC236}">
                <a16:creationId xmlns:a16="http://schemas.microsoft.com/office/drawing/2014/main" id="{6DCAE2AB-FBAE-1863-9B4A-37588C68BBEE}"/>
              </a:ext>
            </a:extLst>
          </p:cNvPr>
          <p:cNvPicPr>
            <a:picLocks noChangeAspect="1"/>
          </p:cNvPicPr>
          <p:nvPr/>
        </p:nvPicPr>
        <p:blipFill>
          <a:blip r:embed="rId6"/>
          <a:stretch>
            <a:fillRect/>
          </a:stretch>
        </p:blipFill>
        <p:spPr>
          <a:xfrm>
            <a:off x="6845320" y="3953172"/>
            <a:ext cx="4428921" cy="2730997"/>
          </a:xfrm>
          <a:prstGeom prst="rect">
            <a:avLst/>
          </a:prstGeom>
        </p:spPr>
      </p:pic>
    </p:spTree>
    <p:extLst>
      <p:ext uri="{BB962C8B-B14F-4D97-AF65-F5344CB8AC3E}">
        <p14:creationId xmlns:p14="http://schemas.microsoft.com/office/powerpoint/2010/main" val="1488712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03420-B453-80E5-EEBB-77A153FFEA3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3EC07AF-105D-7292-C625-20D1B57B35ED}"/>
              </a:ext>
            </a:extLst>
          </p:cNvPr>
          <p:cNvSpPr>
            <a:spLocks noGrp="1"/>
          </p:cNvSpPr>
          <p:nvPr>
            <p:ph type="title"/>
          </p:nvPr>
        </p:nvSpPr>
        <p:spPr>
          <a:xfrm>
            <a:off x="838200" y="365125"/>
            <a:ext cx="11057626" cy="1325563"/>
          </a:xfrm>
        </p:spPr>
        <p:txBody>
          <a:bodyPr/>
          <a:lstStyle/>
          <a:p>
            <a:r>
              <a:rPr lang="fr-FR" sz="3600" dirty="0">
                <a:latin typeface="+mj-lt"/>
              </a:rPr>
              <a:t>Résultats scolaire en 1</a:t>
            </a:r>
            <a:r>
              <a:rPr lang="fr-FR" sz="3600" baseline="30000" dirty="0">
                <a:latin typeface="+mj-lt"/>
              </a:rPr>
              <a:t>ère</a:t>
            </a:r>
            <a:r>
              <a:rPr lang="fr-FR" sz="3600" dirty="0">
                <a:latin typeface="+mj-lt"/>
              </a:rPr>
              <a:t> année et voie d’entrée</a:t>
            </a:r>
          </a:p>
        </p:txBody>
      </p:sp>
      <p:sp>
        <p:nvSpPr>
          <p:cNvPr id="12" name="Espace réservé du texte 2">
            <a:extLst>
              <a:ext uri="{FF2B5EF4-FFF2-40B4-BE49-F238E27FC236}">
                <a16:creationId xmlns:a16="http://schemas.microsoft.com/office/drawing/2014/main" id="{912FABD5-4B94-3658-7B06-5485A64242D4}"/>
              </a:ext>
            </a:extLst>
          </p:cNvPr>
          <p:cNvSpPr txBox="1">
            <a:spLocks/>
          </p:cNvSpPr>
          <p:nvPr/>
        </p:nvSpPr>
        <p:spPr>
          <a:xfrm>
            <a:off x="-102078" y="4099879"/>
            <a:ext cx="7115354" cy="239299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Bahnschrift SemiLight" panose="020B0502040204020203" pitchFamily="34" charset="0"/>
                <a:ea typeface="+mn-ea"/>
                <a:cs typeface="Thorndale AMT"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342900">
              <a:buFont typeface="Wingdings" panose="05000000000000000000" pitchFamily="2" charset="2"/>
              <a:buChar char="q"/>
            </a:pPr>
            <a:r>
              <a:rPr lang="fr-FR" sz="1800" dirty="0"/>
              <a:t>Meilleure moyenne générale : Internes</a:t>
            </a:r>
          </a:p>
          <a:p>
            <a:pPr marL="571500" indent="-342900">
              <a:buFont typeface="Wingdings" panose="05000000000000000000" pitchFamily="2" charset="2"/>
              <a:buChar char="q"/>
            </a:pPr>
            <a:r>
              <a:rPr lang="fr-FR" sz="1800" dirty="0"/>
              <a:t>Moyennes générales plus basses : PC/PSI, BL et D2</a:t>
            </a:r>
          </a:p>
          <a:p>
            <a:pPr marL="571500" indent="-342900">
              <a:buFont typeface="Wingdings" panose="05000000000000000000" pitchFamily="2" charset="2"/>
              <a:buChar char="q"/>
            </a:pPr>
            <a:r>
              <a:rPr lang="fr-FR" sz="1800" dirty="0"/>
              <a:t>Les BL, D2 et PC/PSI en retrait en stat et info</a:t>
            </a:r>
          </a:p>
          <a:p>
            <a:pPr marL="571500" indent="-342900">
              <a:buFont typeface="Wingdings" panose="05000000000000000000" pitchFamily="2" charset="2"/>
              <a:buChar char="q"/>
            </a:pPr>
            <a:r>
              <a:rPr lang="fr-FR" sz="1800" dirty="0"/>
              <a:t>Les BL et PC/PSI en difficulté en économie</a:t>
            </a:r>
          </a:p>
          <a:p>
            <a:pPr marL="571500" indent="-342900">
              <a:buFont typeface="Wingdings" panose="05000000000000000000" pitchFamily="2" charset="2"/>
              <a:buChar char="q"/>
            </a:pPr>
            <a:r>
              <a:rPr lang="fr-FR" sz="1800" dirty="0"/>
              <a:t>Les BL se rattrapent sur les humanités</a:t>
            </a:r>
          </a:p>
          <a:p>
            <a:pPr marL="571500" indent="-342900">
              <a:buFont typeface="Wingdings" panose="05000000000000000000" pitchFamily="2" charset="2"/>
              <a:buChar char="q"/>
            </a:pPr>
            <a:r>
              <a:rPr lang="fr-FR" sz="1800" dirty="0"/>
              <a:t>MPI : une voie d’entrée prometteuse</a:t>
            </a:r>
          </a:p>
          <a:p>
            <a:pPr marL="228600"/>
            <a:endParaRPr lang="fr-FR" sz="1800" dirty="0"/>
          </a:p>
          <a:p>
            <a:pPr marL="228600"/>
            <a:endParaRPr lang="fr-FR" sz="1800" dirty="0"/>
          </a:p>
          <a:p>
            <a:pPr marL="571500" indent="-342900">
              <a:buFont typeface="Wingdings" panose="05000000000000000000" pitchFamily="2" charset="2"/>
              <a:buChar char="q"/>
            </a:pPr>
            <a:endParaRPr lang="fr-FR" sz="1800" dirty="0"/>
          </a:p>
          <a:p>
            <a:pPr marL="571500" indent="-342900">
              <a:buFont typeface="Wingdings" panose="05000000000000000000" pitchFamily="2" charset="2"/>
              <a:buChar char="q"/>
            </a:pPr>
            <a:endParaRPr lang="fr-FR" sz="1800" dirty="0"/>
          </a:p>
          <a:p>
            <a:pPr marL="571500" indent="-342900">
              <a:buFont typeface="Wingdings" panose="05000000000000000000" pitchFamily="2" charset="2"/>
              <a:buChar char="q"/>
            </a:pPr>
            <a:endParaRPr lang="fr-FR" sz="1800" dirty="0"/>
          </a:p>
        </p:txBody>
      </p:sp>
      <p:pic>
        <p:nvPicPr>
          <p:cNvPr id="11" name="Image 10">
            <a:extLst>
              <a:ext uri="{FF2B5EF4-FFF2-40B4-BE49-F238E27FC236}">
                <a16:creationId xmlns:a16="http://schemas.microsoft.com/office/drawing/2014/main" id="{B13BDB15-06E6-6C0F-82FA-75144F035A36}"/>
              </a:ext>
            </a:extLst>
          </p:cNvPr>
          <p:cNvPicPr>
            <a:picLocks noChangeAspect="1"/>
          </p:cNvPicPr>
          <p:nvPr/>
        </p:nvPicPr>
        <p:blipFill>
          <a:blip r:embed="rId3"/>
          <a:stretch>
            <a:fillRect/>
          </a:stretch>
        </p:blipFill>
        <p:spPr>
          <a:xfrm>
            <a:off x="179692" y="1231784"/>
            <a:ext cx="5410225" cy="2216236"/>
          </a:xfrm>
          <a:prstGeom prst="rect">
            <a:avLst/>
          </a:prstGeom>
        </p:spPr>
      </p:pic>
      <p:pic>
        <p:nvPicPr>
          <p:cNvPr id="13" name="Image 12">
            <a:extLst>
              <a:ext uri="{FF2B5EF4-FFF2-40B4-BE49-F238E27FC236}">
                <a16:creationId xmlns:a16="http://schemas.microsoft.com/office/drawing/2014/main" id="{A35DB900-FCB8-0E1B-7877-7ABB0CDB242F}"/>
              </a:ext>
            </a:extLst>
          </p:cNvPr>
          <p:cNvPicPr>
            <a:picLocks noChangeAspect="1"/>
          </p:cNvPicPr>
          <p:nvPr/>
        </p:nvPicPr>
        <p:blipFill>
          <a:blip r:embed="rId4"/>
          <a:stretch>
            <a:fillRect/>
          </a:stretch>
        </p:blipFill>
        <p:spPr>
          <a:xfrm>
            <a:off x="6469812" y="3152489"/>
            <a:ext cx="5631540" cy="3705511"/>
          </a:xfrm>
          <a:prstGeom prst="rect">
            <a:avLst/>
          </a:prstGeom>
        </p:spPr>
      </p:pic>
    </p:spTree>
    <p:extLst>
      <p:ext uri="{BB962C8B-B14F-4D97-AF65-F5344CB8AC3E}">
        <p14:creationId xmlns:p14="http://schemas.microsoft.com/office/powerpoint/2010/main" val="1106112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E8881-0813-A5D2-5A99-4AC2430620E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647D1AD-65D7-0234-0FC5-6C96E4143B0E}"/>
              </a:ext>
            </a:extLst>
          </p:cNvPr>
          <p:cNvSpPr>
            <a:spLocks noGrp="1"/>
          </p:cNvSpPr>
          <p:nvPr>
            <p:ph type="title"/>
          </p:nvPr>
        </p:nvSpPr>
        <p:spPr>
          <a:xfrm>
            <a:off x="838199" y="365125"/>
            <a:ext cx="11169771" cy="1325563"/>
          </a:xfrm>
        </p:spPr>
        <p:txBody>
          <a:bodyPr/>
          <a:lstStyle/>
          <a:p>
            <a:r>
              <a:rPr lang="fr-FR" sz="3600" dirty="0">
                <a:latin typeface="+mj-lt"/>
              </a:rPr>
              <a:t>Résultats scolaire en 2</a:t>
            </a:r>
            <a:r>
              <a:rPr lang="fr-FR" sz="3600" baseline="30000" dirty="0">
                <a:latin typeface="+mj-lt"/>
              </a:rPr>
              <a:t>ème</a:t>
            </a:r>
            <a:r>
              <a:rPr lang="fr-FR" sz="3600" dirty="0">
                <a:latin typeface="+mj-lt"/>
              </a:rPr>
              <a:t> année et voie d’entrée</a:t>
            </a:r>
          </a:p>
        </p:txBody>
      </p:sp>
      <p:sp>
        <p:nvSpPr>
          <p:cNvPr id="12" name="Espace réservé du texte 2">
            <a:extLst>
              <a:ext uri="{FF2B5EF4-FFF2-40B4-BE49-F238E27FC236}">
                <a16:creationId xmlns:a16="http://schemas.microsoft.com/office/drawing/2014/main" id="{61006B6E-812C-C8CA-8353-DE9E6B59A1FE}"/>
              </a:ext>
            </a:extLst>
          </p:cNvPr>
          <p:cNvSpPr txBox="1">
            <a:spLocks/>
          </p:cNvSpPr>
          <p:nvPr/>
        </p:nvSpPr>
        <p:spPr>
          <a:xfrm>
            <a:off x="1041030" y="5167312"/>
            <a:ext cx="10515600" cy="1470804"/>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Bahnschrift SemiLight" panose="020B0502040204020203" pitchFamily="34" charset="0"/>
                <a:ea typeface="+mn-ea"/>
                <a:cs typeface="Thorndale AMT"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a:endParaRPr lang="fr-FR" sz="2000" dirty="0"/>
          </a:p>
          <a:p>
            <a:pPr marL="571500" indent="-342900">
              <a:buFont typeface="Wingdings" panose="05000000000000000000" pitchFamily="2" charset="2"/>
              <a:buChar char="q"/>
            </a:pPr>
            <a:endParaRPr lang="fr-FR" sz="2000" dirty="0"/>
          </a:p>
          <a:p>
            <a:pPr marL="571500" indent="-342900">
              <a:buFont typeface="Wingdings" panose="05000000000000000000" pitchFamily="2" charset="2"/>
              <a:buChar char="q"/>
            </a:pPr>
            <a:endParaRPr lang="fr-FR" sz="2000" dirty="0"/>
          </a:p>
        </p:txBody>
      </p:sp>
      <p:sp>
        <p:nvSpPr>
          <p:cNvPr id="8" name="Espace réservé du texte 2">
            <a:extLst>
              <a:ext uri="{FF2B5EF4-FFF2-40B4-BE49-F238E27FC236}">
                <a16:creationId xmlns:a16="http://schemas.microsoft.com/office/drawing/2014/main" id="{68449745-A252-943F-86F0-E58FCB7B7FE3}"/>
              </a:ext>
            </a:extLst>
          </p:cNvPr>
          <p:cNvSpPr txBox="1">
            <a:spLocks/>
          </p:cNvSpPr>
          <p:nvPr/>
        </p:nvSpPr>
        <p:spPr>
          <a:xfrm>
            <a:off x="-155275" y="4319067"/>
            <a:ext cx="10515600" cy="1470804"/>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Bahnschrift SemiLight" panose="020B0502040204020203" pitchFamily="34" charset="0"/>
                <a:ea typeface="+mn-ea"/>
                <a:cs typeface="Thorndale AMT"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342900">
              <a:buFont typeface="Wingdings" panose="05000000000000000000" pitchFamily="2" charset="2"/>
              <a:buChar char="q"/>
            </a:pPr>
            <a:r>
              <a:rPr lang="fr-FR" sz="1800" dirty="0"/>
              <a:t>Ca s’équilibre : la première année a joué son rôle</a:t>
            </a:r>
          </a:p>
          <a:p>
            <a:pPr marL="571500" indent="-342900">
              <a:buFont typeface="Wingdings" panose="05000000000000000000" pitchFamily="2" charset="2"/>
              <a:buChar char="q"/>
            </a:pPr>
            <a:r>
              <a:rPr lang="fr-FR" sz="1800" dirty="0"/>
              <a:t>Récemment, plus difficile pour les BL, D2 et PC/PSI</a:t>
            </a:r>
          </a:p>
          <a:p>
            <a:pPr marL="571500" indent="-342900">
              <a:buFont typeface="Wingdings" panose="05000000000000000000" pitchFamily="2" charset="2"/>
              <a:buChar char="q"/>
            </a:pPr>
            <a:r>
              <a:rPr lang="fr-FR" sz="1800" dirty="0"/>
              <a:t>Les AST-2A un peu au-dessus en moyenne générale</a:t>
            </a:r>
          </a:p>
          <a:p>
            <a:pPr marL="571500" indent="-342900">
              <a:buFont typeface="Wingdings" panose="05000000000000000000" pitchFamily="2" charset="2"/>
              <a:buChar char="q"/>
            </a:pPr>
            <a:r>
              <a:rPr lang="fr-FR" sz="1800" dirty="0"/>
              <a:t>Les AST-2A particulièrement performants en statistique et </a:t>
            </a:r>
          </a:p>
          <a:p>
            <a:pPr marL="228600"/>
            <a:r>
              <a:rPr lang="fr-FR" sz="1800" dirty="0"/>
              <a:t>informatique</a:t>
            </a:r>
          </a:p>
          <a:p>
            <a:pPr marL="228600"/>
            <a:endParaRPr lang="fr-FR" sz="1800" dirty="0"/>
          </a:p>
          <a:p>
            <a:pPr marL="571500" indent="-342900">
              <a:buFont typeface="Wingdings" panose="05000000000000000000" pitchFamily="2" charset="2"/>
              <a:buChar char="q"/>
            </a:pPr>
            <a:endParaRPr lang="fr-FR" sz="1800" dirty="0"/>
          </a:p>
          <a:p>
            <a:pPr marL="571500" indent="-342900">
              <a:buFont typeface="Wingdings" panose="05000000000000000000" pitchFamily="2" charset="2"/>
              <a:buChar char="q"/>
            </a:pPr>
            <a:endParaRPr lang="fr-FR" sz="1800" dirty="0"/>
          </a:p>
          <a:p>
            <a:pPr marL="571500" indent="-342900">
              <a:buFont typeface="Wingdings" panose="05000000000000000000" pitchFamily="2" charset="2"/>
              <a:buChar char="q"/>
            </a:pPr>
            <a:endParaRPr lang="fr-FR" sz="1800" dirty="0"/>
          </a:p>
        </p:txBody>
      </p:sp>
      <p:pic>
        <p:nvPicPr>
          <p:cNvPr id="5" name="Image 4">
            <a:extLst>
              <a:ext uri="{FF2B5EF4-FFF2-40B4-BE49-F238E27FC236}">
                <a16:creationId xmlns:a16="http://schemas.microsoft.com/office/drawing/2014/main" id="{85A531E8-F0C5-0BBD-4CFC-FDD54AD18E2B}"/>
              </a:ext>
            </a:extLst>
          </p:cNvPr>
          <p:cNvPicPr>
            <a:picLocks noChangeAspect="1"/>
          </p:cNvPicPr>
          <p:nvPr/>
        </p:nvPicPr>
        <p:blipFill>
          <a:blip r:embed="rId3"/>
          <a:stretch>
            <a:fillRect/>
          </a:stretch>
        </p:blipFill>
        <p:spPr>
          <a:xfrm>
            <a:off x="184030" y="1282930"/>
            <a:ext cx="7106642" cy="2286319"/>
          </a:xfrm>
          <a:prstGeom prst="rect">
            <a:avLst/>
          </a:prstGeom>
        </p:spPr>
      </p:pic>
      <p:pic>
        <p:nvPicPr>
          <p:cNvPr id="9" name="Image 8">
            <a:extLst>
              <a:ext uri="{FF2B5EF4-FFF2-40B4-BE49-F238E27FC236}">
                <a16:creationId xmlns:a16="http://schemas.microsoft.com/office/drawing/2014/main" id="{7D8BBFF0-EDD3-C738-C8A3-FD44FA130FDE}"/>
              </a:ext>
            </a:extLst>
          </p:cNvPr>
          <p:cNvPicPr>
            <a:picLocks noChangeAspect="1"/>
          </p:cNvPicPr>
          <p:nvPr/>
        </p:nvPicPr>
        <p:blipFill>
          <a:blip r:embed="rId4"/>
          <a:stretch>
            <a:fillRect/>
          </a:stretch>
        </p:blipFill>
        <p:spPr>
          <a:xfrm>
            <a:off x="6950706" y="3519964"/>
            <a:ext cx="5057264" cy="3294695"/>
          </a:xfrm>
          <a:prstGeom prst="rect">
            <a:avLst/>
          </a:prstGeom>
        </p:spPr>
      </p:pic>
    </p:spTree>
    <p:extLst>
      <p:ext uri="{BB962C8B-B14F-4D97-AF65-F5344CB8AC3E}">
        <p14:creationId xmlns:p14="http://schemas.microsoft.com/office/powerpoint/2010/main" val="7560568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BFC77-EFD4-7214-7876-F4D60DEA291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D85A3C5-9B24-C115-CD96-B4436BAAE32C}"/>
              </a:ext>
            </a:extLst>
          </p:cNvPr>
          <p:cNvSpPr>
            <a:spLocks noGrp="1"/>
          </p:cNvSpPr>
          <p:nvPr>
            <p:ph type="title"/>
          </p:nvPr>
        </p:nvSpPr>
        <p:spPr>
          <a:xfrm>
            <a:off x="355382" y="365125"/>
            <a:ext cx="11316158" cy="1325563"/>
          </a:xfrm>
        </p:spPr>
        <p:txBody>
          <a:bodyPr/>
          <a:lstStyle/>
          <a:p>
            <a:r>
              <a:rPr lang="fr-FR" sz="3600" b="1" dirty="0">
                <a:latin typeface="+mj-lt"/>
              </a:rPr>
              <a:t>Les PC/PSI en difficultés ?</a:t>
            </a:r>
          </a:p>
        </p:txBody>
      </p:sp>
      <p:sp>
        <p:nvSpPr>
          <p:cNvPr id="12" name="Espace réservé du texte 2">
            <a:extLst>
              <a:ext uri="{FF2B5EF4-FFF2-40B4-BE49-F238E27FC236}">
                <a16:creationId xmlns:a16="http://schemas.microsoft.com/office/drawing/2014/main" id="{8E661CD2-9BE5-1561-DA3A-A083ECC16378}"/>
              </a:ext>
            </a:extLst>
          </p:cNvPr>
          <p:cNvSpPr txBox="1">
            <a:spLocks/>
          </p:cNvSpPr>
          <p:nvPr/>
        </p:nvSpPr>
        <p:spPr>
          <a:xfrm>
            <a:off x="822646" y="5144354"/>
            <a:ext cx="10515600" cy="1470804"/>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Bahnschrift SemiLight" panose="020B0502040204020203" pitchFamily="34" charset="0"/>
                <a:ea typeface="+mn-ea"/>
                <a:cs typeface="Thorndale AMT"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342900">
              <a:buFont typeface="Wingdings" panose="05000000000000000000" pitchFamily="2" charset="2"/>
              <a:buChar char="q"/>
            </a:pPr>
            <a:endParaRPr lang="fr-FR" sz="2000" dirty="0"/>
          </a:p>
        </p:txBody>
      </p:sp>
      <p:sp>
        <p:nvSpPr>
          <p:cNvPr id="20" name="Espace réservé du texte 2">
            <a:extLst>
              <a:ext uri="{FF2B5EF4-FFF2-40B4-BE49-F238E27FC236}">
                <a16:creationId xmlns:a16="http://schemas.microsoft.com/office/drawing/2014/main" id="{E969BF7D-4AED-62B8-45A6-ED0C6E3DB665}"/>
              </a:ext>
            </a:extLst>
          </p:cNvPr>
          <p:cNvSpPr txBox="1">
            <a:spLocks/>
          </p:cNvSpPr>
          <p:nvPr/>
        </p:nvSpPr>
        <p:spPr>
          <a:xfrm>
            <a:off x="355382" y="5207160"/>
            <a:ext cx="11316158" cy="968318"/>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Bahnschrift SemiLight" panose="020B0502040204020203" pitchFamily="34" charset="0"/>
                <a:ea typeface="+mn-ea"/>
                <a:cs typeface="Thorndale AMT"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342900">
              <a:buFont typeface="Wingdings" panose="05000000000000000000" pitchFamily="2" charset="2"/>
              <a:buChar char="q"/>
            </a:pPr>
            <a:r>
              <a:rPr lang="fr-FR" sz="2000" dirty="0"/>
              <a:t>PC/PSI: un rang d’admission plus élevé</a:t>
            </a:r>
          </a:p>
          <a:p>
            <a:pPr marL="571500" indent="-342900">
              <a:buFont typeface="Wingdings" panose="05000000000000000000" pitchFamily="2" charset="2"/>
              <a:buChar char="q"/>
            </a:pPr>
            <a:r>
              <a:rPr lang="fr-FR" sz="2000" dirty="0"/>
              <a:t>Des moyennes moins élevées que les MP </a:t>
            </a:r>
          </a:p>
          <a:p>
            <a:pPr marL="571500" indent="-342900">
              <a:buFont typeface="Wingdings" panose="05000000000000000000" pitchFamily="2" charset="2"/>
              <a:buChar char="q"/>
            </a:pPr>
            <a:r>
              <a:rPr lang="fr-FR" sz="2000" dirty="0"/>
              <a:t>Mais un ensemble plus homogène, peu d’élèves en difficulté (&lt; 12)</a:t>
            </a:r>
          </a:p>
          <a:p>
            <a:pPr marL="571500" indent="-342900">
              <a:buFont typeface="Wingdings" panose="05000000000000000000" pitchFamily="2" charset="2"/>
              <a:buChar char="q"/>
            </a:pPr>
            <a:r>
              <a:rPr lang="fr-FR" sz="2000" dirty="0"/>
              <a:t>Inversement, réussite des MPI corrélée à meilleur rang d’admission</a:t>
            </a:r>
          </a:p>
          <a:p>
            <a:pPr marL="571500" indent="-342900">
              <a:buFont typeface="Wingdings" panose="05000000000000000000" pitchFamily="2" charset="2"/>
              <a:buChar char="q"/>
            </a:pPr>
            <a:endParaRPr lang="fr-FR" sz="2000" dirty="0"/>
          </a:p>
        </p:txBody>
      </p:sp>
      <p:pic>
        <p:nvPicPr>
          <p:cNvPr id="8" name="Image 7">
            <a:extLst>
              <a:ext uri="{FF2B5EF4-FFF2-40B4-BE49-F238E27FC236}">
                <a16:creationId xmlns:a16="http://schemas.microsoft.com/office/drawing/2014/main" id="{A97BCF9D-27B4-E0A4-16CF-6BE88057A6BB}"/>
              </a:ext>
            </a:extLst>
          </p:cNvPr>
          <p:cNvPicPr>
            <a:picLocks noChangeAspect="1"/>
          </p:cNvPicPr>
          <p:nvPr/>
        </p:nvPicPr>
        <p:blipFill>
          <a:blip r:embed="rId3"/>
          <a:stretch>
            <a:fillRect/>
          </a:stretch>
        </p:blipFill>
        <p:spPr>
          <a:xfrm>
            <a:off x="6240555" y="1355879"/>
            <a:ext cx="5704956" cy="3519377"/>
          </a:xfrm>
          <a:prstGeom prst="rect">
            <a:avLst/>
          </a:prstGeom>
        </p:spPr>
      </p:pic>
      <p:pic>
        <p:nvPicPr>
          <p:cNvPr id="10" name="Image 9">
            <a:extLst>
              <a:ext uri="{FF2B5EF4-FFF2-40B4-BE49-F238E27FC236}">
                <a16:creationId xmlns:a16="http://schemas.microsoft.com/office/drawing/2014/main" id="{6BF8F116-7880-01FD-F4B7-E996E26F886C}"/>
              </a:ext>
            </a:extLst>
          </p:cNvPr>
          <p:cNvPicPr>
            <a:picLocks noChangeAspect="1"/>
          </p:cNvPicPr>
          <p:nvPr/>
        </p:nvPicPr>
        <p:blipFill>
          <a:blip r:embed="rId4"/>
          <a:stretch>
            <a:fillRect/>
          </a:stretch>
        </p:blipFill>
        <p:spPr>
          <a:xfrm>
            <a:off x="355382" y="1355879"/>
            <a:ext cx="5699291" cy="3519378"/>
          </a:xfrm>
          <a:prstGeom prst="rect">
            <a:avLst/>
          </a:prstGeom>
        </p:spPr>
      </p:pic>
    </p:spTree>
    <p:extLst>
      <p:ext uri="{BB962C8B-B14F-4D97-AF65-F5344CB8AC3E}">
        <p14:creationId xmlns:p14="http://schemas.microsoft.com/office/powerpoint/2010/main" val="2508689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BAAFB1-7345-5807-23E0-05F1EC707A3A}"/>
              </a:ext>
            </a:extLst>
          </p:cNvPr>
          <p:cNvSpPr>
            <a:spLocks noGrp="1"/>
          </p:cNvSpPr>
          <p:nvPr>
            <p:ph type="title"/>
          </p:nvPr>
        </p:nvSpPr>
        <p:spPr>
          <a:xfrm>
            <a:off x="838200" y="365125"/>
            <a:ext cx="10876472" cy="1325563"/>
          </a:xfrm>
        </p:spPr>
        <p:txBody>
          <a:bodyPr/>
          <a:lstStyle/>
          <a:p>
            <a:r>
              <a:rPr lang="fr-FR" sz="3600" b="1" dirty="0">
                <a:latin typeface="+mj-lt"/>
              </a:rPr>
              <a:t>Notes en statistiques et mathématiques en 1A</a:t>
            </a:r>
            <a:br>
              <a:rPr lang="fr-FR" sz="3600" b="1" dirty="0">
                <a:latin typeface="+mj-lt"/>
              </a:rPr>
            </a:br>
            <a:br>
              <a:rPr lang="fr-FR" sz="3600" b="1" dirty="0">
                <a:latin typeface="+mj-lt"/>
              </a:rPr>
            </a:br>
            <a:br>
              <a:rPr lang="fr-FR" b="1" dirty="0"/>
            </a:br>
            <a:endParaRPr lang="fr-FR" dirty="0"/>
          </a:p>
        </p:txBody>
      </p:sp>
      <p:sp>
        <p:nvSpPr>
          <p:cNvPr id="3" name="Espace réservé du texte 2">
            <a:extLst>
              <a:ext uri="{FF2B5EF4-FFF2-40B4-BE49-F238E27FC236}">
                <a16:creationId xmlns:a16="http://schemas.microsoft.com/office/drawing/2014/main" id="{AC4487BA-4557-E1FA-F7BA-E2E2955E6D57}"/>
              </a:ext>
            </a:extLst>
          </p:cNvPr>
          <p:cNvSpPr>
            <a:spLocks noGrp="1"/>
          </p:cNvSpPr>
          <p:nvPr>
            <p:ph type="body" sz="quarter" idx="10"/>
          </p:nvPr>
        </p:nvSpPr>
        <p:spPr>
          <a:xfrm>
            <a:off x="462439" y="5651031"/>
            <a:ext cx="10876472" cy="828875"/>
          </a:xfrm>
        </p:spPr>
        <p:txBody>
          <a:bodyPr/>
          <a:lstStyle/>
          <a:p>
            <a:pPr marL="457200" indent="-457200">
              <a:buFont typeface="Wingdings" panose="05000000000000000000" pitchFamily="2" charset="2"/>
              <a:buChar char="q"/>
            </a:pPr>
            <a:r>
              <a:rPr lang="fr-FR" sz="1800" dirty="0"/>
              <a:t>Amélioration générale depuis 2015</a:t>
            </a:r>
          </a:p>
          <a:p>
            <a:pPr marL="457200" indent="-457200">
              <a:buFont typeface="Wingdings" panose="05000000000000000000" pitchFamily="2" charset="2"/>
              <a:buChar char="q"/>
            </a:pPr>
            <a:r>
              <a:rPr lang="fr-FR" sz="1800" dirty="0"/>
              <a:t>Les BUT et les D2 en nette amélioration, les MP et BL stagnent - mais partaient de plus haut</a:t>
            </a:r>
          </a:p>
        </p:txBody>
      </p:sp>
      <p:pic>
        <p:nvPicPr>
          <p:cNvPr id="5" name="Image 4">
            <a:extLst>
              <a:ext uri="{FF2B5EF4-FFF2-40B4-BE49-F238E27FC236}">
                <a16:creationId xmlns:a16="http://schemas.microsoft.com/office/drawing/2014/main" id="{F918CAD1-CAC6-AB62-252F-FE852362050B}"/>
              </a:ext>
            </a:extLst>
          </p:cNvPr>
          <p:cNvPicPr>
            <a:picLocks noChangeAspect="1"/>
          </p:cNvPicPr>
          <p:nvPr/>
        </p:nvPicPr>
        <p:blipFill>
          <a:blip r:embed="rId3"/>
          <a:stretch>
            <a:fillRect/>
          </a:stretch>
        </p:blipFill>
        <p:spPr>
          <a:xfrm>
            <a:off x="2458529" y="1146897"/>
            <a:ext cx="7263441" cy="4422359"/>
          </a:xfrm>
          <a:prstGeom prst="rect">
            <a:avLst/>
          </a:prstGeom>
        </p:spPr>
      </p:pic>
    </p:spTree>
    <p:extLst>
      <p:ext uri="{BB962C8B-B14F-4D97-AF65-F5344CB8AC3E}">
        <p14:creationId xmlns:p14="http://schemas.microsoft.com/office/powerpoint/2010/main" val="2335980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1823F2-C5D6-4F0E-A621-B5DD2124879B}"/>
              </a:ext>
            </a:extLst>
          </p:cNvPr>
          <p:cNvSpPr>
            <a:spLocks noGrp="1"/>
          </p:cNvSpPr>
          <p:nvPr>
            <p:ph type="title"/>
          </p:nvPr>
        </p:nvSpPr>
        <p:spPr>
          <a:xfrm>
            <a:off x="838200" y="365125"/>
            <a:ext cx="11014494" cy="713867"/>
          </a:xfrm>
        </p:spPr>
        <p:txBody>
          <a:bodyPr/>
          <a:lstStyle/>
          <a:p>
            <a:r>
              <a:rPr lang="fr-FR" sz="3600" b="1" dirty="0">
                <a:latin typeface="+mj-lt"/>
              </a:rPr>
              <a:t>Des échecs plus nombreux parmi les attachés en 1A</a:t>
            </a:r>
          </a:p>
        </p:txBody>
      </p:sp>
      <p:graphicFrame>
        <p:nvGraphicFramePr>
          <p:cNvPr id="5" name="Graphique 4">
            <a:extLst>
              <a:ext uri="{FF2B5EF4-FFF2-40B4-BE49-F238E27FC236}">
                <a16:creationId xmlns:a16="http://schemas.microsoft.com/office/drawing/2014/main" id="{0345599C-D7F1-4E0A-AE0F-F5A5577CC9A5}"/>
              </a:ext>
            </a:extLst>
          </p:cNvPr>
          <p:cNvGraphicFramePr>
            <a:graphicFrameLocks noChangeAspect="1"/>
          </p:cNvGraphicFramePr>
          <p:nvPr>
            <p:extLst>
              <p:ext uri="{D42A27DB-BD31-4B8C-83A1-F6EECF244321}">
                <p14:modId xmlns:p14="http://schemas.microsoft.com/office/powerpoint/2010/main" val="2367785051"/>
              </p:ext>
            </p:extLst>
          </p:nvPr>
        </p:nvGraphicFramePr>
        <p:xfrm>
          <a:off x="1639615" y="1627011"/>
          <a:ext cx="9396456" cy="4428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21570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9A1E78-1B8C-4CE1-B5DA-D21D65E7840A}"/>
              </a:ext>
            </a:extLst>
          </p:cNvPr>
          <p:cNvSpPr>
            <a:spLocks noGrp="1"/>
          </p:cNvSpPr>
          <p:nvPr>
            <p:ph type="title"/>
          </p:nvPr>
        </p:nvSpPr>
        <p:spPr>
          <a:xfrm>
            <a:off x="838200" y="365125"/>
            <a:ext cx="11049000" cy="1325563"/>
          </a:xfrm>
        </p:spPr>
        <p:txBody>
          <a:bodyPr/>
          <a:lstStyle/>
          <a:p>
            <a:r>
              <a:rPr lang="fr-FR" sz="3600" b="1" dirty="0">
                <a:latin typeface="+mj-lt"/>
              </a:rPr>
              <a:t>Des échecs plus nombreux parmi les attachés en 2A</a:t>
            </a:r>
          </a:p>
        </p:txBody>
      </p:sp>
      <p:graphicFrame>
        <p:nvGraphicFramePr>
          <p:cNvPr id="4" name="Graphique 3">
            <a:extLst>
              <a:ext uri="{FF2B5EF4-FFF2-40B4-BE49-F238E27FC236}">
                <a16:creationId xmlns:a16="http://schemas.microsoft.com/office/drawing/2014/main" id="{EF478D3C-54D0-4A42-85EC-A72C1C723D08}"/>
              </a:ext>
            </a:extLst>
          </p:cNvPr>
          <p:cNvGraphicFramePr>
            <a:graphicFrameLocks/>
          </p:cNvGraphicFramePr>
          <p:nvPr>
            <p:extLst>
              <p:ext uri="{D42A27DB-BD31-4B8C-83A1-F6EECF244321}">
                <p14:modId xmlns:p14="http://schemas.microsoft.com/office/powerpoint/2010/main" val="62084659"/>
              </p:ext>
            </p:extLst>
          </p:nvPr>
        </p:nvGraphicFramePr>
        <p:xfrm>
          <a:off x="1313793" y="1450427"/>
          <a:ext cx="9396000" cy="444587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62673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5ECA781C-BEBF-3AB3-643E-C7800CDC2727}"/>
              </a:ext>
            </a:extLst>
          </p:cNvPr>
          <p:cNvPicPr>
            <a:picLocks noChangeAspect="1"/>
          </p:cNvPicPr>
          <p:nvPr/>
        </p:nvPicPr>
        <p:blipFill>
          <a:blip r:embed="rId2"/>
          <a:stretch>
            <a:fillRect/>
          </a:stretch>
        </p:blipFill>
        <p:spPr>
          <a:xfrm>
            <a:off x="2057009" y="1837337"/>
            <a:ext cx="6887536" cy="4525006"/>
          </a:xfrm>
          <a:prstGeom prst="rect">
            <a:avLst/>
          </a:prstGeom>
        </p:spPr>
      </p:pic>
      <p:sp>
        <p:nvSpPr>
          <p:cNvPr id="6" name="Titre 1">
            <a:extLst>
              <a:ext uri="{FF2B5EF4-FFF2-40B4-BE49-F238E27FC236}">
                <a16:creationId xmlns:a16="http://schemas.microsoft.com/office/drawing/2014/main" id="{958F341C-6EFC-F65D-9FEA-4BAFC4939671}"/>
              </a:ext>
            </a:extLst>
          </p:cNvPr>
          <p:cNvSpPr txBox="1">
            <a:spLocks/>
          </p:cNvSpPr>
          <p:nvPr/>
        </p:nvSpPr>
        <p:spPr>
          <a:xfrm>
            <a:off x="838200" y="365125"/>
            <a:ext cx="11014494" cy="713867"/>
          </a:xfrm>
          <a:prstGeom prst="rect">
            <a:avLst/>
          </a:prstGeom>
        </p:spPr>
        <p:txBody>
          <a:bodyPr/>
          <a:lstStyle>
            <a:lvl1pPr algn="l" defTabSz="914400" rtl="0" eaLnBrk="1" latinLnBrk="0" hangingPunct="1">
              <a:lnSpc>
                <a:spcPct val="90000"/>
              </a:lnSpc>
              <a:spcBef>
                <a:spcPct val="0"/>
              </a:spcBef>
              <a:buNone/>
              <a:defRPr sz="4000" kern="1200">
                <a:solidFill>
                  <a:schemeClr val="tx1"/>
                </a:solidFill>
                <a:latin typeface="Georgia" panose="02040502050405020303" pitchFamily="18" charset="0"/>
                <a:ea typeface="+mj-ea"/>
                <a:cs typeface="Frank Ruhl Hofshi" panose="00000500000000000000" pitchFamily="50" charset="-79"/>
              </a:defRPr>
            </a:lvl1pPr>
          </a:lstStyle>
          <a:p>
            <a:r>
              <a:rPr lang="fr-FR" sz="3600" b="1" dirty="0">
                <a:latin typeface="+mj-lt"/>
              </a:rPr>
              <a:t>Des échecs plus fréquents en 1A pour les D2 et BL sur 2023-2025</a:t>
            </a:r>
          </a:p>
        </p:txBody>
      </p:sp>
    </p:spTree>
    <p:extLst>
      <p:ext uri="{BB962C8B-B14F-4D97-AF65-F5344CB8AC3E}">
        <p14:creationId xmlns:p14="http://schemas.microsoft.com/office/powerpoint/2010/main" val="3669288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0F007-7C33-EE19-10B2-756804F70F3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28028F8-CCA4-51F0-6A63-4CDFD581CAED}"/>
              </a:ext>
            </a:extLst>
          </p:cNvPr>
          <p:cNvSpPr>
            <a:spLocks noGrp="1"/>
          </p:cNvSpPr>
          <p:nvPr>
            <p:ph type="title"/>
          </p:nvPr>
        </p:nvSpPr>
        <p:spPr/>
        <p:txBody>
          <a:bodyPr/>
          <a:lstStyle/>
          <a:p>
            <a:r>
              <a:rPr lang="fr-FR" sz="3600" dirty="0">
                <a:latin typeface="Bahnschrift SemiLight" panose="020B0502040204020203" pitchFamily="34" charset="0"/>
                <a:ea typeface="+mn-ea"/>
              </a:rPr>
              <a:t>Les choix de filière de spécialisation</a:t>
            </a:r>
          </a:p>
        </p:txBody>
      </p:sp>
      <p:sp>
        <p:nvSpPr>
          <p:cNvPr id="3" name="Espace réservé du texte 2">
            <a:extLst>
              <a:ext uri="{FF2B5EF4-FFF2-40B4-BE49-F238E27FC236}">
                <a16:creationId xmlns:a16="http://schemas.microsoft.com/office/drawing/2014/main" id="{CB79A211-E1DB-20F8-C8EE-3D6E5550AB5C}"/>
              </a:ext>
            </a:extLst>
          </p:cNvPr>
          <p:cNvSpPr>
            <a:spLocks noGrp="1"/>
          </p:cNvSpPr>
          <p:nvPr>
            <p:ph type="body" sz="quarter" idx="10"/>
          </p:nvPr>
        </p:nvSpPr>
        <p:spPr>
          <a:xfrm>
            <a:off x="1041031" y="4928446"/>
            <a:ext cx="8206484" cy="1470804"/>
          </a:xfrm>
        </p:spPr>
        <p:txBody>
          <a:bodyPr/>
          <a:lstStyle/>
          <a:p>
            <a:pPr marL="571500" indent="-342900">
              <a:buFont typeface="Wingdings" panose="05000000000000000000" pitchFamily="2" charset="2"/>
              <a:buChar char="q"/>
            </a:pPr>
            <a:r>
              <a:rPr lang="fr-FR" sz="2000" dirty="0"/>
              <a:t>Les AST surreprésentés en GR </a:t>
            </a:r>
          </a:p>
          <a:p>
            <a:pPr marL="571500" indent="-342900">
              <a:buFont typeface="Wingdings" panose="05000000000000000000" pitchFamily="2" charset="2"/>
              <a:buChar char="q"/>
            </a:pPr>
            <a:r>
              <a:rPr lang="fr-FR" sz="2000" dirty="0"/>
              <a:t>Les BL et D2 surreprésentés en MES</a:t>
            </a:r>
          </a:p>
          <a:p>
            <a:pPr marL="571500" indent="-342900">
              <a:buFont typeface="Wingdings" panose="05000000000000000000" pitchFamily="2" charset="2"/>
              <a:buChar char="q"/>
            </a:pPr>
            <a:r>
              <a:rPr lang="fr-FR" sz="2000" dirty="0"/>
              <a:t>Les BUT surreprésentés en SBIO</a:t>
            </a:r>
          </a:p>
          <a:p>
            <a:pPr marL="571500" indent="-342900">
              <a:buFont typeface="Wingdings" panose="05000000000000000000" pitchFamily="2" charset="2"/>
              <a:buChar char="q"/>
            </a:pPr>
            <a:r>
              <a:rPr lang="fr-FR" sz="2000" dirty="0"/>
              <a:t>Toutes les voies d’entrée sont représentées en GS et ID</a:t>
            </a:r>
          </a:p>
          <a:p>
            <a:pPr marL="571500" indent="-342900">
              <a:buFont typeface="Wingdings" panose="05000000000000000000" pitchFamily="2" charset="2"/>
              <a:buChar char="q"/>
            </a:pPr>
            <a:endParaRPr lang="fr-FR" sz="1800" dirty="0"/>
          </a:p>
          <a:p>
            <a:pPr marL="571500" indent="-342900">
              <a:buFont typeface="Wingdings" panose="05000000000000000000" pitchFamily="2" charset="2"/>
              <a:buChar char="q"/>
            </a:pPr>
            <a:endParaRPr lang="fr-FR" sz="1800" dirty="0"/>
          </a:p>
          <a:p>
            <a:pPr marL="571500" indent="-342900">
              <a:buFont typeface="Wingdings" panose="05000000000000000000" pitchFamily="2" charset="2"/>
              <a:buChar char="q"/>
            </a:pPr>
            <a:endParaRPr lang="fr-FR" sz="1800" dirty="0"/>
          </a:p>
        </p:txBody>
      </p:sp>
      <p:grpSp>
        <p:nvGrpSpPr>
          <p:cNvPr id="22" name="Groupe 21">
            <a:extLst>
              <a:ext uri="{FF2B5EF4-FFF2-40B4-BE49-F238E27FC236}">
                <a16:creationId xmlns:a16="http://schemas.microsoft.com/office/drawing/2014/main" id="{87707024-C415-7B4E-EC33-38784494814C}"/>
              </a:ext>
            </a:extLst>
          </p:cNvPr>
          <p:cNvGrpSpPr/>
          <p:nvPr/>
        </p:nvGrpSpPr>
        <p:grpSpPr>
          <a:xfrm>
            <a:off x="502694" y="1197522"/>
            <a:ext cx="10790719" cy="3886200"/>
            <a:chOff x="563080" y="1368813"/>
            <a:chExt cx="10790719" cy="3886200"/>
          </a:xfrm>
        </p:grpSpPr>
        <p:sp>
          <p:nvSpPr>
            <p:cNvPr id="15" name="Espace réservé du texte 2">
              <a:extLst>
                <a:ext uri="{FF2B5EF4-FFF2-40B4-BE49-F238E27FC236}">
                  <a16:creationId xmlns:a16="http://schemas.microsoft.com/office/drawing/2014/main" id="{7336B91D-3BC3-F65D-5B23-5575D815181E}"/>
                </a:ext>
              </a:extLst>
            </p:cNvPr>
            <p:cNvSpPr txBox="1">
              <a:spLocks/>
            </p:cNvSpPr>
            <p:nvPr/>
          </p:nvSpPr>
          <p:spPr>
            <a:xfrm>
              <a:off x="1158925" y="1368813"/>
              <a:ext cx="8206484" cy="1470804"/>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Bahnschrift SemiLight" panose="020B0502040204020203" pitchFamily="34" charset="0"/>
                  <a:ea typeface="+mn-ea"/>
                  <a:cs typeface="Thorndale AMT"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a:endParaRPr lang="fr-FR" sz="2000" dirty="0"/>
            </a:p>
            <a:p>
              <a:pPr marL="571500" indent="-342900">
                <a:buFont typeface="Wingdings" panose="05000000000000000000" pitchFamily="2" charset="2"/>
                <a:buChar char="q"/>
              </a:pPr>
              <a:endParaRPr lang="fr-FR" sz="2000" dirty="0"/>
            </a:p>
            <a:p>
              <a:pPr marL="571500" indent="-342900">
                <a:buFont typeface="Wingdings" panose="05000000000000000000" pitchFamily="2" charset="2"/>
                <a:buChar char="q"/>
              </a:pPr>
              <a:endParaRPr lang="fr-FR" sz="2000" dirty="0"/>
            </a:p>
          </p:txBody>
        </p:sp>
        <p:sp>
          <p:nvSpPr>
            <p:cNvPr id="16" name="Espace réservé du texte 2">
              <a:extLst>
                <a:ext uri="{FF2B5EF4-FFF2-40B4-BE49-F238E27FC236}">
                  <a16:creationId xmlns:a16="http://schemas.microsoft.com/office/drawing/2014/main" id="{40866860-EAF7-AEF8-A18D-09BFB900955F}"/>
                </a:ext>
              </a:extLst>
            </p:cNvPr>
            <p:cNvSpPr txBox="1">
              <a:spLocks/>
            </p:cNvSpPr>
            <p:nvPr/>
          </p:nvSpPr>
          <p:spPr>
            <a:xfrm>
              <a:off x="1041031" y="1368813"/>
              <a:ext cx="10194875" cy="388620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Bahnschrift SemiLight" panose="020B0502040204020203" pitchFamily="34" charset="0"/>
                  <a:ea typeface="+mn-ea"/>
                  <a:cs typeface="Thorndale AMT"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a:endParaRPr lang="fr-FR" sz="2000" dirty="0"/>
            </a:p>
          </p:txBody>
        </p:sp>
        <p:pic>
          <p:nvPicPr>
            <p:cNvPr id="6" name="Image 5">
              <a:extLst>
                <a:ext uri="{FF2B5EF4-FFF2-40B4-BE49-F238E27FC236}">
                  <a16:creationId xmlns:a16="http://schemas.microsoft.com/office/drawing/2014/main" id="{69D03780-2AF9-E773-983E-B7AEE02DD1D9}"/>
                </a:ext>
              </a:extLst>
            </p:cNvPr>
            <p:cNvPicPr>
              <a:picLocks noChangeAspect="1"/>
            </p:cNvPicPr>
            <p:nvPr/>
          </p:nvPicPr>
          <p:blipFill>
            <a:blip r:embed="rId3"/>
            <a:srcRect t="10581"/>
            <a:stretch>
              <a:fillRect/>
            </a:stretch>
          </p:blipFill>
          <p:spPr>
            <a:xfrm>
              <a:off x="563080" y="1440611"/>
              <a:ext cx="10790719" cy="3487835"/>
            </a:xfrm>
            <a:prstGeom prst="rect">
              <a:avLst/>
            </a:prstGeom>
          </p:spPr>
        </p:pic>
        <p:sp>
          <p:nvSpPr>
            <p:cNvPr id="4" name="Ellipse 3">
              <a:extLst>
                <a:ext uri="{FF2B5EF4-FFF2-40B4-BE49-F238E27FC236}">
                  <a16:creationId xmlns:a16="http://schemas.microsoft.com/office/drawing/2014/main" id="{812D104A-4AB7-DF43-9AB3-B582043BEC0C}"/>
                </a:ext>
              </a:extLst>
            </p:cNvPr>
            <p:cNvSpPr/>
            <p:nvPr/>
          </p:nvSpPr>
          <p:spPr>
            <a:xfrm>
              <a:off x="1906438" y="3321170"/>
              <a:ext cx="1086928" cy="362309"/>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Ellipse 6">
              <a:extLst>
                <a:ext uri="{FF2B5EF4-FFF2-40B4-BE49-F238E27FC236}">
                  <a16:creationId xmlns:a16="http://schemas.microsoft.com/office/drawing/2014/main" id="{3DA12E73-9FFE-09C9-9469-6BC73652356F}"/>
                </a:ext>
              </a:extLst>
            </p:cNvPr>
            <p:cNvSpPr/>
            <p:nvPr/>
          </p:nvSpPr>
          <p:spPr>
            <a:xfrm>
              <a:off x="4284453" y="3309668"/>
              <a:ext cx="1086928" cy="362309"/>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9" name="Ellipse 8">
              <a:extLst>
                <a:ext uri="{FF2B5EF4-FFF2-40B4-BE49-F238E27FC236}">
                  <a16:creationId xmlns:a16="http://schemas.microsoft.com/office/drawing/2014/main" id="{A9F5EFDC-6932-025B-10DE-E2D76383929C}"/>
                </a:ext>
              </a:extLst>
            </p:cNvPr>
            <p:cNvSpPr/>
            <p:nvPr/>
          </p:nvSpPr>
          <p:spPr>
            <a:xfrm>
              <a:off x="1906438" y="2598626"/>
              <a:ext cx="1086928" cy="362309"/>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1" name="Ellipse 10">
              <a:extLst>
                <a:ext uri="{FF2B5EF4-FFF2-40B4-BE49-F238E27FC236}">
                  <a16:creationId xmlns:a16="http://schemas.microsoft.com/office/drawing/2014/main" id="{35C19FDA-29FA-11ED-11DA-0CBEECBB010A}"/>
                </a:ext>
              </a:extLst>
            </p:cNvPr>
            <p:cNvSpPr/>
            <p:nvPr/>
          </p:nvSpPr>
          <p:spPr>
            <a:xfrm>
              <a:off x="7251940" y="2573346"/>
              <a:ext cx="1086928" cy="362309"/>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3" name="Ellipse 12">
              <a:extLst>
                <a:ext uri="{FF2B5EF4-FFF2-40B4-BE49-F238E27FC236}">
                  <a16:creationId xmlns:a16="http://schemas.microsoft.com/office/drawing/2014/main" id="{6796E555-9098-BA2F-5AC5-1EC1F6909748}"/>
                </a:ext>
              </a:extLst>
            </p:cNvPr>
            <p:cNvSpPr/>
            <p:nvPr/>
          </p:nvSpPr>
          <p:spPr>
            <a:xfrm>
              <a:off x="1906438" y="1850366"/>
              <a:ext cx="1086928" cy="362309"/>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7" name="Ellipse 16">
              <a:extLst>
                <a:ext uri="{FF2B5EF4-FFF2-40B4-BE49-F238E27FC236}">
                  <a16:creationId xmlns:a16="http://schemas.microsoft.com/office/drawing/2014/main" id="{168D5638-DC8B-3E8B-3BBB-BE07074F9849}"/>
                </a:ext>
              </a:extLst>
            </p:cNvPr>
            <p:cNvSpPr/>
            <p:nvPr/>
          </p:nvSpPr>
          <p:spPr>
            <a:xfrm>
              <a:off x="7217434" y="1859429"/>
              <a:ext cx="1086928" cy="362309"/>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9" name="Ellipse 18">
              <a:extLst>
                <a:ext uri="{FF2B5EF4-FFF2-40B4-BE49-F238E27FC236}">
                  <a16:creationId xmlns:a16="http://schemas.microsoft.com/office/drawing/2014/main" id="{9D91E72A-875D-62B0-5350-9B7A39299435}"/>
                </a:ext>
              </a:extLst>
            </p:cNvPr>
            <p:cNvSpPr/>
            <p:nvPr/>
          </p:nvSpPr>
          <p:spPr>
            <a:xfrm>
              <a:off x="9247515" y="2221738"/>
              <a:ext cx="1086928" cy="362309"/>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1" name="Ellipse 20">
              <a:extLst>
                <a:ext uri="{FF2B5EF4-FFF2-40B4-BE49-F238E27FC236}">
                  <a16:creationId xmlns:a16="http://schemas.microsoft.com/office/drawing/2014/main" id="{3A143C49-DC75-E9E2-B60E-E1A5E3CB7689}"/>
                </a:ext>
              </a:extLst>
            </p:cNvPr>
            <p:cNvSpPr/>
            <p:nvPr/>
          </p:nvSpPr>
          <p:spPr>
            <a:xfrm>
              <a:off x="1906438" y="2202574"/>
              <a:ext cx="1086928" cy="362309"/>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Tree>
    <p:extLst>
      <p:ext uri="{BB962C8B-B14F-4D97-AF65-F5344CB8AC3E}">
        <p14:creationId xmlns:p14="http://schemas.microsoft.com/office/powerpoint/2010/main" val="23105286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8DEF0C-9E81-D39D-21BD-D5A379EF8E80}"/>
              </a:ext>
            </a:extLst>
          </p:cNvPr>
          <p:cNvSpPr>
            <a:spLocks noGrp="1"/>
          </p:cNvSpPr>
          <p:nvPr>
            <p:ph type="title"/>
          </p:nvPr>
        </p:nvSpPr>
        <p:spPr/>
        <p:txBody>
          <a:bodyPr/>
          <a:lstStyle/>
          <a:p>
            <a:r>
              <a:rPr lang="fr-FR" sz="3600" dirty="0">
                <a:latin typeface="Bahnschrift SemiLight" panose="020B0502040204020203" pitchFamily="34" charset="0"/>
                <a:ea typeface="+mn-ea"/>
              </a:rPr>
              <a:t>Engagement numérique : un projet</a:t>
            </a:r>
          </a:p>
        </p:txBody>
      </p:sp>
      <p:pic>
        <p:nvPicPr>
          <p:cNvPr id="5" name="Image 4">
            <a:extLst>
              <a:ext uri="{FF2B5EF4-FFF2-40B4-BE49-F238E27FC236}">
                <a16:creationId xmlns:a16="http://schemas.microsoft.com/office/drawing/2014/main" id="{F28CF857-3B8B-0225-4EB1-818B87E1C079}"/>
              </a:ext>
            </a:extLst>
          </p:cNvPr>
          <p:cNvPicPr>
            <a:picLocks noChangeAspect="1"/>
          </p:cNvPicPr>
          <p:nvPr/>
        </p:nvPicPr>
        <p:blipFill>
          <a:blip r:embed="rId3"/>
          <a:stretch>
            <a:fillRect/>
          </a:stretch>
        </p:blipFill>
        <p:spPr>
          <a:xfrm>
            <a:off x="319464" y="2071237"/>
            <a:ext cx="5537912" cy="1890027"/>
          </a:xfrm>
          <a:prstGeom prst="rect">
            <a:avLst/>
          </a:prstGeom>
        </p:spPr>
      </p:pic>
      <p:pic>
        <p:nvPicPr>
          <p:cNvPr id="6" name="Image 5">
            <a:extLst>
              <a:ext uri="{FF2B5EF4-FFF2-40B4-BE49-F238E27FC236}">
                <a16:creationId xmlns:a16="http://schemas.microsoft.com/office/drawing/2014/main" id="{E750D196-7FEC-7E03-BB8E-D818AC2BDA10}"/>
              </a:ext>
            </a:extLst>
          </p:cNvPr>
          <p:cNvPicPr>
            <a:picLocks noChangeAspect="1"/>
          </p:cNvPicPr>
          <p:nvPr/>
        </p:nvPicPr>
        <p:blipFill>
          <a:blip r:embed="rId4"/>
          <a:stretch>
            <a:fillRect/>
          </a:stretch>
        </p:blipFill>
        <p:spPr>
          <a:xfrm>
            <a:off x="5857376" y="1526875"/>
            <a:ext cx="6102510" cy="2907013"/>
          </a:xfrm>
          <a:prstGeom prst="rect">
            <a:avLst/>
          </a:prstGeom>
        </p:spPr>
      </p:pic>
      <p:sp>
        <p:nvSpPr>
          <p:cNvPr id="7" name="Espace réservé du texte 2">
            <a:extLst>
              <a:ext uri="{FF2B5EF4-FFF2-40B4-BE49-F238E27FC236}">
                <a16:creationId xmlns:a16="http://schemas.microsoft.com/office/drawing/2014/main" id="{F8F1515D-5F93-BACC-27A8-441DA9442C20}"/>
              </a:ext>
            </a:extLst>
          </p:cNvPr>
          <p:cNvSpPr txBox="1">
            <a:spLocks/>
          </p:cNvSpPr>
          <p:nvPr/>
        </p:nvSpPr>
        <p:spPr>
          <a:xfrm>
            <a:off x="838200" y="4944433"/>
            <a:ext cx="10515600" cy="1470804"/>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Bahnschrift SemiLight" panose="020B0502040204020203" pitchFamily="34" charset="0"/>
                <a:ea typeface="+mn-ea"/>
                <a:cs typeface="Thorndale AMT"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342900">
              <a:buFont typeface="Wingdings" panose="05000000000000000000" pitchFamily="2" charset="2"/>
              <a:buChar char="q"/>
            </a:pPr>
            <a:r>
              <a:rPr lang="fr-FR" sz="2000" dirty="0"/>
              <a:t>L’engagement numérique ne constitue pas à ce stade à lui seul un indicateur de prédiction du décrochage ou du risque de redoublement / exclusion</a:t>
            </a:r>
          </a:p>
          <a:p>
            <a:pPr marL="571500" indent="-342900">
              <a:buFont typeface="Wingdings" panose="05000000000000000000" pitchFamily="2" charset="2"/>
              <a:buChar char="q"/>
            </a:pPr>
            <a:r>
              <a:rPr lang="fr-FR" sz="2000" dirty="0"/>
              <a:t>Mais utile dans une combinaison d’autres indicateurs (absences, certaines notes, etc.)</a:t>
            </a:r>
          </a:p>
          <a:p>
            <a:pPr marL="228600"/>
            <a:r>
              <a:rPr lang="fr-FR" sz="2000" dirty="0">
                <a:sym typeface="Wingdings" panose="05000000000000000000" pitchFamily="2" charset="2"/>
              </a:rPr>
              <a:t> Travaux à poursuivre</a:t>
            </a:r>
            <a:endParaRPr lang="fr-FR" sz="2000" dirty="0"/>
          </a:p>
          <a:p>
            <a:pPr marL="571500" indent="-342900">
              <a:buFont typeface="Wingdings" panose="05000000000000000000" pitchFamily="2" charset="2"/>
              <a:buChar char="q"/>
            </a:pPr>
            <a:endParaRPr lang="fr-FR" sz="2000" dirty="0"/>
          </a:p>
          <a:p>
            <a:pPr marL="571500" indent="-342900">
              <a:buFont typeface="Wingdings" panose="05000000000000000000" pitchFamily="2" charset="2"/>
              <a:buChar char="q"/>
            </a:pPr>
            <a:endParaRPr lang="fr-FR" sz="2000" dirty="0"/>
          </a:p>
          <a:p>
            <a:pPr marL="571500" indent="-342900">
              <a:buFont typeface="Wingdings" panose="05000000000000000000" pitchFamily="2" charset="2"/>
              <a:buChar char="q"/>
            </a:pPr>
            <a:endParaRPr lang="fr-FR" sz="2000" dirty="0"/>
          </a:p>
        </p:txBody>
      </p:sp>
    </p:spTree>
    <p:extLst>
      <p:ext uri="{BB962C8B-B14F-4D97-AF65-F5344CB8AC3E}">
        <p14:creationId xmlns:p14="http://schemas.microsoft.com/office/powerpoint/2010/main" val="2089669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75F43EFF-EDAA-EA8D-CC50-655624EB8A90}"/>
              </a:ext>
            </a:extLst>
          </p:cNvPr>
          <p:cNvSpPr>
            <a:spLocks noGrp="1"/>
          </p:cNvSpPr>
          <p:nvPr>
            <p:ph type="body" sz="quarter" idx="10"/>
          </p:nvPr>
        </p:nvSpPr>
        <p:spPr/>
        <p:txBody>
          <a:bodyPr/>
          <a:lstStyle/>
          <a:p>
            <a:pPr marL="457200" indent="-457200">
              <a:buFont typeface="Wingdings" panose="05000000000000000000" pitchFamily="2" charset="2"/>
              <a:buChar char="q"/>
            </a:pPr>
            <a:r>
              <a:rPr lang="fr-FR" dirty="0"/>
              <a:t>Vers un tableau de bord de pilotage (en lien avec les enquêtes administratives)</a:t>
            </a:r>
          </a:p>
          <a:p>
            <a:pPr marL="457200" indent="-457200">
              <a:buFont typeface="Wingdings" panose="05000000000000000000" pitchFamily="2" charset="2"/>
              <a:buChar char="q"/>
            </a:pPr>
            <a:r>
              <a:rPr lang="fr-FR" dirty="0"/>
              <a:t>Analyses économétriques</a:t>
            </a:r>
          </a:p>
          <a:p>
            <a:pPr marL="457200" indent="-457200">
              <a:buFont typeface="Wingdings" panose="05000000000000000000" pitchFamily="2" charset="2"/>
              <a:buChar char="q"/>
            </a:pPr>
            <a:r>
              <a:rPr lang="fr-FR" dirty="0"/>
              <a:t>Travaux sur la réussite à l’école à approfondir</a:t>
            </a:r>
          </a:p>
          <a:p>
            <a:pPr marL="457200" indent="-457200">
              <a:buFont typeface="Wingdings" panose="05000000000000000000" pitchFamily="2" charset="2"/>
              <a:buChar char="q"/>
            </a:pPr>
            <a:r>
              <a:rPr lang="fr-FR" dirty="0"/>
              <a:t>Réaliser une typologie/cartographie des trajectoires</a:t>
            </a:r>
          </a:p>
          <a:p>
            <a:pPr marL="457200" indent="-457200">
              <a:buFont typeface="Wingdings" panose="05000000000000000000" pitchFamily="2" charset="2"/>
              <a:buChar char="q"/>
            </a:pPr>
            <a:r>
              <a:rPr lang="fr-FR" dirty="0"/>
              <a:t>Développer les travaux sur les Learning Analytics</a:t>
            </a:r>
          </a:p>
          <a:p>
            <a:pPr marL="457200" indent="-457200">
              <a:buFont typeface="Wingdings" panose="05000000000000000000" pitchFamily="2" charset="2"/>
              <a:buChar char="q"/>
            </a:pPr>
            <a:r>
              <a:rPr lang="fr-FR" dirty="0"/>
              <a:t>Etc.</a:t>
            </a:r>
          </a:p>
          <a:p>
            <a:pPr marL="457200" indent="-457200">
              <a:buFont typeface="Wingdings" panose="05000000000000000000" pitchFamily="2" charset="2"/>
              <a:buChar char="q"/>
            </a:pPr>
            <a:endParaRPr lang="fr-FR" dirty="0"/>
          </a:p>
          <a:p>
            <a:endParaRPr lang="fr-FR" dirty="0"/>
          </a:p>
          <a:p>
            <a:endParaRPr lang="fr-FR" dirty="0"/>
          </a:p>
          <a:p>
            <a:endParaRPr lang="fr-FR" dirty="0"/>
          </a:p>
          <a:p>
            <a:r>
              <a:rPr lang="fr-FR" dirty="0">
                <a:hlinkClick r:id="rId3"/>
              </a:rPr>
              <a:t>https://chlesieur.github.io/analyse_bdd_eleves_ensai/scripts/analyses_2015_2024.html</a:t>
            </a:r>
            <a:endParaRPr lang="fr-FR" dirty="0"/>
          </a:p>
          <a:p>
            <a:endParaRPr lang="fr-FR" dirty="0"/>
          </a:p>
        </p:txBody>
      </p:sp>
      <p:sp>
        <p:nvSpPr>
          <p:cNvPr id="4" name="Titre 1">
            <a:extLst>
              <a:ext uri="{FF2B5EF4-FFF2-40B4-BE49-F238E27FC236}">
                <a16:creationId xmlns:a16="http://schemas.microsoft.com/office/drawing/2014/main" id="{EB8AE06B-FB7C-DA28-4C76-2D502597EA4C}"/>
              </a:ext>
            </a:extLst>
          </p:cNvPr>
          <p:cNvSpPr>
            <a:spLocks noGrp="1"/>
          </p:cNvSpPr>
          <p:nvPr>
            <p:ph type="title"/>
          </p:nvPr>
        </p:nvSpPr>
        <p:spPr>
          <a:xfrm>
            <a:off x="838200" y="365125"/>
            <a:ext cx="10515600" cy="1325563"/>
          </a:xfrm>
        </p:spPr>
        <p:txBody>
          <a:bodyPr/>
          <a:lstStyle/>
          <a:p>
            <a:r>
              <a:rPr lang="fr-FR" sz="3600" dirty="0">
                <a:latin typeface="Bahnschrift SemiLight" panose="020B0502040204020203" pitchFamily="34" charset="0"/>
                <a:ea typeface="+mn-ea"/>
              </a:rPr>
              <a:t>Next </a:t>
            </a:r>
            <a:r>
              <a:rPr lang="fr-FR" sz="3600" dirty="0" err="1">
                <a:latin typeface="Bahnschrift SemiLight" panose="020B0502040204020203" pitchFamily="34" charset="0"/>
                <a:ea typeface="+mn-ea"/>
              </a:rPr>
              <a:t>step</a:t>
            </a:r>
            <a:endParaRPr lang="fr-FR" sz="3600" dirty="0">
              <a:latin typeface="Bahnschrift SemiLight" panose="020B0502040204020203" pitchFamily="34" charset="0"/>
              <a:ea typeface="+mn-ea"/>
            </a:endParaRPr>
          </a:p>
        </p:txBody>
      </p:sp>
    </p:spTree>
    <p:extLst>
      <p:ext uri="{BB962C8B-B14F-4D97-AF65-F5344CB8AC3E}">
        <p14:creationId xmlns:p14="http://schemas.microsoft.com/office/powerpoint/2010/main" val="712584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9"/>
          <p:cNvSpPr>
            <a:spLocks noGrp="1"/>
          </p:cNvSpPr>
          <p:nvPr>
            <p:ph type="title"/>
          </p:nvPr>
        </p:nvSpPr>
        <p:spPr>
          <a:xfrm>
            <a:off x="6378114" y="2903489"/>
            <a:ext cx="4049785" cy="1325563"/>
          </a:xfrm>
        </p:spPr>
        <p:txBody>
          <a:bodyPr/>
          <a:lstStyle/>
          <a:p>
            <a:r>
              <a:rPr lang="fr-FR" dirty="0">
                <a:latin typeface="+mj-lt"/>
              </a:rPr>
              <a:t>Des questions ?</a:t>
            </a:r>
          </a:p>
        </p:txBody>
      </p:sp>
      <p:pic>
        <p:nvPicPr>
          <p:cNvPr id="3" name="Image 2">
            <a:extLst>
              <a:ext uri="{FF2B5EF4-FFF2-40B4-BE49-F238E27FC236}">
                <a16:creationId xmlns:a16="http://schemas.microsoft.com/office/drawing/2014/main" id="{8BB6E495-AB01-E9D1-315F-1E86D5F9840E}"/>
              </a:ext>
            </a:extLst>
          </p:cNvPr>
          <p:cNvPicPr>
            <a:picLocks noChangeAspect="1"/>
          </p:cNvPicPr>
          <p:nvPr/>
        </p:nvPicPr>
        <p:blipFill>
          <a:blip r:embed="rId3"/>
          <a:stretch>
            <a:fillRect/>
          </a:stretch>
        </p:blipFill>
        <p:spPr>
          <a:xfrm>
            <a:off x="0" y="0"/>
            <a:ext cx="5158596" cy="6860758"/>
          </a:xfrm>
          <a:prstGeom prst="rect">
            <a:avLst/>
          </a:prstGeom>
        </p:spPr>
      </p:pic>
    </p:spTree>
    <p:extLst>
      <p:ext uri="{BB962C8B-B14F-4D97-AF65-F5344CB8AC3E}">
        <p14:creationId xmlns:p14="http://schemas.microsoft.com/office/powerpoint/2010/main" val="30088036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4D640CED-1DD4-F073-AE81-D730455F0466}"/>
              </a:ext>
            </a:extLst>
          </p:cNvPr>
          <p:cNvPicPr>
            <a:picLocks noChangeAspect="1"/>
          </p:cNvPicPr>
          <p:nvPr/>
        </p:nvPicPr>
        <p:blipFill>
          <a:blip r:embed="rId2"/>
          <a:stretch>
            <a:fillRect/>
          </a:stretch>
        </p:blipFill>
        <p:spPr>
          <a:xfrm>
            <a:off x="1651022" y="1592936"/>
            <a:ext cx="8268854" cy="5106113"/>
          </a:xfrm>
          <a:prstGeom prst="rect">
            <a:avLst/>
          </a:prstGeom>
        </p:spPr>
      </p:pic>
      <p:sp>
        <p:nvSpPr>
          <p:cNvPr id="7" name="Titre 1">
            <a:extLst>
              <a:ext uri="{FF2B5EF4-FFF2-40B4-BE49-F238E27FC236}">
                <a16:creationId xmlns:a16="http://schemas.microsoft.com/office/drawing/2014/main" id="{94F34E49-5E1E-DEDD-4C87-BF52C992E59D}"/>
              </a:ext>
            </a:extLst>
          </p:cNvPr>
          <p:cNvSpPr txBox="1">
            <a:spLocks/>
          </p:cNvSpPr>
          <p:nvPr/>
        </p:nvSpPr>
        <p:spPr>
          <a:xfrm>
            <a:off x="990600" y="517525"/>
            <a:ext cx="10515600" cy="1325563"/>
          </a:xfrm>
          <a:prstGeom prst="rect">
            <a:avLst/>
          </a:prstGeom>
        </p:spPr>
        <p:txBody>
          <a:bodyPr/>
          <a:lstStyle>
            <a:lvl1pPr algn="l" defTabSz="914400" rtl="0" eaLnBrk="1" latinLnBrk="0" hangingPunct="1">
              <a:lnSpc>
                <a:spcPct val="90000"/>
              </a:lnSpc>
              <a:spcBef>
                <a:spcPct val="0"/>
              </a:spcBef>
              <a:buNone/>
              <a:defRPr sz="4000" kern="1200">
                <a:solidFill>
                  <a:schemeClr val="tx1"/>
                </a:solidFill>
                <a:latin typeface="Georgia" panose="02040502050405020303" pitchFamily="18" charset="0"/>
                <a:ea typeface="+mj-ea"/>
                <a:cs typeface="Frank Ruhl Hofshi" panose="00000500000000000000" pitchFamily="50" charset="-79"/>
              </a:defRPr>
            </a:lvl1pPr>
          </a:lstStyle>
          <a:p>
            <a:r>
              <a:rPr lang="fr-FR" sz="3600" dirty="0">
                <a:latin typeface="Bahnschrift SemiLight" panose="020B0502040204020203" pitchFamily="34" charset="0"/>
                <a:ea typeface="+mn-ea"/>
              </a:rPr>
              <a:t>Réussite en 1A en fonction du rang au concours</a:t>
            </a:r>
          </a:p>
        </p:txBody>
      </p:sp>
    </p:spTree>
    <p:extLst>
      <p:ext uri="{BB962C8B-B14F-4D97-AF65-F5344CB8AC3E}">
        <p14:creationId xmlns:p14="http://schemas.microsoft.com/office/powerpoint/2010/main" val="3606319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15A8EEDF-76D8-68CE-BCC7-78A139151EAC}"/>
              </a:ext>
            </a:extLst>
          </p:cNvPr>
          <p:cNvPicPr>
            <a:picLocks noChangeAspect="1"/>
          </p:cNvPicPr>
          <p:nvPr/>
        </p:nvPicPr>
        <p:blipFill>
          <a:blip r:embed="rId2"/>
          <a:stretch>
            <a:fillRect/>
          </a:stretch>
        </p:blipFill>
        <p:spPr>
          <a:xfrm>
            <a:off x="1710820" y="1612178"/>
            <a:ext cx="8278380" cy="5087060"/>
          </a:xfrm>
          <a:prstGeom prst="rect">
            <a:avLst/>
          </a:prstGeom>
        </p:spPr>
      </p:pic>
      <p:sp>
        <p:nvSpPr>
          <p:cNvPr id="9" name="Titre 8">
            <a:extLst>
              <a:ext uri="{FF2B5EF4-FFF2-40B4-BE49-F238E27FC236}">
                <a16:creationId xmlns:a16="http://schemas.microsoft.com/office/drawing/2014/main" id="{26FEB75D-F224-A7F0-BD27-8A07F8F82DA9}"/>
              </a:ext>
            </a:extLst>
          </p:cNvPr>
          <p:cNvSpPr>
            <a:spLocks noGrp="1"/>
          </p:cNvSpPr>
          <p:nvPr>
            <p:ph type="title"/>
          </p:nvPr>
        </p:nvSpPr>
        <p:spPr/>
        <p:txBody>
          <a:bodyPr/>
          <a:lstStyle/>
          <a:p>
            <a:endParaRPr lang="fr-FR"/>
          </a:p>
        </p:txBody>
      </p:sp>
      <p:sp>
        <p:nvSpPr>
          <p:cNvPr id="11" name="Titre 1">
            <a:extLst>
              <a:ext uri="{FF2B5EF4-FFF2-40B4-BE49-F238E27FC236}">
                <a16:creationId xmlns:a16="http://schemas.microsoft.com/office/drawing/2014/main" id="{3FFFF9AE-FF37-66F3-D388-1E4767AE8178}"/>
              </a:ext>
            </a:extLst>
          </p:cNvPr>
          <p:cNvSpPr txBox="1">
            <a:spLocks/>
          </p:cNvSpPr>
          <p:nvPr/>
        </p:nvSpPr>
        <p:spPr>
          <a:xfrm>
            <a:off x="990600" y="517525"/>
            <a:ext cx="10515600" cy="1325563"/>
          </a:xfrm>
          <a:prstGeom prst="rect">
            <a:avLst/>
          </a:prstGeom>
        </p:spPr>
        <p:txBody>
          <a:bodyPr/>
          <a:lstStyle>
            <a:lvl1pPr algn="l" defTabSz="914400" rtl="0" eaLnBrk="1" latinLnBrk="0" hangingPunct="1">
              <a:lnSpc>
                <a:spcPct val="90000"/>
              </a:lnSpc>
              <a:spcBef>
                <a:spcPct val="0"/>
              </a:spcBef>
              <a:buNone/>
              <a:defRPr sz="4000" kern="1200">
                <a:solidFill>
                  <a:schemeClr val="tx1"/>
                </a:solidFill>
                <a:latin typeface="Georgia" panose="02040502050405020303" pitchFamily="18" charset="0"/>
                <a:ea typeface="+mj-ea"/>
                <a:cs typeface="Frank Ruhl Hofshi" panose="00000500000000000000" pitchFamily="50" charset="-79"/>
              </a:defRPr>
            </a:lvl1pPr>
          </a:lstStyle>
          <a:p>
            <a:r>
              <a:rPr lang="fr-FR" sz="3600" dirty="0">
                <a:latin typeface="Bahnschrift SemiLight" panose="020B0502040204020203" pitchFamily="34" charset="0"/>
                <a:ea typeface="+mn-ea"/>
              </a:rPr>
              <a:t>Réussite en 1A en fonction du rang au concours</a:t>
            </a:r>
          </a:p>
          <a:p>
            <a:r>
              <a:rPr lang="fr-FR" sz="2000" dirty="0">
                <a:latin typeface="Bahnschrift SemiLight" panose="020B0502040204020203" pitchFamily="34" charset="0"/>
                <a:ea typeface="+mn-ea"/>
              </a:rPr>
              <a:t>Régression linéaire</a:t>
            </a:r>
          </a:p>
        </p:txBody>
      </p:sp>
    </p:spTree>
    <p:extLst>
      <p:ext uri="{BB962C8B-B14F-4D97-AF65-F5344CB8AC3E}">
        <p14:creationId xmlns:p14="http://schemas.microsoft.com/office/powerpoint/2010/main" val="18508077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FB69D952-7CDD-5785-D469-835DFB9C108A}"/>
              </a:ext>
            </a:extLst>
          </p:cNvPr>
          <p:cNvSpPr>
            <a:spLocks noGrp="1"/>
          </p:cNvSpPr>
          <p:nvPr>
            <p:ph type="body" sz="quarter" idx="10"/>
          </p:nvPr>
        </p:nvSpPr>
        <p:spPr>
          <a:xfrm>
            <a:off x="685800" y="1423598"/>
            <a:ext cx="10515600" cy="3886200"/>
          </a:xfrm>
        </p:spPr>
        <p:txBody>
          <a:bodyPr/>
          <a:lstStyle/>
          <a:p>
            <a:pPr marL="285750" indent="-285750">
              <a:buFont typeface="Arial" panose="020B0604020202020204" pitchFamily="34" charset="0"/>
              <a:buChar char="•"/>
            </a:pPr>
            <a:r>
              <a:rPr lang="fr-FR" sz="1600" dirty="0"/>
              <a:t>Très faible qualité d’ajustement des modèles de régression (R2 = 0,05)</a:t>
            </a:r>
          </a:p>
          <a:p>
            <a:pPr marL="285750" indent="-285750">
              <a:buFont typeface="Arial" panose="020B0604020202020204" pitchFamily="34" charset="0"/>
              <a:buChar char="•"/>
            </a:pPr>
            <a:r>
              <a:rPr lang="fr-FR" sz="1600" dirty="0"/>
              <a:t>Pour autant, quel que soit les périodes, le lien est toujours significatif avec une pente très faible de l'ordre de 0,03 entre le rang en première année (ou la moyenne générale) et le rang d'admission au concours (MP, PC, PSI, BL, D2).</a:t>
            </a:r>
          </a:p>
          <a:p>
            <a:pPr marL="285750" indent="-285750">
              <a:buFont typeface="Arial" panose="020B0604020202020204" pitchFamily="34" charset="0"/>
              <a:buChar char="•"/>
            </a:pPr>
            <a:r>
              <a:rPr lang="fr-FR" sz="1600" dirty="0"/>
              <a:t>En revanche, le lien entre la réussite en 2A et la réussite en 1A est très net (R2 &gt; 0,5).</a:t>
            </a:r>
          </a:p>
          <a:p>
            <a:r>
              <a:rPr lang="fr-FR" sz="1600" dirty="0">
                <a:sym typeface="Wingdings" panose="05000000000000000000" pitchFamily="2" charset="2"/>
              </a:rPr>
              <a:t> </a:t>
            </a:r>
            <a:r>
              <a:rPr lang="fr-FR" sz="1600" dirty="0"/>
              <a:t>Parmi les hypothèses qui pourraient expliquer l'absence de lien entre la réussite à l'ENSAI et le rang au concours :</a:t>
            </a:r>
          </a:p>
          <a:p>
            <a:pPr marL="285750" indent="-285750">
              <a:buFontTx/>
              <a:buChar char="-"/>
            </a:pPr>
            <a:r>
              <a:rPr lang="fr-FR" sz="1600" dirty="0"/>
              <a:t>L'essentiel des promotions étant constitués de MP classés via un concours commun (CCINP), l'écart entre le meilleur admis et le moins bon admis n'est peut-être pas énorme</a:t>
            </a:r>
          </a:p>
          <a:p>
            <a:pPr marL="285750" indent="-285750">
              <a:buFontTx/>
              <a:buChar char="-"/>
            </a:pPr>
            <a:r>
              <a:rPr lang="fr-FR" sz="1600" dirty="0"/>
              <a:t>Et peut-être que cet écart ne se fait pas sur des matières qui procurent un avantage comparatif à l'ENSAI (les différences peuvent se faire sur des matières comme la culture générale, la physique, etc.)</a:t>
            </a:r>
          </a:p>
          <a:p>
            <a:r>
              <a:rPr lang="fr-FR" sz="1600" i="1" dirty="0">
                <a:sym typeface="Wingdings" panose="05000000000000000000" pitchFamily="2" charset="2"/>
              </a:rPr>
              <a:t> </a:t>
            </a:r>
            <a:r>
              <a:rPr lang="fr-FR" sz="1600" i="1" dirty="0"/>
              <a:t>Ces éléments militent pour disposer des notes aux différentes épreuves des concours si on veut affiner l'analyse</a:t>
            </a:r>
          </a:p>
          <a:p>
            <a:pPr marL="285750" indent="-285750">
              <a:buFontTx/>
              <a:buChar char="-"/>
            </a:pPr>
            <a:r>
              <a:rPr lang="fr-FR" sz="1600" dirty="0"/>
              <a:t>Une autre hypothèse qui n'exclue pas les deux premières est celle d'un relâchement post CPGE pour certains étudiants, et inversement de comportements plus studieux pour les élèves issus d'autres voies (BUT/Interne par exemple)</a:t>
            </a:r>
          </a:p>
          <a:p>
            <a:r>
              <a:rPr lang="fr-FR" sz="1600" dirty="0">
                <a:sym typeface="Wingdings" panose="05000000000000000000" pitchFamily="2" charset="2"/>
              </a:rPr>
              <a:t></a:t>
            </a:r>
            <a:r>
              <a:rPr lang="fr-FR" sz="1600" dirty="0"/>
              <a:t>Cela militerait pour un discours adapté à l'entrée pour prendre en compte cette dimension et limiter les comportements de « touristes »  On s'intéressera aux profils de ces élèves pour comprendre un peu mieux la trajectoire depuis la réussite au concours jusqu'à l'obtention du master et de sa spécialité.</a:t>
            </a:r>
          </a:p>
        </p:txBody>
      </p:sp>
      <p:sp>
        <p:nvSpPr>
          <p:cNvPr id="4" name="Titre 1">
            <a:extLst>
              <a:ext uri="{FF2B5EF4-FFF2-40B4-BE49-F238E27FC236}">
                <a16:creationId xmlns:a16="http://schemas.microsoft.com/office/drawing/2014/main" id="{981DE5A5-CD05-13BB-F373-8CB359956D9E}"/>
              </a:ext>
            </a:extLst>
          </p:cNvPr>
          <p:cNvSpPr txBox="1">
            <a:spLocks/>
          </p:cNvSpPr>
          <p:nvPr/>
        </p:nvSpPr>
        <p:spPr>
          <a:xfrm>
            <a:off x="990600" y="517525"/>
            <a:ext cx="10515600" cy="1325563"/>
          </a:xfrm>
          <a:prstGeom prst="rect">
            <a:avLst/>
          </a:prstGeom>
        </p:spPr>
        <p:txBody>
          <a:bodyPr/>
          <a:lstStyle>
            <a:lvl1pPr algn="l" defTabSz="914400" rtl="0" eaLnBrk="1" latinLnBrk="0" hangingPunct="1">
              <a:lnSpc>
                <a:spcPct val="90000"/>
              </a:lnSpc>
              <a:spcBef>
                <a:spcPct val="0"/>
              </a:spcBef>
              <a:buNone/>
              <a:defRPr sz="4000" kern="1200">
                <a:solidFill>
                  <a:schemeClr val="tx1"/>
                </a:solidFill>
                <a:latin typeface="Georgia" panose="02040502050405020303" pitchFamily="18" charset="0"/>
                <a:ea typeface="+mj-ea"/>
                <a:cs typeface="Frank Ruhl Hofshi" panose="00000500000000000000" pitchFamily="50" charset="-79"/>
              </a:defRPr>
            </a:lvl1pPr>
          </a:lstStyle>
          <a:p>
            <a:r>
              <a:rPr lang="fr-FR" sz="3600" dirty="0">
                <a:latin typeface="Bahnschrift SemiLight" panose="020B0502040204020203" pitchFamily="34" charset="0"/>
                <a:ea typeface="+mn-ea"/>
              </a:rPr>
              <a:t>Réussite en 1A en fonction du rang au concours</a:t>
            </a:r>
          </a:p>
          <a:p>
            <a:r>
              <a:rPr lang="fr-FR" sz="2000" dirty="0">
                <a:latin typeface="Bahnschrift SemiLight" panose="020B0502040204020203" pitchFamily="34" charset="0"/>
                <a:ea typeface="+mn-ea"/>
              </a:rPr>
              <a:t>Régression linéaire</a:t>
            </a:r>
          </a:p>
        </p:txBody>
      </p:sp>
    </p:spTree>
    <p:extLst>
      <p:ext uri="{BB962C8B-B14F-4D97-AF65-F5344CB8AC3E}">
        <p14:creationId xmlns:p14="http://schemas.microsoft.com/office/powerpoint/2010/main" val="13026847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5424FCDE-6101-6570-E3A6-DF98F018B8C2}"/>
              </a:ext>
            </a:extLst>
          </p:cNvPr>
          <p:cNvSpPr>
            <a:spLocks noGrp="1"/>
          </p:cNvSpPr>
          <p:nvPr>
            <p:ph type="body" sz="quarter" idx="10"/>
          </p:nvPr>
        </p:nvSpPr>
        <p:spPr/>
        <p:txBody>
          <a:bodyPr/>
          <a:lstStyle/>
          <a:p>
            <a:pPr marL="457200" indent="-457200">
              <a:buFont typeface="Arial" panose="020B0604020202020204" pitchFamily="34" charset="0"/>
              <a:buChar char="•"/>
            </a:pPr>
            <a:r>
              <a:rPr lang="fr-FR" dirty="0"/>
              <a:t>On classe en quatre catégorie : "Très bon", "Bon", "Moyen", "Moins bon"</a:t>
            </a:r>
          </a:p>
          <a:p>
            <a:pPr marL="457200" indent="-457200">
              <a:buFont typeface="Arial" panose="020B0604020202020204" pitchFamily="34" charset="0"/>
              <a:buChar char="•"/>
            </a:pPr>
            <a:r>
              <a:rPr lang="fr-FR" dirty="0"/>
              <a:t>L'hypothèse nulle ("tous les profil_1A ont le même rang moyen au concours est rejetée), la probabilité d'observer une telle différence par hasard est de 0,003%.En revanche, η² = 0.027 : 2,7% de la variance du </a:t>
            </a:r>
            <a:r>
              <a:rPr lang="fr-FR" dirty="0" err="1"/>
              <a:t>rang_cc</a:t>
            </a:r>
            <a:r>
              <a:rPr lang="fr-FR" dirty="0"/>
              <a:t> est expliquée par le profil_1A. </a:t>
            </a:r>
          </a:p>
          <a:p>
            <a:r>
              <a:rPr lang="fr-FR" dirty="0"/>
              <a:t>→ Effet très faible</a:t>
            </a:r>
          </a:p>
        </p:txBody>
      </p:sp>
      <p:sp>
        <p:nvSpPr>
          <p:cNvPr id="7" name="Titre 1">
            <a:extLst>
              <a:ext uri="{FF2B5EF4-FFF2-40B4-BE49-F238E27FC236}">
                <a16:creationId xmlns:a16="http://schemas.microsoft.com/office/drawing/2014/main" id="{25CD4711-E92B-5137-EE17-BEBE70BF3C73}"/>
              </a:ext>
            </a:extLst>
          </p:cNvPr>
          <p:cNvSpPr txBox="1">
            <a:spLocks/>
          </p:cNvSpPr>
          <p:nvPr/>
        </p:nvSpPr>
        <p:spPr>
          <a:xfrm>
            <a:off x="990600" y="517525"/>
            <a:ext cx="10515600" cy="1325563"/>
          </a:xfrm>
          <a:prstGeom prst="rect">
            <a:avLst/>
          </a:prstGeom>
        </p:spPr>
        <p:txBody>
          <a:bodyPr/>
          <a:lstStyle>
            <a:lvl1pPr algn="l" defTabSz="914400" rtl="0" eaLnBrk="1" latinLnBrk="0" hangingPunct="1">
              <a:lnSpc>
                <a:spcPct val="90000"/>
              </a:lnSpc>
              <a:spcBef>
                <a:spcPct val="0"/>
              </a:spcBef>
              <a:buNone/>
              <a:defRPr sz="4000" kern="1200">
                <a:solidFill>
                  <a:schemeClr val="tx1"/>
                </a:solidFill>
                <a:latin typeface="Georgia" panose="02040502050405020303" pitchFamily="18" charset="0"/>
                <a:ea typeface="+mj-ea"/>
                <a:cs typeface="Frank Ruhl Hofshi" panose="00000500000000000000" pitchFamily="50" charset="-79"/>
              </a:defRPr>
            </a:lvl1pPr>
          </a:lstStyle>
          <a:p>
            <a:r>
              <a:rPr lang="fr-FR" sz="3600" dirty="0">
                <a:latin typeface="Bahnschrift SemiLight" panose="020B0502040204020203" pitchFamily="34" charset="0"/>
                <a:ea typeface="+mn-ea"/>
              </a:rPr>
              <a:t>Réussite en 1A en fonction du rang au concours</a:t>
            </a:r>
          </a:p>
          <a:p>
            <a:r>
              <a:rPr lang="fr-FR" sz="3600" dirty="0">
                <a:latin typeface="Bahnschrift SemiLight" panose="020B0502040204020203" pitchFamily="34" charset="0"/>
                <a:ea typeface="+mn-ea"/>
              </a:rPr>
              <a:t>Anova</a:t>
            </a:r>
          </a:p>
        </p:txBody>
      </p:sp>
    </p:spTree>
    <p:extLst>
      <p:ext uri="{BB962C8B-B14F-4D97-AF65-F5344CB8AC3E}">
        <p14:creationId xmlns:p14="http://schemas.microsoft.com/office/powerpoint/2010/main" val="37257986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298931CA-4479-BD9F-FBF7-C73BC37C43E7}"/>
              </a:ext>
            </a:extLst>
          </p:cNvPr>
          <p:cNvSpPr>
            <a:spLocks noGrp="1"/>
          </p:cNvSpPr>
          <p:nvPr>
            <p:ph type="body" sz="quarter" idx="10"/>
          </p:nvPr>
        </p:nvSpPr>
        <p:spPr>
          <a:xfrm>
            <a:off x="838200" y="1617361"/>
            <a:ext cx="10515600" cy="4955967"/>
          </a:xfrm>
        </p:spPr>
        <p:txBody>
          <a:bodyPr/>
          <a:lstStyle/>
          <a:p>
            <a:r>
              <a:rPr lang="fr-FR" sz="1400" dirty="0"/>
              <a:t>L'ANOVA nous permet : </a:t>
            </a:r>
          </a:p>
          <a:p>
            <a:pPr marL="285750" indent="-285750">
              <a:buFontTx/>
              <a:buChar char="-"/>
            </a:pPr>
            <a:r>
              <a:rPr lang="fr-FR" sz="1400" dirty="0"/>
              <a:t>d'identifier une plus grande disparité dans le groupe des moins bons</a:t>
            </a:r>
          </a:p>
          <a:p>
            <a:pPr marL="285750" indent="-285750">
              <a:buFontTx/>
              <a:buChar char="-"/>
            </a:pPr>
            <a:r>
              <a:rPr lang="fr-FR" sz="1400" dirty="0"/>
              <a:t>- de visualiser une légère association avec de forts intervalles de confiance</a:t>
            </a:r>
          </a:p>
          <a:p>
            <a:endParaRPr lang="fr-FR" sz="1400" dirty="0"/>
          </a:p>
          <a:p>
            <a:endParaRPr lang="fr-FR" sz="1400" dirty="0"/>
          </a:p>
          <a:p>
            <a:endParaRPr lang="fr-FR" sz="1400" dirty="0"/>
          </a:p>
          <a:p>
            <a:endParaRPr lang="fr-FR" sz="1400" dirty="0"/>
          </a:p>
          <a:p>
            <a:endParaRPr lang="fr-FR" sz="1400" dirty="0"/>
          </a:p>
          <a:p>
            <a:endParaRPr lang="fr-FR" sz="1400" dirty="0"/>
          </a:p>
          <a:p>
            <a:endParaRPr lang="fr-FR" sz="1400" dirty="0"/>
          </a:p>
          <a:p>
            <a:endParaRPr lang="fr-FR" sz="1400" dirty="0"/>
          </a:p>
          <a:p>
            <a:endParaRPr lang="fr-FR" sz="1400" dirty="0"/>
          </a:p>
          <a:p>
            <a:endParaRPr lang="fr-FR" sz="1400" dirty="0"/>
          </a:p>
          <a:p>
            <a:endParaRPr lang="fr-FR" sz="1400" dirty="0"/>
          </a:p>
          <a:p>
            <a:r>
              <a:rPr lang="fr-FR" sz="1400" dirty="0"/>
              <a:t>Le test de Levene vérifie l'homogénéité des variances entre les groupes (ici, les 4 profils : "Très bon", "Bon", "Moyen", "Moins bon").Hypothèse nulle (H₀) : Les variances des groupes sont </a:t>
            </a:r>
            <a:r>
              <a:rPr lang="fr-FR" sz="1400" dirty="0" err="1"/>
              <a:t>égales.p</a:t>
            </a:r>
            <a:r>
              <a:rPr lang="fr-FR" sz="1400" dirty="0"/>
              <a:t>-value = 0.029 : → H₀ est rejetée au seuil de 5% (car 0.029 &lt; 0.05). Les variances ne sont pas homogènes entre les profils. Donc même l'</a:t>
            </a:r>
            <a:r>
              <a:rPr lang="fr-FR" sz="1400" dirty="0" err="1"/>
              <a:t>anova</a:t>
            </a:r>
            <a:r>
              <a:rPr lang="fr-FR" sz="1400" dirty="0"/>
              <a:t> est peu valide statistiquement.</a:t>
            </a:r>
          </a:p>
        </p:txBody>
      </p:sp>
      <p:pic>
        <p:nvPicPr>
          <p:cNvPr id="5" name="Image 4">
            <a:extLst>
              <a:ext uri="{FF2B5EF4-FFF2-40B4-BE49-F238E27FC236}">
                <a16:creationId xmlns:a16="http://schemas.microsoft.com/office/drawing/2014/main" id="{A0A98CAF-7DE7-487A-2A15-AA37318A0623}"/>
              </a:ext>
            </a:extLst>
          </p:cNvPr>
          <p:cNvPicPr>
            <a:picLocks noChangeAspect="1"/>
          </p:cNvPicPr>
          <p:nvPr/>
        </p:nvPicPr>
        <p:blipFill>
          <a:blip r:embed="rId2"/>
          <a:stretch>
            <a:fillRect/>
          </a:stretch>
        </p:blipFill>
        <p:spPr>
          <a:xfrm>
            <a:off x="3229898" y="2701954"/>
            <a:ext cx="5507915" cy="3384611"/>
          </a:xfrm>
          <a:prstGeom prst="rect">
            <a:avLst/>
          </a:prstGeom>
        </p:spPr>
      </p:pic>
      <p:sp>
        <p:nvSpPr>
          <p:cNvPr id="10" name="Titre 1">
            <a:extLst>
              <a:ext uri="{FF2B5EF4-FFF2-40B4-BE49-F238E27FC236}">
                <a16:creationId xmlns:a16="http://schemas.microsoft.com/office/drawing/2014/main" id="{16B80C7D-9181-91DB-9677-2343A4038EE3}"/>
              </a:ext>
            </a:extLst>
          </p:cNvPr>
          <p:cNvSpPr txBox="1">
            <a:spLocks/>
          </p:cNvSpPr>
          <p:nvPr/>
        </p:nvSpPr>
        <p:spPr>
          <a:xfrm>
            <a:off x="990600" y="517525"/>
            <a:ext cx="10515600" cy="1325563"/>
          </a:xfrm>
          <a:prstGeom prst="rect">
            <a:avLst/>
          </a:prstGeom>
        </p:spPr>
        <p:txBody>
          <a:bodyPr/>
          <a:lstStyle>
            <a:lvl1pPr algn="l" defTabSz="914400" rtl="0" eaLnBrk="1" latinLnBrk="0" hangingPunct="1">
              <a:lnSpc>
                <a:spcPct val="90000"/>
              </a:lnSpc>
              <a:spcBef>
                <a:spcPct val="0"/>
              </a:spcBef>
              <a:buNone/>
              <a:defRPr sz="4000" kern="1200">
                <a:solidFill>
                  <a:schemeClr val="tx1"/>
                </a:solidFill>
                <a:latin typeface="Georgia" panose="02040502050405020303" pitchFamily="18" charset="0"/>
                <a:ea typeface="+mj-ea"/>
                <a:cs typeface="Frank Ruhl Hofshi" panose="00000500000000000000" pitchFamily="50" charset="-79"/>
              </a:defRPr>
            </a:lvl1pPr>
          </a:lstStyle>
          <a:p>
            <a:r>
              <a:rPr lang="fr-FR" sz="3600" dirty="0">
                <a:latin typeface="Bahnschrift SemiLight" panose="020B0502040204020203" pitchFamily="34" charset="0"/>
                <a:ea typeface="+mn-ea"/>
              </a:rPr>
              <a:t>Réussite en 1A en fonction du rang au concours</a:t>
            </a:r>
          </a:p>
          <a:p>
            <a:r>
              <a:rPr lang="fr-FR" sz="3600" dirty="0">
                <a:latin typeface="Bahnschrift SemiLight" panose="020B0502040204020203" pitchFamily="34" charset="0"/>
                <a:ea typeface="+mn-ea"/>
              </a:rPr>
              <a:t>Anova</a:t>
            </a:r>
          </a:p>
        </p:txBody>
      </p:sp>
    </p:spTree>
    <p:extLst>
      <p:ext uri="{BB962C8B-B14F-4D97-AF65-F5344CB8AC3E}">
        <p14:creationId xmlns:p14="http://schemas.microsoft.com/office/powerpoint/2010/main" val="6202338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609B629E-E9D0-79C7-3EE4-2A6065F64375}"/>
              </a:ext>
            </a:extLst>
          </p:cNvPr>
          <p:cNvPicPr>
            <a:picLocks noChangeAspect="1"/>
          </p:cNvPicPr>
          <p:nvPr/>
        </p:nvPicPr>
        <p:blipFill>
          <a:blip r:embed="rId2"/>
          <a:stretch>
            <a:fillRect/>
          </a:stretch>
        </p:blipFill>
        <p:spPr>
          <a:xfrm>
            <a:off x="1720106" y="1357224"/>
            <a:ext cx="8055016" cy="4983251"/>
          </a:xfrm>
          <a:prstGeom prst="rect">
            <a:avLst/>
          </a:prstGeom>
        </p:spPr>
      </p:pic>
      <p:sp>
        <p:nvSpPr>
          <p:cNvPr id="7" name="Titre 1">
            <a:extLst>
              <a:ext uri="{FF2B5EF4-FFF2-40B4-BE49-F238E27FC236}">
                <a16:creationId xmlns:a16="http://schemas.microsoft.com/office/drawing/2014/main" id="{D3259385-527B-E4B4-5124-C160C8C833DE}"/>
              </a:ext>
            </a:extLst>
          </p:cNvPr>
          <p:cNvSpPr txBox="1">
            <a:spLocks/>
          </p:cNvSpPr>
          <p:nvPr/>
        </p:nvSpPr>
        <p:spPr>
          <a:xfrm>
            <a:off x="990600" y="517525"/>
            <a:ext cx="10515600" cy="1325563"/>
          </a:xfrm>
          <a:prstGeom prst="rect">
            <a:avLst/>
          </a:prstGeom>
        </p:spPr>
        <p:txBody>
          <a:bodyPr/>
          <a:lstStyle>
            <a:lvl1pPr algn="l" defTabSz="914400" rtl="0" eaLnBrk="1" latinLnBrk="0" hangingPunct="1">
              <a:lnSpc>
                <a:spcPct val="90000"/>
              </a:lnSpc>
              <a:spcBef>
                <a:spcPct val="0"/>
              </a:spcBef>
              <a:buNone/>
              <a:defRPr sz="4000" kern="1200">
                <a:solidFill>
                  <a:schemeClr val="tx1"/>
                </a:solidFill>
                <a:latin typeface="Georgia" panose="02040502050405020303" pitchFamily="18" charset="0"/>
                <a:ea typeface="+mj-ea"/>
                <a:cs typeface="Frank Ruhl Hofshi" panose="00000500000000000000" pitchFamily="50" charset="-79"/>
              </a:defRPr>
            </a:lvl1pPr>
          </a:lstStyle>
          <a:p>
            <a:r>
              <a:rPr lang="fr-FR" sz="3600" dirty="0">
                <a:latin typeface="Bahnschrift SemiLight" panose="020B0502040204020203" pitchFamily="34" charset="0"/>
                <a:ea typeface="+mn-ea"/>
              </a:rPr>
              <a:t>Voie d’admission et profil académique</a:t>
            </a:r>
          </a:p>
        </p:txBody>
      </p:sp>
    </p:spTree>
    <p:extLst>
      <p:ext uri="{BB962C8B-B14F-4D97-AF65-F5344CB8AC3E}">
        <p14:creationId xmlns:p14="http://schemas.microsoft.com/office/powerpoint/2010/main" val="12646913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BEBD3F9F-58AE-6785-8273-1393D13C7F27}"/>
              </a:ext>
            </a:extLst>
          </p:cNvPr>
          <p:cNvPicPr>
            <a:picLocks noChangeAspect="1"/>
          </p:cNvPicPr>
          <p:nvPr/>
        </p:nvPicPr>
        <p:blipFill>
          <a:blip r:embed="rId2"/>
          <a:stretch>
            <a:fillRect/>
          </a:stretch>
        </p:blipFill>
        <p:spPr>
          <a:xfrm>
            <a:off x="1841108" y="1027906"/>
            <a:ext cx="8240275" cy="5077534"/>
          </a:xfrm>
          <a:prstGeom prst="rect">
            <a:avLst/>
          </a:prstGeom>
        </p:spPr>
      </p:pic>
      <p:sp>
        <p:nvSpPr>
          <p:cNvPr id="7" name="Titre 1">
            <a:extLst>
              <a:ext uri="{FF2B5EF4-FFF2-40B4-BE49-F238E27FC236}">
                <a16:creationId xmlns:a16="http://schemas.microsoft.com/office/drawing/2014/main" id="{2375169E-CACC-8A67-D536-A33EB9CAFC1D}"/>
              </a:ext>
            </a:extLst>
          </p:cNvPr>
          <p:cNvSpPr txBox="1">
            <a:spLocks/>
          </p:cNvSpPr>
          <p:nvPr/>
        </p:nvSpPr>
        <p:spPr>
          <a:xfrm>
            <a:off x="990600" y="517525"/>
            <a:ext cx="10515600" cy="1325563"/>
          </a:xfrm>
          <a:prstGeom prst="rect">
            <a:avLst/>
          </a:prstGeom>
        </p:spPr>
        <p:txBody>
          <a:bodyPr/>
          <a:lstStyle>
            <a:lvl1pPr algn="l" defTabSz="914400" rtl="0" eaLnBrk="1" latinLnBrk="0" hangingPunct="1">
              <a:lnSpc>
                <a:spcPct val="90000"/>
              </a:lnSpc>
              <a:spcBef>
                <a:spcPct val="0"/>
              </a:spcBef>
              <a:buNone/>
              <a:defRPr sz="4000" kern="1200">
                <a:solidFill>
                  <a:schemeClr val="tx1"/>
                </a:solidFill>
                <a:latin typeface="Georgia" panose="02040502050405020303" pitchFamily="18" charset="0"/>
                <a:ea typeface="+mj-ea"/>
                <a:cs typeface="Frank Ruhl Hofshi" panose="00000500000000000000" pitchFamily="50" charset="-79"/>
              </a:defRPr>
            </a:lvl1pPr>
          </a:lstStyle>
          <a:p>
            <a:r>
              <a:rPr lang="fr-FR" sz="3600" dirty="0">
                <a:latin typeface="Bahnschrift SemiLight" panose="020B0502040204020203" pitchFamily="34" charset="0"/>
                <a:ea typeface="+mn-ea"/>
              </a:rPr>
              <a:t>Voie d’admission et profil académique</a:t>
            </a:r>
          </a:p>
        </p:txBody>
      </p:sp>
    </p:spTree>
    <p:extLst>
      <p:ext uri="{BB962C8B-B14F-4D97-AF65-F5344CB8AC3E}">
        <p14:creationId xmlns:p14="http://schemas.microsoft.com/office/powerpoint/2010/main" val="18270449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90215-25F6-70BF-2CB7-A957858FC3C6}"/>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F5094517-52A7-A624-4B96-0F7D76A0DE7B}"/>
              </a:ext>
            </a:extLst>
          </p:cNvPr>
          <p:cNvPicPr>
            <a:picLocks noChangeAspect="1"/>
          </p:cNvPicPr>
          <p:nvPr/>
        </p:nvPicPr>
        <p:blipFill>
          <a:blip r:embed="rId2"/>
          <a:stretch>
            <a:fillRect/>
          </a:stretch>
        </p:blipFill>
        <p:spPr>
          <a:xfrm>
            <a:off x="1370940" y="1838103"/>
            <a:ext cx="9450119" cy="3181794"/>
          </a:xfrm>
          <a:prstGeom prst="rect">
            <a:avLst/>
          </a:prstGeom>
        </p:spPr>
      </p:pic>
      <p:pic>
        <p:nvPicPr>
          <p:cNvPr id="6" name="Image 5">
            <a:extLst>
              <a:ext uri="{FF2B5EF4-FFF2-40B4-BE49-F238E27FC236}">
                <a16:creationId xmlns:a16="http://schemas.microsoft.com/office/drawing/2014/main" id="{2CFD66DC-A1AE-E5E9-7F88-BEF2EB621C0A}"/>
              </a:ext>
            </a:extLst>
          </p:cNvPr>
          <p:cNvPicPr>
            <a:picLocks noChangeAspect="1"/>
          </p:cNvPicPr>
          <p:nvPr/>
        </p:nvPicPr>
        <p:blipFill>
          <a:blip r:embed="rId2"/>
          <a:stretch>
            <a:fillRect/>
          </a:stretch>
        </p:blipFill>
        <p:spPr>
          <a:xfrm>
            <a:off x="1370940" y="1838103"/>
            <a:ext cx="9450119" cy="3181794"/>
          </a:xfrm>
          <a:prstGeom prst="rect">
            <a:avLst/>
          </a:prstGeom>
        </p:spPr>
      </p:pic>
      <p:pic>
        <p:nvPicPr>
          <p:cNvPr id="8" name="Image 7">
            <a:extLst>
              <a:ext uri="{FF2B5EF4-FFF2-40B4-BE49-F238E27FC236}">
                <a16:creationId xmlns:a16="http://schemas.microsoft.com/office/drawing/2014/main" id="{FD721124-2047-3F91-6ADE-A53A5982D54B}"/>
              </a:ext>
            </a:extLst>
          </p:cNvPr>
          <p:cNvPicPr>
            <a:picLocks noChangeAspect="1"/>
          </p:cNvPicPr>
          <p:nvPr/>
        </p:nvPicPr>
        <p:blipFill>
          <a:blip r:embed="rId2"/>
          <a:stretch>
            <a:fillRect/>
          </a:stretch>
        </p:blipFill>
        <p:spPr>
          <a:xfrm>
            <a:off x="827475" y="1838103"/>
            <a:ext cx="10272000" cy="3458516"/>
          </a:xfrm>
          <a:prstGeom prst="rect">
            <a:avLst/>
          </a:prstGeom>
        </p:spPr>
      </p:pic>
      <p:sp>
        <p:nvSpPr>
          <p:cNvPr id="10" name="Titre 1">
            <a:extLst>
              <a:ext uri="{FF2B5EF4-FFF2-40B4-BE49-F238E27FC236}">
                <a16:creationId xmlns:a16="http://schemas.microsoft.com/office/drawing/2014/main" id="{40110F51-F1C4-BB3D-B356-1F310CEAF35F}"/>
              </a:ext>
            </a:extLst>
          </p:cNvPr>
          <p:cNvSpPr txBox="1">
            <a:spLocks/>
          </p:cNvSpPr>
          <p:nvPr/>
        </p:nvSpPr>
        <p:spPr>
          <a:xfrm>
            <a:off x="990600" y="517525"/>
            <a:ext cx="10515600" cy="1325563"/>
          </a:xfrm>
          <a:prstGeom prst="rect">
            <a:avLst/>
          </a:prstGeom>
        </p:spPr>
        <p:txBody>
          <a:bodyPr/>
          <a:lstStyle>
            <a:lvl1pPr algn="l" defTabSz="914400" rtl="0" eaLnBrk="1" latinLnBrk="0" hangingPunct="1">
              <a:lnSpc>
                <a:spcPct val="90000"/>
              </a:lnSpc>
              <a:spcBef>
                <a:spcPct val="0"/>
              </a:spcBef>
              <a:buNone/>
              <a:defRPr sz="4000" kern="1200">
                <a:solidFill>
                  <a:schemeClr val="tx1"/>
                </a:solidFill>
                <a:latin typeface="Georgia" panose="02040502050405020303" pitchFamily="18" charset="0"/>
                <a:ea typeface="+mj-ea"/>
                <a:cs typeface="Frank Ruhl Hofshi" panose="00000500000000000000" pitchFamily="50" charset="-79"/>
              </a:defRPr>
            </a:lvl1pPr>
          </a:lstStyle>
          <a:p>
            <a:r>
              <a:rPr lang="fr-FR" sz="3600" dirty="0">
                <a:latin typeface="Bahnschrift SemiLight" panose="020B0502040204020203" pitchFamily="34" charset="0"/>
                <a:ea typeface="+mn-ea"/>
              </a:rPr>
              <a:t>Voie d’admission et profil académique</a:t>
            </a:r>
          </a:p>
        </p:txBody>
      </p:sp>
    </p:spTree>
    <p:extLst>
      <p:ext uri="{BB962C8B-B14F-4D97-AF65-F5344CB8AC3E}">
        <p14:creationId xmlns:p14="http://schemas.microsoft.com/office/powerpoint/2010/main" val="18655173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909E8-6457-112D-DE57-A41976581675}"/>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10A23E33-EA96-7D4C-59A3-D57672983EA1}"/>
              </a:ext>
            </a:extLst>
          </p:cNvPr>
          <p:cNvPicPr>
            <a:picLocks noChangeAspect="1"/>
          </p:cNvPicPr>
          <p:nvPr/>
        </p:nvPicPr>
        <p:blipFill>
          <a:blip r:embed="rId2"/>
          <a:stretch>
            <a:fillRect/>
          </a:stretch>
        </p:blipFill>
        <p:spPr>
          <a:xfrm>
            <a:off x="1841703" y="1277522"/>
            <a:ext cx="8249801" cy="5096586"/>
          </a:xfrm>
          <a:prstGeom prst="rect">
            <a:avLst/>
          </a:prstGeom>
        </p:spPr>
      </p:pic>
      <p:sp>
        <p:nvSpPr>
          <p:cNvPr id="7" name="Titre 1">
            <a:extLst>
              <a:ext uri="{FF2B5EF4-FFF2-40B4-BE49-F238E27FC236}">
                <a16:creationId xmlns:a16="http://schemas.microsoft.com/office/drawing/2014/main" id="{4BDAFB59-6FA7-7C70-4373-D52F8838E62E}"/>
              </a:ext>
            </a:extLst>
          </p:cNvPr>
          <p:cNvSpPr txBox="1">
            <a:spLocks/>
          </p:cNvSpPr>
          <p:nvPr/>
        </p:nvSpPr>
        <p:spPr>
          <a:xfrm>
            <a:off x="990600" y="517525"/>
            <a:ext cx="10515600" cy="1325563"/>
          </a:xfrm>
          <a:prstGeom prst="rect">
            <a:avLst/>
          </a:prstGeom>
        </p:spPr>
        <p:txBody>
          <a:bodyPr/>
          <a:lstStyle>
            <a:lvl1pPr algn="l" defTabSz="914400" rtl="0" eaLnBrk="1" latinLnBrk="0" hangingPunct="1">
              <a:lnSpc>
                <a:spcPct val="90000"/>
              </a:lnSpc>
              <a:spcBef>
                <a:spcPct val="0"/>
              </a:spcBef>
              <a:buNone/>
              <a:defRPr sz="4000" kern="1200">
                <a:solidFill>
                  <a:schemeClr val="tx1"/>
                </a:solidFill>
                <a:latin typeface="Georgia" panose="02040502050405020303" pitchFamily="18" charset="0"/>
                <a:ea typeface="+mj-ea"/>
                <a:cs typeface="Frank Ruhl Hofshi" panose="00000500000000000000" pitchFamily="50" charset="-79"/>
              </a:defRPr>
            </a:lvl1pPr>
          </a:lstStyle>
          <a:p>
            <a:r>
              <a:rPr lang="fr-FR" sz="3600" dirty="0">
                <a:latin typeface="Bahnschrift SemiLight" panose="020B0502040204020203" pitchFamily="34" charset="0"/>
                <a:ea typeface="+mn-ea"/>
              </a:rPr>
              <a:t>Voie d’admission et profil académique</a:t>
            </a:r>
          </a:p>
        </p:txBody>
      </p:sp>
    </p:spTree>
    <p:extLst>
      <p:ext uri="{BB962C8B-B14F-4D97-AF65-F5344CB8AC3E}">
        <p14:creationId xmlns:p14="http://schemas.microsoft.com/office/powerpoint/2010/main" val="29394548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0993624C-5BAA-A03E-EA5C-CFD00DC2139C}"/>
              </a:ext>
            </a:extLst>
          </p:cNvPr>
          <p:cNvPicPr>
            <a:picLocks noChangeAspect="1"/>
          </p:cNvPicPr>
          <p:nvPr/>
        </p:nvPicPr>
        <p:blipFill>
          <a:blip r:embed="rId2"/>
          <a:stretch>
            <a:fillRect/>
          </a:stretch>
        </p:blipFill>
        <p:spPr>
          <a:xfrm>
            <a:off x="1407774" y="1323370"/>
            <a:ext cx="8202170" cy="5077534"/>
          </a:xfrm>
          <a:prstGeom prst="rect">
            <a:avLst/>
          </a:prstGeom>
        </p:spPr>
      </p:pic>
      <p:sp>
        <p:nvSpPr>
          <p:cNvPr id="7" name="Titre 1">
            <a:extLst>
              <a:ext uri="{FF2B5EF4-FFF2-40B4-BE49-F238E27FC236}">
                <a16:creationId xmlns:a16="http://schemas.microsoft.com/office/drawing/2014/main" id="{1EC1D0A8-2F22-38A8-18A5-E355880FF05E}"/>
              </a:ext>
            </a:extLst>
          </p:cNvPr>
          <p:cNvSpPr txBox="1">
            <a:spLocks/>
          </p:cNvSpPr>
          <p:nvPr/>
        </p:nvSpPr>
        <p:spPr>
          <a:xfrm>
            <a:off x="990600" y="517525"/>
            <a:ext cx="10515600" cy="1325563"/>
          </a:xfrm>
          <a:prstGeom prst="rect">
            <a:avLst/>
          </a:prstGeom>
        </p:spPr>
        <p:txBody>
          <a:bodyPr/>
          <a:lstStyle>
            <a:lvl1pPr algn="l" defTabSz="914400" rtl="0" eaLnBrk="1" latinLnBrk="0" hangingPunct="1">
              <a:lnSpc>
                <a:spcPct val="90000"/>
              </a:lnSpc>
              <a:spcBef>
                <a:spcPct val="0"/>
              </a:spcBef>
              <a:buNone/>
              <a:defRPr sz="4000" kern="1200">
                <a:solidFill>
                  <a:schemeClr val="tx1"/>
                </a:solidFill>
                <a:latin typeface="Georgia" panose="02040502050405020303" pitchFamily="18" charset="0"/>
                <a:ea typeface="+mj-ea"/>
                <a:cs typeface="Frank Ruhl Hofshi" panose="00000500000000000000" pitchFamily="50" charset="-79"/>
              </a:defRPr>
            </a:lvl1pPr>
          </a:lstStyle>
          <a:p>
            <a:r>
              <a:rPr lang="fr-FR" sz="3600" dirty="0">
                <a:latin typeface="Bahnschrift SemiLight" panose="020B0502040204020203" pitchFamily="34" charset="0"/>
                <a:ea typeface="+mn-ea"/>
              </a:rPr>
              <a:t>Les élèves ingénieurs</a:t>
            </a:r>
          </a:p>
        </p:txBody>
      </p:sp>
    </p:spTree>
    <p:extLst>
      <p:ext uri="{BB962C8B-B14F-4D97-AF65-F5344CB8AC3E}">
        <p14:creationId xmlns:p14="http://schemas.microsoft.com/office/powerpoint/2010/main" val="27245798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86D16E95-5A00-D403-6249-B41FEC08DF94}"/>
              </a:ext>
            </a:extLst>
          </p:cNvPr>
          <p:cNvPicPr>
            <a:picLocks noChangeAspect="1"/>
          </p:cNvPicPr>
          <p:nvPr/>
        </p:nvPicPr>
        <p:blipFill>
          <a:blip r:embed="rId2"/>
          <a:stretch>
            <a:fillRect/>
          </a:stretch>
        </p:blipFill>
        <p:spPr>
          <a:xfrm>
            <a:off x="1985389" y="1004549"/>
            <a:ext cx="8221222" cy="4848902"/>
          </a:xfrm>
          <a:prstGeom prst="rect">
            <a:avLst/>
          </a:prstGeom>
        </p:spPr>
      </p:pic>
      <p:sp>
        <p:nvSpPr>
          <p:cNvPr id="7" name="Titre 1">
            <a:extLst>
              <a:ext uri="{FF2B5EF4-FFF2-40B4-BE49-F238E27FC236}">
                <a16:creationId xmlns:a16="http://schemas.microsoft.com/office/drawing/2014/main" id="{31539C54-DFCC-7D17-A647-0E6C8E192E4E}"/>
              </a:ext>
            </a:extLst>
          </p:cNvPr>
          <p:cNvSpPr txBox="1">
            <a:spLocks/>
          </p:cNvSpPr>
          <p:nvPr/>
        </p:nvSpPr>
        <p:spPr>
          <a:xfrm>
            <a:off x="990600" y="517525"/>
            <a:ext cx="10515600" cy="1325563"/>
          </a:xfrm>
          <a:prstGeom prst="rect">
            <a:avLst/>
          </a:prstGeom>
        </p:spPr>
        <p:txBody>
          <a:bodyPr/>
          <a:lstStyle>
            <a:lvl1pPr algn="l" defTabSz="914400" rtl="0" eaLnBrk="1" latinLnBrk="0" hangingPunct="1">
              <a:lnSpc>
                <a:spcPct val="90000"/>
              </a:lnSpc>
              <a:spcBef>
                <a:spcPct val="0"/>
              </a:spcBef>
              <a:buNone/>
              <a:defRPr sz="4000" kern="1200">
                <a:solidFill>
                  <a:schemeClr val="tx1"/>
                </a:solidFill>
                <a:latin typeface="Georgia" panose="02040502050405020303" pitchFamily="18" charset="0"/>
                <a:ea typeface="+mj-ea"/>
                <a:cs typeface="Frank Ruhl Hofshi" panose="00000500000000000000" pitchFamily="50" charset="-79"/>
              </a:defRPr>
            </a:lvl1pPr>
          </a:lstStyle>
          <a:p>
            <a:r>
              <a:rPr lang="fr-FR" sz="3600" dirty="0">
                <a:latin typeface="Bahnschrift SemiLight" panose="020B0502040204020203" pitchFamily="34" charset="0"/>
                <a:ea typeface="+mn-ea"/>
              </a:rPr>
              <a:t>Les élèves attachés</a:t>
            </a:r>
          </a:p>
        </p:txBody>
      </p:sp>
    </p:spTree>
    <p:extLst>
      <p:ext uri="{BB962C8B-B14F-4D97-AF65-F5344CB8AC3E}">
        <p14:creationId xmlns:p14="http://schemas.microsoft.com/office/powerpoint/2010/main" val="7255564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B9DB5338-717A-0181-579B-E561D94B657B}"/>
              </a:ext>
            </a:extLst>
          </p:cNvPr>
          <p:cNvPicPr>
            <a:picLocks noChangeAspect="1"/>
          </p:cNvPicPr>
          <p:nvPr/>
        </p:nvPicPr>
        <p:blipFill>
          <a:blip r:embed="rId2"/>
          <a:stretch>
            <a:fillRect/>
          </a:stretch>
        </p:blipFill>
        <p:spPr>
          <a:xfrm>
            <a:off x="1755032" y="1203157"/>
            <a:ext cx="9275520" cy="5473199"/>
          </a:xfrm>
          <a:prstGeom prst="rect">
            <a:avLst/>
          </a:prstGeom>
        </p:spPr>
      </p:pic>
      <p:sp>
        <p:nvSpPr>
          <p:cNvPr id="7" name="Titre 1">
            <a:extLst>
              <a:ext uri="{FF2B5EF4-FFF2-40B4-BE49-F238E27FC236}">
                <a16:creationId xmlns:a16="http://schemas.microsoft.com/office/drawing/2014/main" id="{CFA0F152-B18F-9D88-1176-5DD0804BB8C0}"/>
              </a:ext>
            </a:extLst>
          </p:cNvPr>
          <p:cNvSpPr txBox="1">
            <a:spLocks/>
          </p:cNvSpPr>
          <p:nvPr/>
        </p:nvSpPr>
        <p:spPr>
          <a:xfrm>
            <a:off x="990600" y="517525"/>
            <a:ext cx="10515600" cy="1325563"/>
          </a:xfrm>
          <a:prstGeom prst="rect">
            <a:avLst/>
          </a:prstGeom>
        </p:spPr>
        <p:txBody>
          <a:bodyPr/>
          <a:lstStyle>
            <a:lvl1pPr algn="l" defTabSz="914400" rtl="0" eaLnBrk="1" latinLnBrk="0" hangingPunct="1">
              <a:lnSpc>
                <a:spcPct val="90000"/>
              </a:lnSpc>
              <a:spcBef>
                <a:spcPct val="0"/>
              </a:spcBef>
              <a:buNone/>
              <a:defRPr sz="4000" kern="1200">
                <a:solidFill>
                  <a:schemeClr val="tx1"/>
                </a:solidFill>
                <a:latin typeface="Georgia" panose="02040502050405020303" pitchFamily="18" charset="0"/>
                <a:ea typeface="+mj-ea"/>
                <a:cs typeface="Frank Ruhl Hofshi" panose="00000500000000000000" pitchFamily="50" charset="-79"/>
              </a:defRPr>
            </a:lvl1pPr>
          </a:lstStyle>
          <a:p>
            <a:r>
              <a:rPr lang="fr-FR" sz="3600" dirty="0">
                <a:latin typeface="Bahnschrift SemiLight" panose="020B0502040204020203" pitchFamily="34" charset="0"/>
                <a:ea typeface="+mn-ea"/>
              </a:rPr>
              <a:t>Voie d’admission et spécialisation - Ingénieurs</a:t>
            </a:r>
          </a:p>
        </p:txBody>
      </p:sp>
    </p:spTree>
    <p:extLst>
      <p:ext uri="{BB962C8B-B14F-4D97-AF65-F5344CB8AC3E}">
        <p14:creationId xmlns:p14="http://schemas.microsoft.com/office/powerpoint/2010/main" val="752874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76E0AEF6-A98E-B3E9-DF9E-B299CBD267FB}"/>
              </a:ext>
            </a:extLst>
          </p:cNvPr>
          <p:cNvPicPr>
            <a:picLocks noChangeAspect="1"/>
          </p:cNvPicPr>
          <p:nvPr/>
        </p:nvPicPr>
        <p:blipFill>
          <a:blip r:embed="rId2"/>
          <a:stretch>
            <a:fillRect/>
          </a:stretch>
        </p:blipFill>
        <p:spPr>
          <a:xfrm>
            <a:off x="1781317" y="1412690"/>
            <a:ext cx="8249801" cy="4791744"/>
          </a:xfrm>
          <a:prstGeom prst="rect">
            <a:avLst/>
          </a:prstGeom>
        </p:spPr>
      </p:pic>
      <p:sp>
        <p:nvSpPr>
          <p:cNvPr id="9" name="Titre 1">
            <a:extLst>
              <a:ext uri="{FF2B5EF4-FFF2-40B4-BE49-F238E27FC236}">
                <a16:creationId xmlns:a16="http://schemas.microsoft.com/office/drawing/2014/main" id="{850A1D29-E7FF-EA28-2227-0C7CF2EDE126}"/>
              </a:ext>
            </a:extLst>
          </p:cNvPr>
          <p:cNvSpPr txBox="1">
            <a:spLocks/>
          </p:cNvSpPr>
          <p:nvPr/>
        </p:nvSpPr>
        <p:spPr>
          <a:xfrm>
            <a:off x="990600" y="517525"/>
            <a:ext cx="10515600" cy="1325563"/>
          </a:xfrm>
          <a:prstGeom prst="rect">
            <a:avLst/>
          </a:prstGeom>
        </p:spPr>
        <p:txBody>
          <a:bodyPr/>
          <a:lstStyle>
            <a:lvl1pPr algn="l" defTabSz="914400" rtl="0" eaLnBrk="1" latinLnBrk="0" hangingPunct="1">
              <a:lnSpc>
                <a:spcPct val="90000"/>
              </a:lnSpc>
              <a:spcBef>
                <a:spcPct val="0"/>
              </a:spcBef>
              <a:buNone/>
              <a:defRPr sz="4000" kern="1200">
                <a:solidFill>
                  <a:schemeClr val="tx1"/>
                </a:solidFill>
                <a:latin typeface="Georgia" panose="02040502050405020303" pitchFamily="18" charset="0"/>
                <a:ea typeface="+mj-ea"/>
                <a:cs typeface="Frank Ruhl Hofshi" panose="00000500000000000000" pitchFamily="50" charset="-79"/>
              </a:defRPr>
            </a:lvl1pPr>
          </a:lstStyle>
          <a:p>
            <a:r>
              <a:rPr lang="fr-FR" sz="3600" dirty="0">
                <a:latin typeface="Bahnschrift SemiLight" panose="020B0502040204020203" pitchFamily="34" charset="0"/>
                <a:ea typeface="+mn-ea"/>
              </a:rPr>
              <a:t>Voie d’admission et profil académique - Ingénieurs</a:t>
            </a:r>
          </a:p>
        </p:txBody>
      </p:sp>
      <p:pic>
        <p:nvPicPr>
          <p:cNvPr id="11" name="Image 10">
            <a:extLst>
              <a:ext uri="{FF2B5EF4-FFF2-40B4-BE49-F238E27FC236}">
                <a16:creationId xmlns:a16="http://schemas.microsoft.com/office/drawing/2014/main" id="{EF1126B9-C181-C500-FDB8-BA0EB863988A}"/>
              </a:ext>
            </a:extLst>
          </p:cNvPr>
          <p:cNvPicPr>
            <a:picLocks noChangeAspect="1"/>
          </p:cNvPicPr>
          <p:nvPr/>
        </p:nvPicPr>
        <p:blipFill>
          <a:blip r:embed="rId3"/>
          <a:stretch>
            <a:fillRect/>
          </a:stretch>
        </p:blipFill>
        <p:spPr>
          <a:xfrm>
            <a:off x="9746038" y="3609082"/>
            <a:ext cx="2427271" cy="1100941"/>
          </a:xfrm>
          <a:prstGeom prst="rect">
            <a:avLst/>
          </a:prstGeom>
        </p:spPr>
      </p:pic>
    </p:spTree>
    <p:extLst>
      <p:ext uri="{BB962C8B-B14F-4D97-AF65-F5344CB8AC3E}">
        <p14:creationId xmlns:p14="http://schemas.microsoft.com/office/powerpoint/2010/main" val="22619853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285C98D-78F6-65B4-E078-661434C36789}"/>
              </a:ext>
            </a:extLst>
          </p:cNvPr>
          <p:cNvSpPr>
            <a:spLocks noGrp="1"/>
          </p:cNvSpPr>
          <p:nvPr>
            <p:ph type="title"/>
          </p:nvPr>
        </p:nvSpPr>
        <p:spPr/>
        <p:txBody>
          <a:bodyPr/>
          <a:lstStyle/>
          <a:p>
            <a:r>
              <a:rPr lang="fr-FR" dirty="0">
                <a:latin typeface="Bahnschrift SemiLight" panose="020B0502040204020203" pitchFamily="34" charset="0"/>
              </a:rPr>
              <a:t>Voie d’admission et spécialisation - Attachés</a:t>
            </a:r>
            <a:br>
              <a:rPr lang="fr-FR" dirty="0">
                <a:latin typeface="Bahnschrift SemiLight" panose="020B0502040204020203" pitchFamily="34" charset="0"/>
              </a:rPr>
            </a:br>
            <a:endParaRPr lang="fr-FR" dirty="0"/>
          </a:p>
        </p:txBody>
      </p:sp>
      <p:pic>
        <p:nvPicPr>
          <p:cNvPr id="5" name="Image 4">
            <a:extLst>
              <a:ext uri="{FF2B5EF4-FFF2-40B4-BE49-F238E27FC236}">
                <a16:creationId xmlns:a16="http://schemas.microsoft.com/office/drawing/2014/main" id="{78F7CCBD-8B31-2CEA-E3D4-A6676EBC3874}"/>
              </a:ext>
            </a:extLst>
          </p:cNvPr>
          <p:cNvPicPr>
            <a:picLocks noChangeAspect="1"/>
          </p:cNvPicPr>
          <p:nvPr/>
        </p:nvPicPr>
        <p:blipFill>
          <a:blip r:embed="rId2"/>
          <a:stretch>
            <a:fillRect/>
          </a:stretch>
        </p:blipFill>
        <p:spPr>
          <a:xfrm>
            <a:off x="2139789" y="1520737"/>
            <a:ext cx="8297433" cy="5087060"/>
          </a:xfrm>
          <a:prstGeom prst="rect">
            <a:avLst/>
          </a:prstGeom>
        </p:spPr>
      </p:pic>
    </p:spTree>
    <p:extLst>
      <p:ext uri="{BB962C8B-B14F-4D97-AF65-F5344CB8AC3E}">
        <p14:creationId xmlns:p14="http://schemas.microsoft.com/office/powerpoint/2010/main" val="1876651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45F2FE00-C848-3813-E8E1-1DAB56EFBCD6}"/>
              </a:ext>
            </a:extLst>
          </p:cNvPr>
          <p:cNvPicPr>
            <a:picLocks noChangeAspect="1"/>
          </p:cNvPicPr>
          <p:nvPr/>
        </p:nvPicPr>
        <p:blipFill>
          <a:blip r:embed="rId2"/>
          <a:stretch>
            <a:fillRect/>
          </a:stretch>
        </p:blipFill>
        <p:spPr>
          <a:xfrm>
            <a:off x="1994915" y="890233"/>
            <a:ext cx="8202170" cy="5077534"/>
          </a:xfrm>
          <a:prstGeom prst="rect">
            <a:avLst/>
          </a:prstGeom>
        </p:spPr>
      </p:pic>
      <p:sp>
        <p:nvSpPr>
          <p:cNvPr id="7" name="Titre 1">
            <a:extLst>
              <a:ext uri="{FF2B5EF4-FFF2-40B4-BE49-F238E27FC236}">
                <a16:creationId xmlns:a16="http://schemas.microsoft.com/office/drawing/2014/main" id="{5B832C72-AE21-2FCD-2F4B-27C30B6C09D2}"/>
              </a:ext>
            </a:extLst>
          </p:cNvPr>
          <p:cNvSpPr txBox="1">
            <a:spLocks/>
          </p:cNvSpPr>
          <p:nvPr/>
        </p:nvSpPr>
        <p:spPr>
          <a:xfrm>
            <a:off x="990600" y="517525"/>
            <a:ext cx="10515600" cy="1325563"/>
          </a:xfrm>
          <a:prstGeom prst="rect">
            <a:avLst/>
          </a:prstGeom>
        </p:spPr>
        <p:txBody>
          <a:bodyPr/>
          <a:lstStyle>
            <a:lvl1pPr algn="l" defTabSz="914400" rtl="0" eaLnBrk="1" latinLnBrk="0" hangingPunct="1">
              <a:lnSpc>
                <a:spcPct val="90000"/>
              </a:lnSpc>
              <a:spcBef>
                <a:spcPct val="0"/>
              </a:spcBef>
              <a:buNone/>
              <a:defRPr sz="4000" kern="1200">
                <a:solidFill>
                  <a:schemeClr val="tx1"/>
                </a:solidFill>
                <a:latin typeface="Georgia" panose="02040502050405020303" pitchFamily="18" charset="0"/>
                <a:ea typeface="+mj-ea"/>
                <a:cs typeface="Frank Ruhl Hofshi" panose="00000500000000000000" pitchFamily="50" charset="-79"/>
              </a:defRPr>
            </a:lvl1pPr>
          </a:lstStyle>
          <a:p>
            <a:r>
              <a:rPr lang="fr-FR" sz="3600" dirty="0">
                <a:latin typeface="Bahnschrift SemiLight" panose="020B0502040204020203" pitchFamily="34" charset="0"/>
                <a:ea typeface="+mn-ea"/>
              </a:rPr>
              <a:t>Voie d’admission et profil académique - Attachés</a:t>
            </a:r>
          </a:p>
        </p:txBody>
      </p:sp>
      <p:pic>
        <p:nvPicPr>
          <p:cNvPr id="9" name="Image 8">
            <a:extLst>
              <a:ext uri="{FF2B5EF4-FFF2-40B4-BE49-F238E27FC236}">
                <a16:creationId xmlns:a16="http://schemas.microsoft.com/office/drawing/2014/main" id="{8C344971-345F-778B-E1CF-8536D2576DAE}"/>
              </a:ext>
            </a:extLst>
          </p:cNvPr>
          <p:cNvPicPr>
            <a:picLocks noChangeAspect="1"/>
          </p:cNvPicPr>
          <p:nvPr/>
        </p:nvPicPr>
        <p:blipFill>
          <a:blip r:embed="rId3"/>
          <a:stretch>
            <a:fillRect/>
          </a:stretch>
        </p:blipFill>
        <p:spPr>
          <a:xfrm>
            <a:off x="9930844" y="3117377"/>
            <a:ext cx="2427271" cy="1100941"/>
          </a:xfrm>
          <a:prstGeom prst="rect">
            <a:avLst/>
          </a:prstGeom>
        </p:spPr>
      </p:pic>
    </p:spTree>
    <p:extLst>
      <p:ext uri="{BB962C8B-B14F-4D97-AF65-F5344CB8AC3E}">
        <p14:creationId xmlns:p14="http://schemas.microsoft.com/office/powerpoint/2010/main" val="4107162312"/>
      </p:ext>
    </p:extLst>
  </p:cSld>
  <p:clrMapOvr>
    <a:masterClrMapping/>
  </p:clrMapOvr>
</p:sld>
</file>

<file path=ppt/theme/theme1.xml><?xml version="1.0" encoding="utf-8"?>
<a:theme xmlns:a="http://schemas.openxmlformats.org/drawingml/2006/main" name="Conception personnalisé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ersonnalisé 1">
      <a:majorFont>
        <a:latin typeface="Bahnschrift Light"/>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ele PP ENSAI 2024 (004) [Lecture seule]" id="{A8C3ABBE-4DAF-470D-8BE6-22D8833A9F33}" vid="{5F2DD50E-0F97-4FC8-AEA4-A9228D75ACE5}"/>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8138461d-bdab-49ac-9f5d-17d936bf67e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55310666E43344DBB97204024C35E51" ma:contentTypeVersion="9" ma:contentTypeDescription="Crée un document." ma:contentTypeScope="" ma:versionID="573ffdbf12c7b695bb28268475d70968">
  <xsd:schema xmlns:xsd="http://www.w3.org/2001/XMLSchema" xmlns:xs="http://www.w3.org/2001/XMLSchema" xmlns:p="http://schemas.microsoft.com/office/2006/metadata/properties" xmlns:ns3="8138461d-bdab-49ac-9f5d-17d936bf67ed" targetNamespace="http://schemas.microsoft.com/office/2006/metadata/properties" ma:root="true" ma:fieldsID="e9846188d7e02216a8bc56714eaf8c98" ns3:_="">
    <xsd:import namespace="8138461d-bdab-49ac-9f5d-17d936bf67ed"/>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38461d-bdab-49ac-9f5d-17d936bf67ed"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31EFE21-6212-40E3-9464-BEE2346D99CE}">
  <ds:schemaRefs>
    <ds:schemaRef ds:uri="http://schemas.microsoft.com/office/2006/documentManagement/types"/>
    <ds:schemaRef ds:uri="http://schemas.openxmlformats.org/package/2006/metadata/core-properties"/>
    <ds:schemaRef ds:uri="8138461d-bdab-49ac-9f5d-17d936bf67ed"/>
    <ds:schemaRef ds:uri="http://purl.org/dc/elements/1.1/"/>
    <ds:schemaRef ds:uri="http://purl.org/dc/dcmitype/"/>
    <ds:schemaRef ds:uri="http://schemas.microsoft.com/office/infopath/2007/PartnerControls"/>
    <ds:schemaRef ds:uri="http://schemas.microsoft.com/office/2006/metadata/properties"/>
    <ds:schemaRef ds:uri="http://www.w3.org/XML/1998/namespace"/>
    <ds:schemaRef ds:uri="http://purl.org/dc/terms/"/>
  </ds:schemaRefs>
</ds:datastoreItem>
</file>

<file path=customXml/itemProps2.xml><?xml version="1.0" encoding="utf-8"?>
<ds:datastoreItem xmlns:ds="http://schemas.openxmlformats.org/officeDocument/2006/customXml" ds:itemID="{192A3D37-6C49-4620-B2B6-76D5704EBC4C}">
  <ds:schemaRefs>
    <ds:schemaRef ds:uri="http://schemas.microsoft.com/sharepoint/v3/contenttype/forms"/>
  </ds:schemaRefs>
</ds:datastoreItem>
</file>

<file path=customXml/itemProps3.xml><?xml version="1.0" encoding="utf-8"?>
<ds:datastoreItem xmlns:ds="http://schemas.openxmlformats.org/officeDocument/2006/customXml" ds:itemID="{C6C6793F-A4AC-4441-9CFB-A91A1258C31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138461d-bdab-49ac-9f5d-17d936bf67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99578065-47e8-4c36-bbf8-4e1228cfb056}" enabled="0" method="" siteId="{99578065-47e8-4c36-bbf8-4e1228cfb056}" removed="1"/>
</clbl:labelList>
</file>

<file path=docProps/app.xml><?xml version="1.0" encoding="utf-8"?>
<Properties xmlns="http://schemas.openxmlformats.org/officeDocument/2006/extended-properties" xmlns:vt="http://schemas.openxmlformats.org/officeDocument/2006/docPropsVTypes">
  <Template>Modele PPT ENSAI 2024</Template>
  <TotalTime>7949</TotalTime>
  <Words>1167</Words>
  <Application>Microsoft Office PowerPoint</Application>
  <PresentationFormat>Grand écran</PresentationFormat>
  <Paragraphs>144</Paragraphs>
  <Slides>31</Slides>
  <Notes>15</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31</vt:i4>
      </vt:variant>
    </vt:vector>
  </HeadingPairs>
  <TitlesOfParts>
    <vt:vector size="40" baseType="lpstr">
      <vt:lpstr>Aptos</vt:lpstr>
      <vt:lpstr>Arial</vt:lpstr>
      <vt:lpstr>Bahnschrift Light</vt:lpstr>
      <vt:lpstr>Bahnschrift Light SemiCondensed</vt:lpstr>
      <vt:lpstr>Bahnschrift SemiLight</vt:lpstr>
      <vt:lpstr>Calibri</vt:lpstr>
      <vt:lpstr>Georgia</vt:lpstr>
      <vt:lpstr>Wingdings</vt:lpstr>
      <vt:lpstr>Conception personnalisée</vt:lpstr>
      <vt:lpstr>Présentation PowerPoint</vt:lpstr>
      <vt:lpstr>Présentation du projet</vt:lpstr>
      <vt:lpstr>Une baisse des profils MP depuis le CCINP</vt:lpstr>
      <vt:lpstr>Les matheux préfèrent le statut d’ingénieur </vt:lpstr>
      <vt:lpstr>Les BL et les D2 reviennent vers le statut attaché </vt:lpstr>
      <vt:lpstr>Résultats scolaire en 1ère année et voie d’entrée</vt:lpstr>
      <vt:lpstr>Résultats scolaire en 2ème année et voie d’entrée</vt:lpstr>
      <vt:lpstr>Les PC/PSI en difficultés ?</vt:lpstr>
      <vt:lpstr>Notes en statistiques et mathématiques en 1A   </vt:lpstr>
      <vt:lpstr>Des échecs plus nombreux parmi les attachés en 1A</vt:lpstr>
      <vt:lpstr>Des échecs plus nombreux parmi les attachés en 2A</vt:lpstr>
      <vt:lpstr>Présentation PowerPoint</vt:lpstr>
      <vt:lpstr>Les choix de filière de spécialisation</vt:lpstr>
      <vt:lpstr>Engagement numérique : un projet</vt:lpstr>
      <vt:lpstr>Next step</vt:lpstr>
      <vt:lpstr>Des questions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Voie d’admission et spécialisation - Attachés </vt:lpstr>
      <vt:lpstr>Présentation PowerPoint</vt:lpstr>
    </vt:vector>
  </TitlesOfParts>
  <Company>ENSAI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GANDUBERT Patrick</dc:creator>
  <cp:lastModifiedBy>LESIEUR Christophe</cp:lastModifiedBy>
  <cp:revision>159</cp:revision>
  <cp:lastPrinted>2026-06-30T09:16:04Z</cp:lastPrinted>
  <dcterms:created xsi:type="dcterms:W3CDTF">2024-10-07T14:28:24Z</dcterms:created>
  <dcterms:modified xsi:type="dcterms:W3CDTF">2026-08-18T13:20:25Z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0x010100E55310666E43344DBB97204024C35E51</vt:lpwstr>
  </property>
</Properties>
</file>