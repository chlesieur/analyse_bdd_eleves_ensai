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5"/>
  </p:sldMasterIdLst>
  <p:notesMasterIdLst>
    <p:notesMasterId r:id="rId26"/>
  </p:notesMasterIdLst>
  <p:handoutMasterIdLst>
    <p:handoutMasterId r:id="rId27"/>
  </p:handoutMasterIdLst>
  <p:sldIdLst>
    <p:sldId id="259" r:id="rId6"/>
    <p:sldId id="283" r:id="rId7"/>
    <p:sldId id="284" r:id="rId8"/>
    <p:sldId id="286" r:id="rId9"/>
    <p:sldId id="288" r:id="rId10"/>
    <p:sldId id="293" r:id="rId11"/>
    <p:sldId id="295" r:id="rId12"/>
    <p:sldId id="296" r:id="rId13"/>
    <p:sldId id="297" r:id="rId14"/>
    <p:sldId id="298" r:id="rId15"/>
    <p:sldId id="289" r:id="rId16"/>
    <p:sldId id="287" r:id="rId17"/>
    <p:sldId id="291" r:id="rId18"/>
    <p:sldId id="306" r:id="rId19"/>
    <p:sldId id="299" r:id="rId20"/>
    <p:sldId id="300" r:id="rId21"/>
    <p:sldId id="301" r:id="rId22"/>
    <p:sldId id="302" r:id="rId23"/>
    <p:sldId id="304" r:id="rId24"/>
    <p:sldId id="277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AEDB"/>
    <a:srgbClr val="005980"/>
    <a:srgbClr val="A6A6A6"/>
    <a:srgbClr val="009BDE"/>
    <a:srgbClr val="564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CCED0-103C-4C10-8D72-99DD07E324A0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4C92F0-C3EC-4C25-8D86-B30BA11ABE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3369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258B95-F104-4A72-A4BF-C3A46957C253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1E338-64DE-4218-8E01-89E259BBC0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1113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1149350" y="2705100"/>
            <a:ext cx="5384800" cy="5207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Sous titre</a:t>
            </a:r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4" hasCustomPrompt="1"/>
          </p:nvPr>
        </p:nvSpPr>
        <p:spPr>
          <a:xfrm>
            <a:off x="1149350" y="3492500"/>
            <a:ext cx="170180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16" name="Espace réservé du texte 9"/>
          <p:cNvSpPr>
            <a:spLocks noGrp="1"/>
          </p:cNvSpPr>
          <p:nvPr>
            <p:ph type="body" sz="quarter" idx="16" hasCustomPrompt="1"/>
          </p:nvPr>
        </p:nvSpPr>
        <p:spPr>
          <a:xfrm>
            <a:off x="1149350" y="5143500"/>
            <a:ext cx="400685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Nom prénom (facultatif)</a:t>
            </a:r>
          </a:p>
        </p:txBody>
      </p:sp>
      <p:sp>
        <p:nvSpPr>
          <p:cNvPr id="8" name="Espace réservé du texte 2"/>
          <p:cNvSpPr>
            <a:spLocks noGrp="1"/>
          </p:cNvSpPr>
          <p:nvPr>
            <p:ph type="body" sz="quarter" idx="17" hasCustomPrompt="1"/>
          </p:nvPr>
        </p:nvSpPr>
        <p:spPr>
          <a:xfrm>
            <a:off x="1149350" y="635000"/>
            <a:ext cx="4565650" cy="1714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aseline="0">
                <a:solidFill>
                  <a:schemeClr val="bg1"/>
                </a:solidFill>
                <a:latin typeface="Georgia" panose="02040502050405020303" pitchFamily="18" charset="0"/>
                <a:ea typeface="CSongGB18030C-Light" panose="020A0304000101010101" pitchFamily="18" charset="-122"/>
                <a:cs typeface="Cascadia Mono" panose="020B0609020000020004" pitchFamily="49" charset="0"/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</p:spTree>
    <p:extLst>
      <p:ext uri="{BB962C8B-B14F-4D97-AF65-F5344CB8AC3E}">
        <p14:creationId xmlns:p14="http://schemas.microsoft.com/office/powerpoint/2010/main" val="738990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Modifiez le texte du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044700"/>
            <a:ext cx="10515600" cy="3886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2761420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5" name="Espace réservé du texte 3"/>
          <p:cNvSpPr>
            <a:spLocks noGrp="1"/>
          </p:cNvSpPr>
          <p:nvPr>
            <p:ph type="body" sz="quarter" idx="11"/>
          </p:nvPr>
        </p:nvSpPr>
        <p:spPr>
          <a:xfrm>
            <a:off x="7201929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0559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tx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7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6936258" y="2108199"/>
            <a:ext cx="4349579" cy="42291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64935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939800" y="742779"/>
            <a:ext cx="2618946" cy="7874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Titre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39800" y="1879600"/>
            <a:ext cx="10375900" cy="42037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990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554595"/>
            <a:ext cx="7505700" cy="777875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5025"/>
            <a:ext cx="10420350" cy="4086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964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914400" y="685800"/>
            <a:ext cx="6450226" cy="787400"/>
          </a:xfrm>
          <a:prstGeom prst="rect">
            <a:avLst/>
          </a:prstGeom>
        </p:spPr>
        <p:txBody>
          <a:bodyPr/>
          <a:lstStyle>
            <a:lvl1pPr>
              <a:defRPr sz="4000" b="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914400" y="1922162"/>
            <a:ext cx="10445578" cy="1384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14400" y="3736202"/>
            <a:ext cx="10445578" cy="2057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9530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930400"/>
            <a:ext cx="10515600" cy="2273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124990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position personnalisé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  <p:sp>
        <p:nvSpPr>
          <p:cNvPr id="4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187071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123571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123571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123571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5560695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4925695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13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4925695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4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4925695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9" name="Espace réservé pour une image  3"/>
          <p:cNvSpPr>
            <a:spLocks noGrp="1"/>
          </p:cNvSpPr>
          <p:nvPr>
            <p:ph type="pic" sz="quarter" idx="18"/>
          </p:nvPr>
        </p:nvSpPr>
        <p:spPr>
          <a:xfrm>
            <a:off x="925068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861568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0" hasCustomPrompt="1"/>
          </p:nvPr>
        </p:nvSpPr>
        <p:spPr>
          <a:xfrm>
            <a:off x="861568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22" name="Espace réservé du contenu 9"/>
          <p:cNvSpPr>
            <a:spLocks noGrp="1"/>
          </p:cNvSpPr>
          <p:nvPr>
            <p:ph sz="quarter" idx="21" hasCustomPrompt="1"/>
          </p:nvPr>
        </p:nvSpPr>
        <p:spPr>
          <a:xfrm>
            <a:off x="861568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</p:spTree>
    <p:extLst>
      <p:ext uri="{BB962C8B-B14F-4D97-AF65-F5344CB8AC3E}">
        <p14:creationId xmlns:p14="http://schemas.microsoft.com/office/powerpoint/2010/main" val="3303740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3902710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4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3267710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5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3267710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6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3267710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7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7592695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6957695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6957695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6957695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</p:spTree>
    <p:extLst>
      <p:ext uri="{BB962C8B-B14F-4D97-AF65-F5344CB8AC3E}">
        <p14:creationId xmlns:p14="http://schemas.microsoft.com/office/powerpoint/2010/main" val="384298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54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7395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1" r:id="rId2"/>
    <p:sldLayoutId id="2147483652" r:id="rId3"/>
    <p:sldLayoutId id="2147483653" r:id="rId4"/>
    <p:sldLayoutId id="2147483654" r:id="rId5"/>
    <p:sldLayoutId id="2147483658" r:id="rId6"/>
    <p:sldLayoutId id="2147483655" r:id="rId7"/>
    <p:sldLayoutId id="2147483660" r:id="rId8"/>
    <p:sldLayoutId id="2147483656" r:id="rId9"/>
    <p:sldLayoutId id="2147483659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1149349" y="1724024"/>
            <a:ext cx="9893302" cy="520700"/>
          </a:xfrm>
        </p:spPr>
        <p:txBody>
          <a:bodyPr/>
          <a:lstStyle/>
          <a:p>
            <a:r>
              <a:rPr lang="fr-FR" dirty="0">
                <a:latin typeface="+mj-lt"/>
              </a:rPr>
              <a:t>Premières analyses à partir des données d’amission, de Pamplemousse et de Moodle sur la période 2015-2025</a:t>
            </a:r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4"/>
          </p:nvPr>
        </p:nvSpPr>
        <p:spPr>
          <a:xfrm>
            <a:off x="1149349" y="2917826"/>
            <a:ext cx="2450062" cy="415924"/>
          </a:xfrm>
        </p:spPr>
        <p:txBody>
          <a:bodyPr/>
          <a:lstStyle/>
          <a:p>
            <a:r>
              <a:rPr lang="fr-FR" dirty="0"/>
              <a:t>2 avril 2026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7"/>
          </p:nvPr>
        </p:nvSpPr>
        <p:spPr>
          <a:xfrm>
            <a:off x="1149348" y="658812"/>
            <a:ext cx="10814051" cy="1114426"/>
          </a:xfrm>
        </p:spPr>
        <p:txBody>
          <a:bodyPr/>
          <a:lstStyle/>
          <a:p>
            <a:r>
              <a:rPr lang="fr-FR" sz="5000" dirty="0">
                <a:latin typeface="+mj-lt"/>
              </a:rPr>
              <a:t>Trajectoires des étudiants à l’ENSAI</a:t>
            </a:r>
          </a:p>
        </p:txBody>
      </p:sp>
      <p:sp>
        <p:nvSpPr>
          <p:cNvPr id="5" name="Espace réservé du texte 6">
            <a:extLst>
              <a:ext uri="{FF2B5EF4-FFF2-40B4-BE49-F238E27FC236}">
                <a16:creationId xmlns:a16="http://schemas.microsoft.com/office/drawing/2014/main" id="{1A4A2BF2-E617-584E-1661-8BDA87DC96DD}"/>
              </a:ext>
            </a:extLst>
          </p:cNvPr>
          <p:cNvSpPr txBox="1">
            <a:spLocks/>
          </p:cNvSpPr>
          <p:nvPr/>
        </p:nvSpPr>
        <p:spPr>
          <a:xfrm>
            <a:off x="1149348" y="3584574"/>
            <a:ext cx="4692651" cy="4159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Christophe Lesieur, Stéphane </a:t>
            </a:r>
            <a:r>
              <a:rPr lang="fr-FR" dirty="0" err="1"/>
              <a:t>Legleye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3D63354-3A4D-6CA3-3449-8EC992DEE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768" y="4508501"/>
            <a:ext cx="7621064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7483-F0C2-B2FE-1254-DC824D8D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1430A5-86F3-CC28-588F-21A1EBB5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Plan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8B9EFC-4B85-B594-50D5-EFD45925F1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fr-FR" dirty="0"/>
              <a:t>Effectifs par voies d’entrée</a:t>
            </a:r>
          </a:p>
          <a:p>
            <a:pPr marL="514350" indent="-514350">
              <a:buAutoNum type="arabicPeriod"/>
            </a:pPr>
            <a:r>
              <a:rPr lang="fr-FR" dirty="0"/>
              <a:t>La baisse d’attractivité du statut fonctionnaire</a:t>
            </a:r>
          </a:p>
          <a:p>
            <a:pPr marL="514350" indent="-514350">
              <a:buAutoNum type="arabicPeriod"/>
            </a:pPr>
            <a:r>
              <a:rPr lang="fr-FR" dirty="0"/>
              <a:t>Rang d’admission et réussite scolaire</a:t>
            </a:r>
          </a:p>
          <a:p>
            <a:pPr marL="514350" indent="-514350">
              <a:buAutoNum type="arabicPeriod"/>
            </a:pPr>
            <a:r>
              <a:rPr lang="fr-FR" dirty="0"/>
              <a:t>Les déterminants des choix de filière de spécialisation</a:t>
            </a:r>
          </a:p>
          <a:p>
            <a:pPr marL="514350" indent="-514350">
              <a:buAutoNum type="arabicPeriod"/>
            </a:pPr>
            <a:r>
              <a:rPr lang="fr-FR" dirty="0"/>
              <a:t>Impact du niveau d’anglais sur la scolarité</a:t>
            </a:r>
          </a:p>
          <a:p>
            <a:pPr marL="514350" indent="-514350">
              <a:buAutoNum type="arabicPeriod"/>
            </a:pPr>
            <a:r>
              <a:rPr lang="fr-FR" dirty="0"/>
              <a:t>Diversité</a:t>
            </a:r>
          </a:p>
          <a:p>
            <a:pPr marL="514350" indent="-514350">
              <a:buAutoNum type="arabicPeriod"/>
            </a:pPr>
            <a:r>
              <a:rPr lang="fr-FR" dirty="0"/>
              <a:t>Vers un tableau de suivi partagé des indicateurs clés </a:t>
            </a:r>
          </a:p>
          <a:p>
            <a:pPr marL="514350" indent="-514350">
              <a:buAutoNum type="arabicPeriod"/>
            </a:pPr>
            <a:r>
              <a:rPr lang="fr-FR" dirty="0"/>
              <a:t>Engagement numérique</a:t>
            </a:r>
          </a:p>
        </p:txBody>
      </p:sp>
    </p:spTree>
    <p:extLst>
      <p:ext uri="{BB962C8B-B14F-4D97-AF65-F5344CB8AC3E}">
        <p14:creationId xmlns:p14="http://schemas.microsoft.com/office/powerpoint/2010/main" val="3895332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D942E7-2391-6D34-F7BF-F5ECF2218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20385" cy="775921"/>
          </a:xfrm>
        </p:spPr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Effectifs par voie d’entrée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DAE2B93C-8B28-ED74-8EA1-0A09E5B15C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23019" y="5823973"/>
            <a:ext cx="4946583" cy="668902"/>
          </a:xfrm>
        </p:spPr>
        <p:txBody>
          <a:bodyPr/>
          <a:lstStyle/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15822227-FB3C-2BCC-38AF-252DA6B59F9C}"/>
              </a:ext>
            </a:extLst>
          </p:cNvPr>
          <p:cNvSpPr txBox="1">
            <a:spLocks/>
          </p:cNvSpPr>
          <p:nvPr/>
        </p:nvSpPr>
        <p:spPr>
          <a:xfrm>
            <a:off x="389626" y="1588650"/>
            <a:ext cx="4061604" cy="413544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du recrutement des MP au profit d’une diversification des voies d’entrée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Notamment création MPI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Mais aussi hausse des PC/PSI </a:t>
            </a:r>
            <a:endParaRPr lang="fr-FR" sz="12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de la part du concours interne INSEE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Variation importante de la part des BL équilibrée par la variation des D2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Stabilité des BUT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récente des AST-2A</a:t>
            </a:r>
            <a:endParaRPr lang="fr-FR" sz="1600" dirty="0"/>
          </a:p>
          <a:p>
            <a:pPr marL="1028700" lvl="1" indent="-342900">
              <a:buFont typeface="Wingdings" panose="05000000000000000000" pitchFamily="2" charset="2"/>
              <a:buChar char="q"/>
            </a:pPr>
            <a:endParaRPr lang="fr-FR" sz="16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AB11CB4-6E8C-5CDE-25BA-7E5AFAC8F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424" y="1556503"/>
            <a:ext cx="6965724" cy="385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454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97410-3364-A9EC-084C-3587A4104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EF6761-26E1-C0C5-C6B2-AA0DBAD48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20385" cy="775921"/>
          </a:xfrm>
        </p:spPr>
        <p:txBody>
          <a:bodyPr/>
          <a:lstStyle/>
          <a:p>
            <a:r>
              <a:rPr lang="fr-FR" b="1" dirty="0">
                <a:latin typeface="+mj-lt"/>
              </a:rPr>
              <a:t>Effectifs par statut à l’entrée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562BB7B3-8B70-A77D-CA5C-85D0EE584B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4536" y="5650410"/>
            <a:ext cx="4946583" cy="668902"/>
          </a:xfrm>
        </p:spPr>
        <p:txBody>
          <a:bodyPr/>
          <a:lstStyle/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D9AB067-02BA-0C05-A467-740CE2DE3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4" y="1532483"/>
            <a:ext cx="6534546" cy="3953929"/>
          </a:xfrm>
          <a:prstGeom prst="rect">
            <a:avLst/>
          </a:prstGeom>
        </p:spPr>
      </p:pic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C68F6A52-BD87-8705-F16B-8A64F57B7018}"/>
              </a:ext>
            </a:extLst>
          </p:cNvPr>
          <p:cNvSpPr txBox="1">
            <a:spLocks/>
          </p:cNvSpPr>
          <p:nvPr/>
        </p:nvSpPr>
        <p:spPr>
          <a:xfrm>
            <a:off x="7175860" y="1649035"/>
            <a:ext cx="4061604" cy="413544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Hausse de 124 à 188 étudiants en 2024, soit + 50 %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Un peu moins de 2/3 d’ingénieurs, un peu plus d’1/3 d’élèves attachés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Une part stable de 35 à 38 % d’élèves attachés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Hormis les années 2022 et 2023 avec moins de 33 % d’attachés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Entre 8 et 13 places au concours interne selon les années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48 attachés recrutés en 2022 contre 68 en 2025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791662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AD4A5-1DDE-20DE-2B0A-A25F7D66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Baisse d’attractivité du statut fonctionnaire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7E4C98-06A0-69E0-BD70-7F304A721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13" y="1320082"/>
            <a:ext cx="4780833" cy="341488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C3FB72D-89E3-7AEB-8CB8-9F0F5879B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20082"/>
            <a:ext cx="5359946" cy="3756677"/>
          </a:xfrm>
          <a:prstGeom prst="rect">
            <a:avLst/>
          </a:prstGeom>
        </p:spPr>
      </p:pic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739F4B82-247A-22E3-BF9C-1BD7F4DD9835}"/>
              </a:ext>
            </a:extLst>
          </p:cNvPr>
          <p:cNvSpPr txBox="1">
            <a:spLocks/>
          </p:cNvSpPr>
          <p:nvPr/>
        </p:nvSpPr>
        <p:spPr>
          <a:xfrm>
            <a:off x="635589" y="5022071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Intérêt pour le statut de fonctionnaire qui repart à la baisse</a:t>
            </a:r>
          </a:p>
          <a:p>
            <a:pPr marL="12573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Équivalent en 2015 et quasi-équivalent à la sortie de la crise du COVID notamment en 2022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De bons classés présents dans les statuts - avec une légère prévalence du diplôme d’ingénieur - mais les moins bien classés choisissent – peut-être par défaut – la filière d’attaché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346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03420-B453-80E5-EEBB-77A153FFE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EC07AF-105D-7292-C625-20D1B57B3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7626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Résultats scolaire en 1</a:t>
            </a:r>
            <a:r>
              <a:rPr lang="fr-FR" b="1" baseline="30000" dirty="0">
                <a:latin typeface="+mj-lt"/>
              </a:rPr>
              <a:t>ère</a:t>
            </a:r>
            <a:r>
              <a:rPr lang="fr-FR" b="1" dirty="0">
                <a:latin typeface="+mj-lt"/>
              </a:rPr>
              <a:t> année et voie d’entrée</a:t>
            </a:r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66B6F50F-2550-98EB-C304-F50C2962CF40}"/>
              </a:ext>
            </a:extLst>
          </p:cNvPr>
          <p:cNvSpPr txBox="1">
            <a:spLocks/>
          </p:cNvSpPr>
          <p:nvPr/>
        </p:nvSpPr>
        <p:spPr>
          <a:xfrm>
            <a:off x="1258685" y="4486931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A392AC3-4260-6E6C-4172-44CCA9D5CA78}"/>
              </a:ext>
            </a:extLst>
          </p:cNvPr>
          <p:cNvSpPr txBox="1"/>
          <p:nvPr/>
        </p:nvSpPr>
        <p:spPr>
          <a:xfrm>
            <a:off x="165340" y="1824651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Moyenne générale des élèves en 1</a:t>
            </a:r>
            <a:r>
              <a:rPr lang="fr-FR" sz="1800" baseline="30000" dirty="0"/>
              <a:t>ère</a:t>
            </a:r>
            <a:r>
              <a:rPr lang="fr-FR" sz="1800" dirty="0"/>
              <a:t> année selon la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912FABD5-4B94-3658-7B06-5485A64242D4}"/>
              </a:ext>
            </a:extLst>
          </p:cNvPr>
          <p:cNvSpPr txBox="1">
            <a:spLocks/>
          </p:cNvSpPr>
          <p:nvPr/>
        </p:nvSpPr>
        <p:spPr>
          <a:xfrm>
            <a:off x="1041030" y="51673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admis via le concours INSEE ont une meilleure moyenne générale sur la période 2015-2025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ERASMUS sont les plus en difficulté (&lt;12/20), puis les BL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MPI : une voie d’entrée prometteuse…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9BA714B-7F27-3D9F-2C29-EB7260639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972" y="1628908"/>
            <a:ext cx="4991082" cy="277919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509CC6D-4978-48A6-CED1-BFFA0140B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50" y="2327947"/>
            <a:ext cx="6573823" cy="1655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12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8881-0813-A5D2-5A99-4AC243062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47D1AD-65D7-0234-0FC5-6C96E4143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69771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Résultats scolaire en 2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</a:t>
            </a:r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D5987521-5D9E-5563-6643-8C2D4BA25530}"/>
              </a:ext>
            </a:extLst>
          </p:cNvPr>
          <p:cNvSpPr txBox="1">
            <a:spLocks/>
          </p:cNvSpPr>
          <p:nvPr/>
        </p:nvSpPr>
        <p:spPr>
          <a:xfrm>
            <a:off x="1258685" y="4486931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D3F148-0368-C8D3-8EAA-8B6D20BD3E26}"/>
              </a:ext>
            </a:extLst>
          </p:cNvPr>
          <p:cNvSpPr txBox="1"/>
          <p:nvPr/>
        </p:nvSpPr>
        <p:spPr>
          <a:xfrm>
            <a:off x="0" y="1861564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Moyenne générale des élèves en 2</a:t>
            </a:r>
            <a:r>
              <a:rPr lang="fr-FR" baseline="30000" dirty="0"/>
              <a:t>èm</a:t>
            </a:r>
            <a:r>
              <a:rPr lang="fr-FR" sz="1800" baseline="30000" dirty="0"/>
              <a:t>e</a:t>
            </a:r>
            <a:r>
              <a:rPr lang="fr-FR" sz="1800" dirty="0"/>
              <a:t> année selon la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61006B6E-812C-C8CA-8353-DE9E6B59A1FE}"/>
              </a:ext>
            </a:extLst>
          </p:cNvPr>
          <p:cNvSpPr txBox="1">
            <a:spLocks/>
          </p:cNvSpPr>
          <p:nvPr/>
        </p:nvSpPr>
        <p:spPr>
          <a:xfrm>
            <a:off x="1041030" y="51673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68449745-A252-943F-86F0-E58FCB7B7FE3}"/>
              </a:ext>
            </a:extLst>
          </p:cNvPr>
          <p:cNvSpPr txBox="1">
            <a:spLocks/>
          </p:cNvSpPr>
          <p:nvPr/>
        </p:nvSpPr>
        <p:spPr>
          <a:xfrm>
            <a:off x="1193430" y="53197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moyennes ont tendance à s’équilibrer en deuxième année</a:t>
            </a:r>
          </a:p>
          <a:p>
            <a:pPr marL="12573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La première année a fait le travail d’harmonisation des niveaux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AST-2A un peu au-dessus en moyenne générale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D2 sont davantage en difficulté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3F6183D-C83A-B581-C91E-120561615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59" y="2279868"/>
            <a:ext cx="6129698" cy="155315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F1CF49C-A785-FAC6-BDDD-1DE285042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968" y="1632966"/>
            <a:ext cx="5173001" cy="318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056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1AC22-F4B9-7255-92DA-93F9FEF8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054061-3917-2771-968D-7D8F1CA25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Résultats scolaire en 1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 par type de matière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B1EF16C-69A0-B707-88FD-C66FDBCFB06B}"/>
              </a:ext>
            </a:extLst>
          </p:cNvPr>
          <p:cNvSpPr txBox="1"/>
          <p:nvPr/>
        </p:nvSpPr>
        <p:spPr>
          <a:xfrm>
            <a:off x="838200" y="1702167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Statistique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5A00E254-D758-7D91-39A1-2AA1A05B8C5D}"/>
              </a:ext>
            </a:extLst>
          </p:cNvPr>
          <p:cNvSpPr txBox="1">
            <a:spLocks/>
          </p:cNvSpPr>
          <p:nvPr/>
        </p:nvSpPr>
        <p:spPr>
          <a:xfrm>
            <a:off x="838199" y="493649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 et D2 en retrait sur les matières statistiques et informatique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 également en difficulté dans les matières d’économie</a:t>
            </a:r>
          </a:p>
          <a:p>
            <a:pPr marL="12573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Qui sont largement mathématisée à l’école, voire informatisée dans les TD/TP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BL se rattrapent notamment sur les Humanités, tout comme les ERASMUS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1863CCA-248E-EE10-8F73-EC177197CE94}"/>
              </a:ext>
            </a:extLst>
          </p:cNvPr>
          <p:cNvSpPr txBox="1"/>
          <p:nvPr/>
        </p:nvSpPr>
        <p:spPr>
          <a:xfrm>
            <a:off x="5919121" y="1713646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Informatique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94DDE68-53D7-9C8A-C86A-D7EFCE54F693}"/>
              </a:ext>
            </a:extLst>
          </p:cNvPr>
          <p:cNvSpPr txBox="1"/>
          <p:nvPr/>
        </p:nvSpPr>
        <p:spPr>
          <a:xfrm>
            <a:off x="838200" y="3283829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Économie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00A0AF2-E600-2DFA-004A-474C75AEE135}"/>
              </a:ext>
            </a:extLst>
          </p:cNvPr>
          <p:cNvSpPr txBox="1"/>
          <p:nvPr/>
        </p:nvSpPr>
        <p:spPr>
          <a:xfrm>
            <a:off x="5919121" y="3281228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Humanités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98B88CB-3F04-353F-99BF-6889A24DA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030" y="3597129"/>
            <a:ext cx="3948727" cy="112186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4331B80C-89AA-C17B-1868-4CA0FFAF6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590090"/>
            <a:ext cx="4021760" cy="115067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06FDD83-4188-A3C3-B306-D6357C445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66" y="2082978"/>
            <a:ext cx="4466201" cy="108742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4D03615-A00F-8C33-87DB-42975FD4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2091738"/>
            <a:ext cx="4511228" cy="1070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67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6D8BC-2E0E-B22B-D326-BC2BB8C4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2CBBB-6F3E-715A-3EBE-CBC2D9BC3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Résultats scolaire en 2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 par type de matière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1DE8C20-6DEC-6856-5243-7716D09C69D6}"/>
              </a:ext>
            </a:extLst>
          </p:cNvPr>
          <p:cNvSpPr txBox="1"/>
          <p:nvPr/>
        </p:nvSpPr>
        <p:spPr>
          <a:xfrm>
            <a:off x="838200" y="1702167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Statistique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6E2C89AD-A453-D07D-7F6D-05D43F1F28E9}"/>
              </a:ext>
            </a:extLst>
          </p:cNvPr>
          <p:cNvSpPr txBox="1">
            <a:spLocks/>
          </p:cNvSpPr>
          <p:nvPr/>
        </p:nvSpPr>
        <p:spPr>
          <a:xfrm>
            <a:off x="822646" y="5144354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Et ça s’équilibre, encore et encore…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C’est tout de même un peu plus difficile pour les BL et D2 sur le passé récent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56740B9-28FB-098A-CDD5-7CA5520D8933}"/>
              </a:ext>
            </a:extLst>
          </p:cNvPr>
          <p:cNvSpPr txBox="1"/>
          <p:nvPr/>
        </p:nvSpPr>
        <p:spPr>
          <a:xfrm>
            <a:off x="5919121" y="1713646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Informatique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97F0265-59B1-5633-54F7-7A2522EF3116}"/>
              </a:ext>
            </a:extLst>
          </p:cNvPr>
          <p:cNvSpPr txBox="1"/>
          <p:nvPr/>
        </p:nvSpPr>
        <p:spPr>
          <a:xfrm>
            <a:off x="838200" y="3283829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Économie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9B02A1E-CC56-8D32-A09A-D237B011569D}"/>
              </a:ext>
            </a:extLst>
          </p:cNvPr>
          <p:cNvSpPr txBox="1"/>
          <p:nvPr/>
        </p:nvSpPr>
        <p:spPr>
          <a:xfrm>
            <a:off x="5919121" y="3281228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Humanités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F360986-40F6-306B-E0B2-629FD75BA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3650560"/>
            <a:ext cx="4288784" cy="119825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BF6D601-17F1-2554-1615-5CA37C054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078" y="3609316"/>
            <a:ext cx="4318101" cy="125617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348BAD4-BA2D-38CB-F86D-C99C3615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446" y="2040438"/>
            <a:ext cx="4304337" cy="119564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980547B-D5C5-860B-4B88-25021B002E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98" y="2082979"/>
            <a:ext cx="4437381" cy="1224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81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C52F1-9D91-4EBD-74F6-A88AEF93B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F9976F-54E2-3BE4-03CA-9B716F6B1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Redoublement et rang à l’entrée (concours mathématiques)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E2C439-3F40-15E4-4D0B-FE50E37FBB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4464" y="1905181"/>
            <a:ext cx="4435408" cy="44456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La moyenne, la médiane du classement à l’entrée semble être liée à un risque de redoublement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Mais pas sans quelque accident…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9AAD752-4214-C34C-DD5A-12CDE8E8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05181"/>
            <a:ext cx="5621849" cy="3469076"/>
          </a:xfrm>
          <a:prstGeom prst="rect">
            <a:avLst/>
          </a:prstGeom>
        </p:spPr>
      </p:pic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A377803C-9073-2C58-2B53-837C2DE96B49}"/>
              </a:ext>
            </a:extLst>
          </p:cNvPr>
          <p:cNvSpPr txBox="1">
            <a:spLocks/>
          </p:cNvSpPr>
          <p:nvPr/>
        </p:nvSpPr>
        <p:spPr>
          <a:xfrm>
            <a:off x="751936" y="5282376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Un lien significatif mais faible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Chaque point supplémentaire au rang standardisé augmente le risque de redoublement de 4,5 %</a:t>
            </a:r>
          </a:p>
        </p:txBody>
      </p:sp>
    </p:spTree>
    <p:extLst>
      <p:ext uri="{BB962C8B-B14F-4D97-AF65-F5344CB8AC3E}">
        <p14:creationId xmlns:p14="http://schemas.microsoft.com/office/powerpoint/2010/main" val="2037052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BAAFB1-7345-5807-23E0-05F1EC707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76472" cy="1325563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Les mathématiques et la voie d’entrée en évolution</a:t>
            </a:r>
            <a:br>
              <a:rPr lang="fr-FR" b="1" dirty="0"/>
            </a:b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4487BA-4557-E1FA-F7BA-E2E2955E6D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5480485"/>
            <a:ext cx="10169106" cy="349609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La situation s’améliore davantage pour les voies d’entrée à plus grand risque de difficulté (BL et D2) que les filières à plus faible risque (MP, PC/PSI)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501342-3BBF-3506-26BC-6281C5CB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052" y="1027906"/>
            <a:ext cx="7073246" cy="4374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0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13F6AE-A221-6B50-6D69-592D41B04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Les déterminants des choix de filière de spécialisation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9D28924-B5C4-13D0-E719-1033096A38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2044700"/>
            <a:ext cx="4372155" cy="3886200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d’attractivité de la filière MKT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Intérêt pour GR qui se réduit depuis 2023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tendancielle de GS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nouvelles filières STD et DIGISPORT connaissent un engouement croissant mais variable (faibles effectifs)</a:t>
            </a:r>
          </a:p>
          <a:p>
            <a:pPr marL="228600"/>
            <a:r>
              <a:rPr lang="fr-FR" sz="2000" dirty="0"/>
              <a:t>NB : les résultats dépendent également des contingentements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92ADCF5-18D7-9FCD-C86C-09306CFAD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240" y="1911803"/>
            <a:ext cx="6505679" cy="4019097"/>
          </a:xfrm>
          <a:prstGeom prst="rect">
            <a:avLst/>
          </a:prstGeom>
        </p:spPr>
      </p:pic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F738BB57-D405-7C41-3181-29839A7C6DA8}"/>
              </a:ext>
            </a:extLst>
          </p:cNvPr>
          <p:cNvSpPr txBox="1">
            <a:spLocks/>
          </p:cNvSpPr>
          <p:nvPr/>
        </p:nvSpPr>
        <p:spPr>
          <a:xfrm>
            <a:off x="5873817" y="6002220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</p:spTree>
    <p:extLst>
      <p:ext uri="{BB962C8B-B14F-4D97-AF65-F5344CB8AC3E}">
        <p14:creationId xmlns:p14="http://schemas.microsoft.com/office/powerpoint/2010/main" val="17203210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F007-7C33-EE19-10B2-756804F70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8028F8-CCA4-51F0-6A63-4CDFD581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Les déterminants des choix de filière de spécialisation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79A211-E1DB-20F8-C8EE-3D6E5550AB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1031" y="5167312"/>
            <a:ext cx="8206484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AST surreprésentés en GR et MKT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 et D2 surreprésentés en MES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BUT surreprésentés en SBIO et DIGISPORT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Toutes les voies d’entrée sont représentées en GS et ID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09E0594F-E50C-0A76-1E5A-D571AA3D253B}"/>
              </a:ext>
            </a:extLst>
          </p:cNvPr>
          <p:cNvSpPr txBox="1">
            <a:spLocks/>
          </p:cNvSpPr>
          <p:nvPr/>
        </p:nvSpPr>
        <p:spPr>
          <a:xfrm>
            <a:off x="1363432" y="4498410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50906FFA-5E7F-96D6-C95C-5C2739441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432" y="1730182"/>
            <a:ext cx="9431066" cy="2781688"/>
          </a:xfrm>
          <a:prstGeom prst="rect">
            <a:avLst/>
          </a:prstGeom>
        </p:spPr>
      </p:pic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7336B91D-3BC3-F65D-5B23-5575D815181E}"/>
              </a:ext>
            </a:extLst>
          </p:cNvPr>
          <p:cNvSpPr txBox="1">
            <a:spLocks/>
          </p:cNvSpPr>
          <p:nvPr/>
        </p:nvSpPr>
        <p:spPr>
          <a:xfrm>
            <a:off x="1158925" y="1368813"/>
            <a:ext cx="8206484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40866860-EAF7-AEF8-A18D-09BFB900955F}"/>
              </a:ext>
            </a:extLst>
          </p:cNvPr>
          <p:cNvSpPr txBox="1">
            <a:spLocks/>
          </p:cNvSpPr>
          <p:nvPr/>
        </p:nvSpPr>
        <p:spPr>
          <a:xfrm>
            <a:off x="1041031" y="1368813"/>
            <a:ext cx="10194875" cy="38862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r>
              <a:rPr lang="fr-FR" sz="2000" dirty="0"/>
              <a:t>Répartition des voies d’entrée dans les filières de spécialisation de 3</a:t>
            </a:r>
            <a:r>
              <a:rPr lang="fr-FR" sz="2000" baseline="30000" dirty="0"/>
              <a:t>ème</a:t>
            </a:r>
            <a:r>
              <a:rPr lang="fr-FR" sz="2000" dirty="0"/>
              <a:t> année</a:t>
            </a:r>
          </a:p>
        </p:txBody>
      </p:sp>
    </p:spTree>
    <p:extLst>
      <p:ext uri="{BB962C8B-B14F-4D97-AF65-F5344CB8AC3E}">
        <p14:creationId xmlns:p14="http://schemas.microsoft.com/office/powerpoint/2010/main" val="231052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D0A84-7B3F-5B63-E554-8D0BAD44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7FD6F-CCB5-78C1-DF07-FC75CD51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+mj-lt"/>
              </a:rPr>
              <a:t>Impact du niveau d’anglais sur la scolarité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37080-96F8-5D4C-A56E-30EFA14873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4282833"/>
            <a:ext cx="10397706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Un léger lien entre le niveau d’anglais mesuré par le TOEIC et la moyenne sur les 2 premières années d’école, sans pouvoir y voir une causalité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fonctionnaires semblent avoir un niveau moins élevé selon le score TOEIC, mais le phénomène a le même pattern chez les ingénieurs et les attachés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E44CB01A-E49B-E386-426B-D2E6FA4A43D0}"/>
              </a:ext>
            </a:extLst>
          </p:cNvPr>
          <p:cNvSpPr txBox="1">
            <a:spLocks/>
          </p:cNvSpPr>
          <p:nvPr/>
        </p:nvSpPr>
        <p:spPr>
          <a:xfrm>
            <a:off x="1158925" y="1368813"/>
            <a:ext cx="8206484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DFFB2FD3-CEBC-796B-A00B-93950BF4EC17}"/>
              </a:ext>
            </a:extLst>
          </p:cNvPr>
          <p:cNvSpPr txBox="1">
            <a:spLocks/>
          </p:cNvSpPr>
          <p:nvPr/>
        </p:nvSpPr>
        <p:spPr>
          <a:xfrm>
            <a:off x="1041031" y="1368813"/>
            <a:ext cx="10194875" cy="38862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AF3C9AA-3E90-5496-9899-4DDB58740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56" y="1690688"/>
            <a:ext cx="10739887" cy="2245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7414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DEFBD-B5D6-1A25-DE20-2FD2F28A3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Diversité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9B2C947-09CD-FD3F-6598-3414906F7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85" y="1595887"/>
            <a:ext cx="4848156" cy="300630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27AFB5B-1352-2652-4FF4-01BBD64A4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792" y="1181577"/>
            <a:ext cx="6175170" cy="355001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3AFD1B8-BAF7-BA15-5A8D-851BBEF8D290}"/>
              </a:ext>
            </a:extLst>
          </p:cNvPr>
          <p:cNvSpPr txBox="1"/>
          <p:nvPr/>
        </p:nvSpPr>
        <p:spPr>
          <a:xfrm>
            <a:off x="691550" y="5186623"/>
            <a:ext cx="109023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Baisse tendancielle de la part des femmes de 39 % en 2015 à 31 % en 2025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Hausse tendancielle et importante de la part des Étrangers hors UE, de 11 % en 2A en 2015 à 31 % en 2025</a:t>
            </a:r>
          </a:p>
          <a:p>
            <a:r>
              <a:rPr lang="fr-FR" dirty="0">
                <a:sym typeface="Wingdings" panose="05000000000000000000" pitchFamily="2" charset="2"/>
              </a:rPr>
              <a:t> La diversité, ce n’est pas que ça, mais ce sont les principaux indicateurs regardés dans les enquêtes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07498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7C91A-D7FB-37C0-E559-1BA0B88A5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Vers un tableau de bord de pilotage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16403-D64E-12E2-597C-ABC91D1589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2044700"/>
            <a:ext cx="10515600" cy="13843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Industrialiser le suivi, se mettre d’accord :</a:t>
            </a:r>
          </a:p>
          <a:p>
            <a:pPr marL="1143000" lvl="1" indent="-457200">
              <a:buFont typeface="Wingdings" panose="05000000000000000000" pitchFamily="2" charset="2"/>
              <a:buChar char="q"/>
            </a:pPr>
            <a:r>
              <a:rPr lang="fr-FR" dirty="0"/>
              <a:t>Sur nos propres besoins</a:t>
            </a:r>
          </a:p>
          <a:p>
            <a:pPr marL="1143000" lvl="1" indent="-457200">
              <a:buFont typeface="Wingdings" panose="05000000000000000000" pitchFamily="2" charset="2"/>
              <a:buChar char="q"/>
            </a:pPr>
            <a:r>
              <a:rPr lang="fr-FR" dirty="0"/>
              <a:t>En conformité avec les attentes des différentes enquêtes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594EC9E-A650-61DE-484B-86F1E44E4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57" y="4230751"/>
            <a:ext cx="6136188" cy="139914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D6273A-DCDE-3B91-4C8F-331AD48F1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908" y="4215908"/>
            <a:ext cx="4953542" cy="1371937"/>
          </a:xfrm>
          <a:prstGeom prst="rect">
            <a:avLst/>
          </a:prstGeom>
        </p:spPr>
      </p:pic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5BCD1CCA-534F-AB2A-FD09-A36489C3D89E}"/>
              </a:ext>
            </a:extLst>
          </p:cNvPr>
          <p:cNvSpPr txBox="1">
            <a:spLocks/>
          </p:cNvSpPr>
          <p:nvPr/>
        </p:nvSpPr>
        <p:spPr>
          <a:xfrm>
            <a:off x="838200" y="3532517"/>
            <a:ext cx="10515600" cy="13843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b="1" dirty="0">
                <a:sym typeface="Wingdings" panose="05000000000000000000" pitchFamily="2" charset="2"/>
              </a:rPr>
              <a:t>Lister ensemble les indicateurs à surveiller</a:t>
            </a:r>
            <a:endParaRPr lang="fr-FR" b="1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D9376780-6AC3-5DFF-6DE8-99B5093F8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65" y="5587845"/>
            <a:ext cx="1163293" cy="123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563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8DEF0C-9E81-D39D-21BD-D5A379EF8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Engagement numérique : un début d’esquisse de commencement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BFCA96-5438-526B-7677-D53BBA3424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Travaux en cours sur les données Moodle 2020-2025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Construction d’indicateurs de d’engagement numérique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8CF857-3B8B-0225-4EB1-818B87E1C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041" y="3700732"/>
            <a:ext cx="6243170" cy="213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669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626AFC-141E-4333-1FCF-495B6A4F9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Engagement numérique : une aide à la détection des décrochages scolaires ?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976DF9-6F30-AE07-A31A-108F2E946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83" y="1643084"/>
            <a:ext cx="6994021" cy="3301349"/>
          </a:xfrm>
          <a:prstGeom prst="rect">
            <a:avLst/>
          </a:prstGeom>
        </p:spPr>
      </p:pic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D218809E-2078-22E0-582B-2F5634C4EC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4944433"/>
            <a:ext cx="10427898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L’engagement numérique ne peut être à lui seul un indicateur de prédiction du décrochage et du risque de redoublement / exclusion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Mais utile dans une combinaison d’autres indicateurs (absences, certaines notes, etc.)</a:t>
            </a:r>
          </a:p>
          <a:p>
            <a:pPr marL="228600"/>
            <a:r>
              <a:rPr lang="fr-FR" sz="2000" dirty="0">
                <a:sym typeface="Wingdings" panose="05000000000000000000" pitchFamily="2" charset="2"/>
              </a:rPr>
              <a:t> À creuser</a:t>
            </a: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40178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8D2BA-1151-9AA5-54A1-A5E2F7910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2EB9F3-FB7A-34D5-C72B-FEE06C28E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Engagement numérique : une aide à la mise en place de contenus pédagogiques ?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CFAA4092-3255-6203-FF02-D255375AEA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72860" y="4449009"/>
            <a:ext cx="10427898" cy="2166853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Nécessité d’objectiver le niveau d’apprentissage et d’assimilation des élèves selon les propositions pédagogiques proposées sur Moodle (DM, Quizz, etc.)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Idéalement une ou des enquêtes qualitatives plutôt que la réussite aux examens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Tester grandeur nature deux modes d’apprentissage dans la même matière et observer la réussite à l’examen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La solution de remplacement de Pamplemousse intégrerait-elle des possibilités de suivre l’engagement numérique des élèves ?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143F438-BBEA-6A9E-5F43-9D54B244F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25" y="2007285"/>
            <a:ext cx="4537029" cy="250318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2466BED-0E13-9649-A906-EF42D392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003" y="1824003"/>
            <a:ext cx="4272718" cy="2637480"/>
          </a:xfrm>
          <a:prstGeom prst="rect">
            <a:avLst/>
          </a:prstGeom>
        </p:spPr>
      </p:pic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351227C3-2187-7E64-7DD6-CD16F083681F}"/>
              </a:ext>
            </a:extLst>
          </p:cNvPr>
          <p:cNvSpPr txBox="1">
            <a:spLocks/>
          </p:cNvSpPr>
          <p:nvPr/>
        </p:nvSpPr>
        <p:spPr>
          <a:xfrm>
            <a:off x="1227827" y="1528508"/>
            <a:ext cx="3835879" cy="45767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r>
              <a:rPr lang="fr-FR" sz="2000" dirty="0"/>
              <a:t>Méthode d’analyse factorielle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7E9B1C8C-C397-8EDB-11FA-8F31C9846130}"/>
              </a:ext>
            </a:extLst>
          </p:cNvPr>
          <p:cNvSpPr txBox="1">
            <a:spLocks/>
          </p:cNvSpPr>
          <p:nvPr/>
        </p:nvSpPr>
        <p:spPr>
          <a:xfrm>
            <a:off x="6443932" y="1528508"/>
            <a:ext cx="3835879" cy="45767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r>
              <a:rPr lang="fr-FR" sz="2000" dirty="0"/>
              <a:t>Régression linéaire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5093987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>
          <a:xfrm>
            <a:off x="6378114" y="2903489"/>
            <a:ext cx="4049785" cy="1325563"/>
          </a:xfrm>
        </p:spPr>
        <p:txBody>
          <a:bodyPr/>
          <a:lstStyle/>
          <a:p>
            <a:r>
              <a:rPr lang="fr-FR" dirty="0">
                <a:latin typeface="+mj-lt"/>
              </a:rPr>
              <a:t>Des questions ?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BB6E495-AB01-E9D1-315F-1E86D5F9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58596" cy="686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803669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1">
      <a:majorFont>
        <a:latin typeface="Bahnschrift Light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P ENSAI 2024 (004) [Lecture seule]" id="{A8C3ABBE-4DAF-470D-8BE6-22D8833A9F33}" vid="{5F2DD50E-0F97-4FC8-AEA4-A9228D75ACE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s ENSAI" ma:contentTypeID="0x0101003CC4B864CFCC5B4D9ACD432D285AC3BC003130031EBC5F8A408D719B71B7F316F7" ma:contentTypeVersion="100" ma:contentTypeDescription="" ma:contentTypeScope="" ma:versionID="b953b99991b6a203445a6aec087abea0">
  <xsd:schema xmlns:xsd="http://www.w3.org/2001/XMLSchema" xmlns:xs="http://www.w3.org/2001/XMLSchema" xmlns:p="http://schemas.microsoft.com/office/2006/metadata/properties" xmlns:ns2="ec989fea-bb25-4413-a12c-f328b06a6537" targetNamespace="http://schemas.microsoft.com/office/2006/metadata/properties" ma:root="true" ma:fieldsID="42c940d45ce8157fd86eab27bc1c28be" ns2:_="">
    <xsd:import namespace="ec989fea-bb25-4413-a12c-f328b06a6537"/>
    <xsd:element name="properties">
      <xsd:complexType>
        <xsd:sequence>
          <xsd:element name="documentManagement">
            <xsd:complexType>
              <xsd:all>
                <xsd:element ref="ns2:Mise_x0020_en_x0020_avant" minOccurs="0"/>
                <xsd:element ref="ns2:Date1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989fea-bb25-4413-a12c-f328b06a6537" elementFormDefault="qualified">
    <xsd:import namespace="http://schemas.microsoft.com/office/2006/documentManagement/types"/>
    <xsd:import namespace="http://schemas.microsoft.com/office/infopath/2007/PartnerControls"/>
    <xsd:element name="Mise_x0020_en_x0020_avant" ma:index="8" nillable="true" ma:displayName="Mise en avant" ma:default="0" ma:internalName="Mise_x0020_en_x0020_avant">
      <xsd:simpleType>
        <xsd:restriction base="dms:Boolean"/>
      </xsd:simpleType>
    </xsd:element>
    <xsd:element name="Date1" ma:index="9" nillable="true" ma:displayName="Date" ma:default="[today]" ma:format="DateOnly" ma:internalName="Date1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1 xmlns="ec989fea-bb25-4413-a12c-f328b06a6537">2024-09-04T08:04:05+00:00</Date1>
    <Mise_x0020_en_x0020_avant xmlns="ec989fea-bb25-4413-a12c-f328b06a6537">false</Mise_x0020_en_x0020_avan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haredContentType xmlns="Microsoft.SharePoint.Taxonomy.ContentTypeSync" SourceId="a3fec588-6c6b-4406-8ca4-9ac9567ea887" ContentTypeId="0x0101003CC4B864CFCC5B4D9ACD432D285AC3BC" PreviousValue="false"/>
</file>

<file path=customXml/itemProps1.xml><?xml version="1.0" encoding="utf-8"?>
<ds:datastoreItem xmlns:ds="http://schemas.openxmlformats.org/officeDocument/2006/customXml" ds:itemID="{D9364823-1FE6-41BC-976B-2ADEDF3F65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c989fea-bb25-4413-a12c-f328b06a65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1EFE21-6212-40E3-9464-BEE2346D99CE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dcmitype/"/>
    <ds:schemaRef ds:uri="ec989fea-bb25-4413-a12c-f328b06a6537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92A3D37-6C49-4620-B2B6-76D5704EBC4C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E5D901EE-349C-4207-96FC-2EDAA5B8F19A}">
  <ds:schemaRefs>
    <ds:schemaRef ds:uri="Microsoft.SharePoint.Taxonomy.ContentTypeSyn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Modele PPT ENSAI 2024</Template>
  <TotalTime>6289</TotalTime>
  <Words>1065</Words>
  <Application>Microsoft Office PowerPoint</Application>
  <PresentationFormat>Grand écran</PresentationFormat>
  <Paragraphs>125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8" baseType="lpstr">
      <vt:lpstr>Aptos</vt:lpstr>
      <vt:lpstr>Arial</vt:lpstr>
      <vt:lpstr>Bahnschrift Light SemiCondensed</vt:lpstr>
      <vt:lpstr>Bahnschrift SemiLight</vt:lpstr>
      <vt:lpstr>Calibri</vt:lpstr>
      <vt:lpstr>Georgia</vt:lpstr>
      <vt:lpstr>Wingdings</vt:lpstr>
      <vt:lpstr>Conception personnalisée</vt:lpstr>
      <vt:lpstr>Présentation PowerPoint</vt:lpstr>
      <vt:lpstr>Plan</vt:lpstr>
      <vt:lpstr>Effectifs par voie d’entrée</vt:lpstr>
      <vt:lpstr>Effectifs par statut à l’entrée</vt:lpstr>
      <vt:lpstr>Baisse d’attractivité du statut fonctionnaire</vt:lpstr>
      <vt:lpstr>Résultats scolaire en 1ère année et voie d’entrée</vt:lpstr>
      <vt:lpstr>Résultats scolaire en 2ème année et voie d’entrée</vt:lpstr>
      <vt:lpstr>Résultats scolaire en 1ème année et voie d’entrée par type de matière</vt:lpstr>
      <vt:lpstr>Résultats scolaire en 2ème année et voie d’entrée par type de matière</vt:lpstr>
      <vt:lpstr>Redoublement et rang à l’entrée (concours mathématiques)</vt:lpstr>
      <vt:lpstr>Les mathématiques et la voie d’entrée en évolution </vt:lpstr>
      <vt:lpstr>Les déterminants des choix de filière de spécialisation</vt:lpstr>
      <vt:lpstr>Les déterminants des choix de filière de spécialisation</vt:lpstr>
      <vt:lpstr>Impact du niveau d’anglais sur la scolarité</vt:lpstr>
      <vt:lpstr>Diversité</vt:lpstr>
      <vt:lpstr>Vers un tableau de bord de pilotage </vt:lpstr>
      <vt:lpstr>Engagement numérique : un début d’esquisse de commencement</vt:lpstr>
      <vt:lpstr>Engagement numérique : une aide à la détection des décrochages scolaires ?</vt:lpstr>
      <vt:lpstr>Engagement numérique : une aide à la mise en place de contenus pédagogiques ?</vt:lpstr>
      <vt:lpstr>Des questions ?</vt:lpstr>
    </vt:vector>
  </TitlesOfParts>
  <Company>ENSAI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GANDUBERT Patrick</dc:creator>
  <cp:lastModifiedBy>LESIEUR Christophe</cp:lastModifiedBy>
  <cp:revision>91</cp:revision>
  <dcterms:created xsi:type="dcterms:W3CDTF">2024-10-07T14:28:24Z</dcterms:created>
  <dcterms:modified xsi:type="dcterms:W3CDTF">2026-06-09T08:00:59Z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0x0101003CC4B864CFCC5B4D9ACD432D285AC3BC003130031EBC5F8A408D719B71B7F316F7</vt:lpwstr>
  </property>
</Properties>
</file>