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0" r:id="rId5"/>
  </p:sldMasterIdLst>
  <p:notesMasterIdLst>
    <p:notesMasterId r:id="rId32"/>
  </p:notesMasterIdLst>
  <p:handoutMasterIdLst>
    <p:handoutMasterId r:id="rId33"/>
  </p:handoutMasterIdLst>
  <p:sldIdLst>
    <p:sldId id="259" r:id="rId6"/>
    <p:sldId id="283" r:id="rId7"/>
    <p:sldId id="284" r:id="rId8"/>
    <p:sldId id="286" r:id="rId9"/>
    <p:sldId id="288" r:id="rId10"/>
    <p:sldId id="308" r:id="rId11"/>
    <p:sldId id="309" r:id="rId12"/>
    <p:sldId id="315" r:id="rId13"/>
    <p:sldId id="293" r:id="rId14"/>
    <p:sldId id="295" r:id="rId15"/>
    <p:sldId id="296" r:id="rId16"/>
    <p:sldId id="297" r:id="rId17"/>
    <p:sldId id="313" r:id="rId18"/>
    <p:sldId id="311" r:id="rId19"/>
    <p:sldId id="298" r:id="rId20"/>
    <p:sldId id="289" r:id="rId21"/>
    <p:sldId id="287" r:id="rId22"/>
    <p:sldId id="291" r:id="rId23"/>
    <p:sldId id="314" r:id="rId24"/>
    <p:sldId id="306" r:id="rId25"/>
    <p:sldId id="299" r:id="rId26"/>
    <p:sldId id="300" r:id="rId27"/>
    <p:sldId id="301" r:id="rId28"/>
    <p:sldId id="302" r:id="rId29"/>
    <p:sldId id="304" r:id="rId30"/>
    <p:sldId id="277" r:id="rId3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AEDB"/>
    <a:srgbClr val="005980"/>
    <a:srgbClr val="A6A6A6"/>
    <a:srgbClr val="009BDE"/>
    <a:srgbClr val="564A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822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customXml" Target="../customXml/item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CCED0-103C-4C10-8D72-99DD07E324A0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4C92F0-C3EC-4C25-8D86-B30BA11ABE6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3369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258B95-F104-4A72-A4BF-C3A46957C253}" type="datetimeFigureOut">
              <a:rPr lang="fr-FR" smtClean="0"/>
              <a:t>29/06/2026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61E338-64DE-4218-8E01-89E259BBC0E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11136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e de tit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1149350" y="2705100"/>
            <a:ext cx="5384800" cy="5207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pPr lvl="0"/>
            <a:r>
              <a:rPr lang="fr-FR" dirty="0"/>
              <a:t>Sous titre</a:t>
            </a:r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4" hasCustomPrompt="1"/>
          </p:nvPr>
        </p:nvSpPr>
        <p:spPr>
          <a:xfrm>
            <a:off x="1149350" y="3492500"/>
            <a:ext cx="1701800" cy="5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Date</a:t>
            </a:r>
          </a:p>
        </p:txBody>
      </p:sp>
      <p:sp>
        <p:nvSpPr>
          <p:cNvPr id="16" name="Espace réservé du texte 9"/>
          <p:cNvSpPr>
            <a:spLocks noGrp="1"/>
          </p:cNvSpPr>
          <p:nvPr>
            <p:ph type="body" sz="quarter" idx="16" hasCustomPrompt="1"/>
          </p:nvPr>
        </p:nvSpPr>
        <p:spPr>
          <a:xfrm>
            <a:off x="1149350" y="5143500"/>
            <a:ext cx="4006850" cy="5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aseline="0"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Nom prénom (facultatif)</a:t>
            </a:r>
          </a:p>
        </p:txBody>
      </p:sp>
      <p:sp>
        <p:nvSpPr>
          <p:cNvPr id="8" name="Espace réservé du texte 2"/>
          <p:cNvSpPr>
            <a:spLocks noGrp="1"/>
          </p:cNvSpPr>
          <p:nvPr>
            <p:ph type="body" sz="quarter" idx="17" hasCustomPrompt="1"/>
          </p:nvPr>
        </p:nvSpPr>
        <p:spPr>
          <a:xfrm>
            <a:off x="1149350" y="635000"/>
            <a:ext cx="4565650" cy="17145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5400" baseline="0">
                <a:solidFill>
                  <a:schemeClr val="bg1"/>
                </a:solidFill>
                <a:latin typeface="Georgia" panose="02040502050405020303" pitchFamily="18" charset="0"/>
                <a:ea typeface="CSongGB18030C-Light" panose="020A0304000101010101" pitchFamily="18" charset="-122"/>
                <a:cs typeface="Cascadia Mono" panose="020B0609020000020004" pitchFamily="49" charset="0"/>
              </a:defRPr>
            </a:lvl1pPr>
          </a:lstStyle>
          <a:p>
            <a:pPr lvl="0"/>
            <a:r>
              <a:rPr lang="fr-FR" dirty="0"/>
              <a:t>Titre de la présentation</a:t>
            </a:r>
          </a:p>
        </p:txBody>
      </p:sp>
    </p:spTree>
    <p:extLst>
      <p:ext uri="{BB962C8B-B14F-4D97-AF65-F5344CB8AC3E}">
        <p14:creationId xmlns:p14="http://schemas.microsoft.com/office/powerpoint/2010/main" val="738990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Modifiez le texte du 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044700"/>
            <a:ext cx="10515600" cy="38862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Ajoutez du texte ici</a:t>
            </a:r>
          </a:p>
        </p:txBody>
      </p:sp>
    </p:spTree>
    <p:extLst>
      <p:ext uri="{BB962C8B-B14F-4D97-AF65-F5344CB8AC3E}">
        <p14:creationId xmlns:p14="http://schemas.microsoft.com/office/powerpoint/2010/main" val="27614209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92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Insérer un 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 lang="fr-FR" sz="2800" kern="1200" dirty="0" smtClean="0">
                <a:solidFill>
                  <a:schemeClr val="bg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bg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5" name="Espace réservé du texte 3"/>
          <p:cNvSpPr>
            <a:spLocks noGrp="1"/>
          </p:cNvSpPr>
          <p:nvPr>
            <p:ph type="body" sz="quarter" idx="11"/>
          </p:nvPr>
        </p:nvSpPr>
        <p:spPr>
          <a:xfrm>
            <a:off x="7201929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 lang="fr-FR" sz="2800" kern="1200" dirty="0" smtClean="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10559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1"/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92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tx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Insérer un titre</a:t>
            </a:r>
          </a:p>
        </p:txBody>
      </p:sp>
      <p:sp>
        <p:nvSpPr>
          <p:cNvPr id="7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8200"/>
            <a:ext cx="4292600" cy="4229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  <p:sp>
        <p:nvSpPr>
          <p:cNvPr id="8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6936258" y="2108199"/>
            <a:ext cx="4349579" cy="42291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164935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939800" y="742779"/>
            <a:ext cx="2618946" cy="78740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pPr lvl="0"/>
            <a:r>
              <a:rPr lang="fr-FR" dirty="0"/>
              <a:t>Titre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939800" y="1879600"/>
            <a:ext cx="10375900" cy="42037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solidFill>
                  <a:schemeClr val="tx1"/>
                </a:solidFill>
                <a:latin typeface="Bahnschrift Light SemiCondensed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9908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554595"/>
            <a:ext cx="7505700" cy="777875"/>
          </a:xfrm>
          <a:prstGeom prst="rect">
            <a:avLst/>
          </a:prstGeom>
        </p:spPr>
        <p:txBody>
          <a:bodyPr/>
          <a:lstStyle>
            <a:lvl1pPr>
              <a:defRPr sz="400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838200" y="2105025"/>
            <a:ext cx="10420350" cy="40862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19648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914400" y="685800"/>
            <a:ext cx="6450226" cy="787400"/>
          </a:xfrm>
          <a:prstGeom prst="rect">
            <a:avLst/>
          </a:prstGeom>
        </p:spPr>
        <p:txBody>
          <a:bodyPr/>
          <a:lstStyle>
            <a:lvl1pPr>
              <a:defRPr sz="4000" b="0">
                <a:solidFill>
                  <a:schemeClr val="bg1"/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/>
          </p:nvPr>
        </p:nvSpPr>
        <p:spPr>
          <a:xfrm>
            <a:off x="914400" y="1922162"/>
            <a:ext cx="10445578" cy="1384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/>
          </p:nvPr>
        </p:nvSpPr>
        <p:spPr>
          <a:xfrm>
            <a:off x="914400" y="3736202"/>
            <a:ext cx="10445578" cy="2057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  <a:lvl2pPr marL="4572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2pPr>
            <a:lvl3pPr marL="9144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3pPr>
            <a:lvl4pPr marL="13716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4pPr>
            <a:lvl5pPr marL="1828800" indent="0">
              <a:buNone/>
              <a:defRPr>
                <a:latin typeface="Bahnschrift SemiLight" panose="020B0502040204020203" pitchFamily="34" charset="0"/>
                <a:cs typeface="Thorndale AMT" panose="02020603050405020304" pitchFamily="18" charset="0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29530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4000"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/>
              <a:t>Modifiez le style du titre</a:t>
            </a:r>
            <a:endParaRPr lang="fr-FR" dirty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1930400"/>
            <a:ext cx="10515600" cy="22733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baseline="0">
                <a:latin typeface="Bahnschrift SemiLight" panose="020B0502040204020203" pitchFamily="34" charset="0"/>
                <a:cs typeface="Thorndale AMT" panose="02020603050405020304" pitchFamily="18" charset="0"/>
              </a:defRPr>
            </a:lvl1pPr>
          </a:lstStyle>
          <a:p>
            <a:pPr lvl="0"/>
            <a:r>
              <a:rPr lang="fr-FR" dirty="0"/>
              <a:t>Ajoutez du texte ici</a:t>
            </a:r>
          </a:p>
        </p:txBody>
      </p:sp>
    </p:spTree>
    <p:extLst>
      <p:ext uri="{BB962C8B-B14F-4D97-AF65-F5344CB8AC3E}">
        <p14:creationId xmlns:p14="http://schemas.microsoft.com/office/powerpoint/2010/main" val="1249902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Disposition personnalisé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828675" y="603251"/>
            <a:ext cx="10515600" cy="730250"/>
          </a:xfrm>
          <a:prstGeom prst="rect">
            <a:avLst/>
          </a:prstGeom>
        </p:spPr>
        <p:txBody>
          <a:bodyPr/>
          <a:lstStyle>
            <a:lvl1pPr>
              <a:defRPr sz="4000" baseline="0">
                <a:solidFill>
                  <a:schemeClr val="accent1">
                    <a:lumMod val="75000"/>
                  </a:schemeClr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Contacts</a:t>
            </a:r>
          </a:p>
        </p:txBody>
      </p:sp>
      <p:sp>
        <p:nvSpPr>
          <p:cNvPr id="4" name="Espace réservé pour une image  3"/>
          <p:cNvSpPr>
            <a:spLocks noGrp="1"/>
          </p:cNvSpPr>
          <p:nvPr>
            <p:ph type="pic" sz="quarter" idx="10"/>
          </p:nvPr>
        </p:nvSpPr>
        <p:spPr>
          <a:xfrm>
            <a:off x="1870710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6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1235710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2" hasCustomPrompt="1"/>
          </p:nvPr>
        </p:nvSpPr>
        <p:spPr>
          <a:xfrm>
            <a:off x="1235710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3" hasCustomPrompt="1"/>
          </p:nvPr>
        </p:nvSpPr>
        <p:spPr>
          <a:xfrm>
            <a:off x="1235710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1" name="Espace réservé pour une image  3"/>
          <p:cNvSpPr>
            <a:spLocks noGrp="1"/>
          </p:cNvSpPr>
          <p:nvPr>
            <p:ph type="pic" sz="quarter" idx="14"/>
          </p:nvPr>
        </p:nvSpPr>
        <p:spPr>
          <a:xfrm>
            <a:off x="5560695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12" name="Espace réservé du texte 5"/>
          <p:cNvSpPr>
            <a:spLocks noGrp="1"/>
          </p:cNvSpPr>
          <p:nvPr>
            <p:ph type="body" sz="quarter" idx="15" hasCustomPrompt="1"/>
          </p:nvPr>
        </p:nvSpPr>
        <p:spPr>
          <a:xfrm>
            <a:off x="4925695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13" name="Espace réservé du texte 7"/>
          <p:cNvSpPr>
            <a:spLocks noGrp="1"/>
          </p:cNvSpPr>
          <p:nvPr>
            <p:ph type="body" sz="quarter" idx="16" hasCustomPrompt="1"/>
          </p:nvPr>
        </p:nvSpPr>
        <p:spPr>
          <a:xfrm>
            <a:off x="4925695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4" name="Espace réservé du contenu 9"/>
          <p:cNvSpPr>
            <a:spLocks noGrp="1"/>
          </p:cNvSpPr>
          <p:nvPr>
            <p:ph sz="quarter" idx="17" hasCustomPrompt="1"/>
          </p:nvPr>
        </p:nvSpPr>
        <p:spPr>
          <a:xfrm>
            <a:off x="4925695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9" name="Espace réservé pour une image  3"/>
          <p:cNvSpPr>
            <a:spLocks noGrp="1"/>
          </p:cNvSpPr>
          <p:nvPr>
            <p:ph type="pic" sz="quarter" idx="18"/>
          </p:nvPr>
        </p:nvSpPr>
        <p:spPr>
          <a:xfrm>
            <a:off x="9250680" y="23622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20" name="Espace réservé du texte 5"/>
          <p:cNvSpPr>
            <a:spLocks noGrp="1"/>
          </p:cNvSpPr>
          <p:nvPr>
            <p:ph type="body" sz="quarter" idx="19" hasCustomPrompt="1"/>
          </p:nvPr>
        </p:nvSpPr>
        <p:spPr>
          <a:xfrm>
            <a:off x="8615680" y="36449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21" name="Espace réservé du texte 7"/>
          <p:cNvSpPr>
            <a:spLocks noGrp="1"/>
          </p:cNvSpPr>
          <p:nvPr>
            <p:ph type="body" sz="quarter" idx="20" hasCustomPrompt="1"/>
          </p:nvPr>
        </p:nvSpPr>
        <p:spPr>
          <a:xfrm>
            <a:off x="8615680" y="40052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22" name="Espace réservé du contenu 9"/>
          <p:cNvSpPr>
            <a:spLocks noGrp="1"/>
          </p:cNvSpPr>
          <p:nvPr>
            <p:ph sz="quarter" idx="21" hasCustomPrompt="1"/>
          </p:nvPr>
        </p:nvSpPr>
        <p:spPr>
          <a:xfrm>
            <a:off x="8615680" y="49307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</p:spTree>
    <p:extLst>
      <p:ext uri="{BB962C8B-B14F-4D97-AF65-F5344CB8AC3E}">
        <p14:creationId xmlns:p14="http://schemas.microsoft.com/office/powerpoint/2010/main" val="33037405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pour une image  3"/>
          <p:cNvSpPr>
            <a:spLocks noGrp="1"/>
          </p:cNvSpPr>
          <p:nvPr>
            <p:ph type="pic" sz="quarter" idx="10"/>
          </p:nvPr>
        </p:nvSpPr>
        <p:spPr>
          <a:xfrm>
            <a:off x="3902710" y="23495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4" name="Espace réservé du texte 5"/>
          <p:cNvSpPr>
            <a:spLocks noGrp="1"/>
          </p:cNvSpPr>
          <p:nvPr>
            <p:ph type="body" sz="quarter" idx="11" hasCustomPrompt="1"/>
          </p:nvPr>
        </p:nvSpPr>
        <p:spPr>
          <a:xfrm>
            <a:off x="3267710" y="36322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5" name="Espace réservé du texte 7"/>
          <p:cNvSpPr>
            <a:spLocks noGrp="1"/>
          </p:cNvSpPr>
          <p:nvPr>
            <p:ph type="body" sz="quarter" idx="12" hasCustomPrompt="1"/>
          </p:nvPr>
        </p:nvSpPr>
        <p:spPr>
          <a:xfrm>
            <a:off x="3267710" y="39925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6" name="Espace réservé du contenu 9"/>
          <p:cNvSpPr>
            <a:spLocks noGrp="1"/>
          </p:cNvSpPr>
          <p:nvPr>
            <p:ph sz="quarter" idx="13" hasCustomPrompt="1"/>
          </p:nvPr>
        </p:nvSpPr>
        <p:spPr>
          <a:xfrm>
            <a:off x="3267710" y="49180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7" name="Espace réservé pour une image  3"/>
          <p:cNvSpPr>
            <a:spLocks noGrp="1"/>
          </p:cNvSpPr>
          <p:nvPr>
            <p:ph type="pic" sz="quarter" idx="14"/>
          </p:nvPr>
        </p:nvSpPr>
        <p:spPr>
          <a:xfrm>
            <a:off x="7592695" y="2349500"/>
            <a:ext cx="1104900" cy="1117600"/>
          </a:xfrm>
          <a:prstGeom prst="ellipse">
            <a:avLst/>
          </a:prstGeom>
        </p:spPr>
        <p:txBody>
          <a:bodyPr/>
          <a:lstStyle>
            <a:lvl1pPr marL="0" indent="0">
              <a:buNone/>
              <a:defRPr sz="1200"/>
            </a:lvl1pPr>
          </a:lstStyle>
          <a:p>
            <a:r>
              <a:rPr lang="fr-FR"/>
              <a:t>Cliquez sur l'icône pour ajouter une image</a:t>
            </a:r>
            <a:endParaRPr lang="fr-FR" dirty="0"/>
          </a:p>
        </p:txBody>
      </p:sp>
      <p:sp>
        <p:nvSpPr>
          <p:cNvPr id="8" name="Espace réservé du texte 5"/>
          <p:cNvSpPr>
            <a:spLocks noGrp="1"/>
          </p:cNvSpPr>
          <p:nvPr>
            <p:ph type="body" sz="quarter" idx="15" hasCustomPrompt="1"/>
          </p:nvPr>
        </p:nvSpPr>
        <p:spPr>
          <a:xfrm>
            <a:off x="6957695" y="3632200"/>
            <a:ext cx="1587500" cy="355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Prénom NOM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6" hasCustomPrompt="1"/>
          </p:nvPr>
        </p:nvSpPr>
        <p:spPr>
          <a:xfrm>
            <a:off x="6957695" y="3992562"/>
            <a:ext cx="1823720" cy="320675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1200">
                <a:solidFill>
                  <a:schemeClr val="bg2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Titre du poste / Rôle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7" hasCustomPrompt="1"/>
          </p:nvPr>
        </p:nvSpPr>
        <p:spPr>
          <a:xfrm>
            <a:off x="6957695" y="4918074"/>
            <a:ext cx="1889125" cy="24320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r-FR" dirty="0"/>
              <a:t>Adresse.mail@ensai.fr</a:t>
            </a:r>
          </a:p>
        </p:txBody>
      </p:sp>
      <p:sp>
        <p:nvSpPr>
          <p:cNvPr id="11" name="Titre 1"/>
          <p:cNvSpPr>
            <a:spLocks noGrp="1"/>
          </p:cNvSpPr>
          <p:nvPr>
            <p:ph type="title" hasCustomPrompt="1"/>
          </p:nvPr>
        </p:nvSpPr>
        <p:spPr>
          <a:xfrm>
            <a:off x="828675" y="603251"/>
            <a:ext cx="10515600" cy="730250"/>
          </a:xfrm>
          <a:prstGeom prst="rect">
            <a:avLst/>
          </a:prstGeom>
        </p:spPr>
        <p:txBody>
          <a:bodyPr/>
          <a:lstStyle>
            <a:lvl1pPr>
              <a:defRPr sz="4000" baseline="0">
                <a:solidFill>
                  <a:schemeClr val="accent1">
                    <a:lumMod val="75000"/>
                  </a:schemeClr>
                </a:solidFill>
                <a:latin typeface="Georgia" panose="02040502050405020303" pitchFamily="18" charset="0"/>
                <a:cs typeface="Frank Ruhl Hofshi" panose="00000500000000000000" pitchFamily="50" charset="-79"/>
              </a:defRPr>
            </a:lvl1pPr>
          </a:lstStyle>
          <a:p>
            <a:r>
              <a:rPr lang="fr-FR" dirty="0"/>
              <a:t>Contacts</a:t>
            </a:r>
          </a:p>
        </p:txBody>
      </p:sp>
    </p:spTree>
    <p:extLst>
      <p:ext uri="{BB962C8B-B14F-4D97-AF65-F5344CB8AC3E}">
        <p14:creationId xmlns:p14="http://schemas.microsoft.com/office/powerpoint/2010/main" val="3842987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Disposition personnalisé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554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73955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1" r:id="rId2"/>
    <p:sldLayoutId id="2147483652" r:id="rId3"/>
    <p:sldLayoutId id="2147483653" r:id="rId4"/>
    <p:sldLayoutId id="2147483654" r:id="rId5"/>
    <p:sldLayoutId id="2147483658" r:id="rId6"/>
    <p:sldLayoutId id="2147483655" r:id="rId7"/>
    <p:sldLayoutId id="2147483660" r:id="rId8"/>
    <p:sldLayoutId id="2147483656" r:id="rId9"/>
    <p:sldLayoutId id="2147483659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3"/>
          </p:nvPr>
        </p:nvSpPr>
        <p:spPr>
          <a:xfrm>
            <a:off x="1149349" y="1724024"/>
            <a:ext cx="9893302" cy="520700"/>
          </a:xfrm>
        </p:spPr>
        <p:txBody>
          <a:bodyPr/>
          <a:lstStyle/>
          <a:p>
            <a:r>
              <a:rPr lang="fr-FR" dirty="0">
                <a:latin typeface="+mj-lt"/>
              </a:rPr>
              <a:t>Premières analyses à partir des données d’admission, de Pamplemousse et de Moodle sur la période 2015-2025</a:t>
            </a:r>
          </a:p>
        </p:txBody>
      </p:sp>
      <p:sp>
        <p:nvSpPr>
          <p:cNvPr id="7" name="Espace réservé du texte 6"/>
          <p:cNvSpPr>
            <a:spLocks noGrp="1"/>
          </p:cNvSpPr>
          <p:nvPr>
            <p:ph type="body" sz="quarter" idx="14"/>
          </p:nvPr>
        </p:nvSpPr>
        <p:spPr>
          <a:xfrm>
            <a:off x="1149349" y="2917826"/>
            <a:ext cx="2450062" cy="415924"/>
          </a:xfrm>
        </p:spPr>
        <p:txBody>
          <a:bodyPr/>
          <a:lstStyle/>
          <a:p>
            <a:r>
              <a:rPr lang="fr-FR" dirty="0"/>
              <a:t>2 avril 2026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7"/>
          </p:nvPr>
        </p:nvSpPr>
        <p:spPr>
          <a:xfrm>
            <a:off x="1149348" y="658812"/>
            <a:ext cx="10814051" cy="1114426"/>
          </a:xfrm>
        </p:spPr>
        <p:txBody>
          <a:bodyPr/>
          <a:lstStyle/>
          <a:p>
            <a:r>
              <a:rPr lang="fr-FR" sz="5000" dirty="0">
                <a:latin typeface="+mj-lt"/>
              </a:rPr>
              <a:t>Trajectoires des étudiants à l’ENSAI</a:t>
            </a:r>
          </a:p>
        </p:txBody>
      </p:sp>
      <p:sp>
        <p:nvSpPr>
          <p:cNvPr id="5" name="Espace réservé du texte 6">
            <a:extLst>
              <a:ext uri="{FF2B5EF4-FFF2-40B4-BE49-F238E27FC236}">
                <a16:creationId xmlns:a16="http://schemas.microsoft.com/office/drawing/2014/main" id="{1A4A2BF2-E617-584E-1661-8BDA87DC96DD}"/>
              </a:ext>
            </a:extLst>
          </p:cNvPr>
          <p:cNvSpPr txBox="1">
            <a:spLocks/>
          </p:cNvSpPr>
          <p:nvPr/>
        </p:nvSpPr>
        <p:spPr>
          <a:xfrm>
            <a:off x="1149348" y="3584574"/>
            <a:ext cx="4692651" cy="41592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bg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Christophe Lesieur, Stéphane </a:t>
            </a:r>
            <a:r>
              <a:rPr lang="fr-FR" dirty="0" err="1"/>
              <a:t>Legleye</a:t>
            </a:r>
            <a:endParaRPr lang="fr-FR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73D63354-3A4D-6CA3-3449-8EC992DEEC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768" y="4508501"/>
            <a:ext cx="7621064" cy="1905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153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17483-F0C2-B2FE-1254-DC824D8D5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1430A5-86F3-CC28-588F-21A1EBB5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Plan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68B9EFC-4B85-B594-50D5-EFD45925F1E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fr-FR" dirty="0"/>
              <a:t>Effectifs par voies d’entrée</a:t>
            </a:r>
          </a:p>
          <a:p>
            <a:pPr marL="514350" indent="-514350">
              <a:buAutoNum type="arabicPeriod"/>
            </a:pPr>
            <a:r>
              <a:rPr lang="fr-FR" dirty="0"/>
              <a:t>La baisse d’attractivité du statut fonctionnaire</a:t>
            </a:r>
          </a:p>
          <a:p>
            <a:pPr marL="514350" indent="-514350">
              <a:buAutoNum type="arabicPeriod"/>
            </a:pPr>
            <a:r>
              <a:rPr lang="fr-FR" dirty="0"/>
              <a:t>Rang d’admission et réussite scolaire</a:t>
            </a:r>
          </a:p>
          <a:p>
            <a:pPr marL="514350" indent="-514350">
              <a:buAutoNum type="arabicPeriod"/>
            </a:pPr>
            <a:r>
              <a:rPr lang="fr-FR" dirty="0"/>
              <a:t>Les déterminants des choix de filière de spécialisation</a:t>
            </a:r>
          </a:p>
          <a:p>
            <a:pPr marL="514350" indent="-514350">
              <a:buAutoNum type="arabicPeriod"/>
            </a:pPr>
            <a:r>
              <a:rPr lang="fr-FR" dirty="0"/>
              <a:t>Impact du niveau d’anglais sur la scolarité</a:t>
            </a:r>
          </a:p>
          <a:p>
            <a:pPr marL="514350" indent="-514350">
              <a:buAutoNum type="arabicPeriod"/>
            </a:pPr>
            <a:r>
              <a:rPr lang="fr-FR" dirty="0"/>
              <a:t>Diversité</a:t>
            </a:r>
          </a:p>
          <a:p>
            <a:pPr marL="514350" indent="-514350">
              <a:buAutoNum type="arabicPeriod"/>
            </a:pPr>
            <a:r>
              <a:rPr lang="fr-FR" dirty="0"/>
              <a:t>Vers un tableau de suivi partagé des indicateurs clés </a:t>
            </a:r>
          </a:p>
          <a:p>
            <a:pPr marL="514350" indent="-514350">
              <a:buAutoNum type="arabicPeriod"/>
            </a:pPr>
            <a:r>
              <a:rPr lang="fr-FR" dirty="0"/>
              <a:t>Engagement numérique</a:t>
            </a:r>
          </a:p>
        </p:txBody>
      </p:sp>
    </p:spTree>
    <p:extLst>
      <p:ext uri="{BB962C8B-B14F-4D97-AF65-F5344CB8AC3E}">
        <p14:creationId xmlns:p14="http://schemas.microsoft.com/office/powerpoint/2010/main" val="3895332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D942E7-2391-6D34-F7BF-F5ECF2218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20385" cy="775921"/>
          </a:xfrm>
        </p:spPr>
        <p:txBody>
          <a:bodyPr/>
          <a:lstStyle/>
          <a:p>
            <a:r>
              <a:rPr lang="fr-FR" sz="3600" b="1" dirty="0">
                <a:latin typeface="Bahnschrift SemiLight" panose="020B0502040204020203" pitchFamily="34" charset="0"/>
                <a:ea typeface="+mn-ea"/>
              </a:rPr>
              <a:t>Effectifs par voie d’entrée</a:t>
            </a:r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DAE2B93C-8B28-ED74-8EA1-0A09E5B15C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23019" y="5823973"/>
            <a:ext cx="4946583" cy="668902"/>
          </a:xfrm>
        </p:spPr>
        <p:txBody>
          <a:bodyPr/>
          <a:lstStyle/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</a:t>
            </a:r>
            <a:r>
              <a:rPr lang="fr-FR" sz="1400" baseline="30000" dirty="0"/>
              <a:t>ère</a:t>
            </a:r>
            <a:r>
              <a:rPr lang="fr-FR" sz="1400" dirty="0"/>
              <a:t> et 2</a:t>
            </a:r>
            <a:r>
              <a:rPr lang="fr-FR" sz="1400" baseline="30000" dirty="0"/>
              <a:t>ème</a:t>
            </a:r>
            <a:r>
              <a:rPr lang="fr-FR" sz="1400" dirty="0"/>
              <a:t> année</a:t>
            </a:r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15822227-FB3C-2BCC-38AF-252DA6B59F9C}"/>
              </a:ext>
            </a:extLst>
          </p:cNvPr>
          <p:cNvSpPr txBox="1">
            <a:spLocks/>
          </p:cNvSpPr>
          <p:nvPr/>
        </p:nvSpPr>
        <p:spPr>
          <a:xfrm>
            <a:off x="389626" y="1588650"/>
            <a:ext cx="4061604" cy="413544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du recrutement des MP au profit d’une diversification des voies d’entrée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Notamment création MPI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Mais aussi hausse des PC/PSI </a:t>
            </a:r>
            <a:endParaRPr lang="fr-FR" sz="1200" dirty="0"/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de la part du concours interne INSEE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Variation importante de la part des BL équilibrée par la variation des D2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Stabilité des BUT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récente des AST-2A</a:t>
            </a:r>
            <a:endParaRPr lang="fr-FR" sz="1600" dirty="0"/>
          </a:p>
          <a:p>
            <a:pPr marL="1028700" lvl="1" indent="-342900">
              <a:buFont typeface="Wingdings" panose="05000000000000000000" pitchFamily="2" charset="2"/>
              <a:buChar char="q"/>
            </a:pPr>
            <a:endParaRPr lang="fr-FR" sz="16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FDD146BA-B4F8-7F16-E1DC-B0239FE843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2588" y="1588650"/>
            <a:ext cx="6616642" cy="4031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454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997410-3364-A9EC-084C-3587A4104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9EF6761-26E1-C0C5-C6B2-AA0DBAD48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720385" cy="775921"/>
          </a:xfrm>
        </p:spPr>
        <p:txBody>
          <a:bodyPr/>
          <a:lstStyle/>
          <a:p>
            <a:r>
              <a:rPr lang="fr-FR" b="1" dirty="0">
                <a:latin typeface="+mj-lt"/>
              </a:rPr>
              <a:t>Effectifs par statut à l’entrée</a:t>
            </a:r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562BB7B3-8B70-A77D-CA5C-85D0EE584B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54536" y="5650410"/>
            <a:ext cx="4946583" cy="668902"/>
          </a:xfrm>
        </p:spPr>
        <p:txBody>
          <a:bodyPr/>
          <a:lstStyle/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D9AB067-02BA-0C05-A467-740CE2DE3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54" y="1532483"/>
            <a:ext cx="6534546" cy="3953929"/>
          </a:xfrm>
          <a:prstGeom prst="rect">
            <a:avLst/>
          </a:prstGeom>
        </p:spPr>
      </p:pic>
      <p:sp>
        <p:nvSpPr>
          <p:cNvPr id="5" name="Espace réservé du texte 2">
            <a:extLst>
              <a:ext uri="{FF2B5EF4-FFF2-40B4-BE49-F238E27FC236}">
                <a16:creationId xmlns:a16="http://schemas.microsoft.com/office/drawing/2014/main" id="{C68F6A52-BD87-8705-F16B-8A64F57B7018}"/>
              </a:ext>
            </a:extLst>
          </p:cNvPr>
          <p:cNvSpPr txBox="1">
            <a:spLocks/>
          </p:cNvSpPr>
          <p:nvPr/>
        </p:nvSpPr>
        <p:spPr>
          <a:xfrm>
            <a:off x="7175860" y="1649035"/>
            <a:ext cx="4061604" cy="413544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Hausse de 124 à 188 étudiants en 2024, soit + 50 %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Un peu moins de 2/3 d’ingénieurs, un peu plus d’1/3 d’élèves attachés</a:t>
            </a:r>
          </a:p>
          <a:p>
            <a:pPr marL="342900" indent="-342900">
              <a:buFont typeface="Wingdings" panose="05000000000000000000" pitchFamily="2" charset="2"/>
              <a:buChar char="q"/>
            </a:pPr>
            <a:r>
              <a:rPr lang="fr-FR" sz="2000" dirty="0"/>
              <a:t>Une part stable de 35 à 38 % d’élèves attachés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Hormis les années 2022 et 2023 avec moins de 33 % d’attachés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Entre 8 et 13 places au concours interne selon les années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48 attachés recrutés en 2022 contre 68 en 2025</a:t>
            </a:r>
          </a:p>
          <a:p>
            <a:pPr marL="1028700" lvl="1" indent="-342900">
              <a:buFont typeface="Wingdings" panose="05000000000000000000" pitchFamily="2" charset="2"/>
              <a:buChar char="q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17916627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EAD4A5-1DDE-20DE-2B0A-A25F7D662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Concours Maths</a:t>
            </a:r>
            <a:br>
              <a:rPr lang="fr-FR" b="1" dirty="0">
                <a:latin typeface="+mj-lt"/>
              </a:rPr>
            </a:br>
            <a:r>
              <a:rPr lang="fr-FR" sz="3200" b="1" dirty="0">
                <a:latin typeface="+mj-lt"/>
              </a:rPr>
              <a:t>Préférence des mieux classés pour le statut ingénieur</a:t>
            </a:r>
            <a:br>
              <a:rPr lang="fr-FR" b="1" dirty="0">
                <a:latin typeface="+mj-lt"/>
              </a:rPr>
            </a:br>
            <a:endParaRPr lang="fr-FR" sz="2800" b="1" dirty="0">
              <a:latin typeface="+mj-lt"/>
            </a:endParaRP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739F4B82-247A-22E3-BF9C-1BD7F4DD9835}"/>
              </a:ext>
            </a:extLst>
          </p:cNvPr>
          <p:cNvSpPr txBox="1">
            <a:spLocks/>
          </p:cNvSpPr>
          <p:nvPr/>
        </p:nvSpPr>
        <p:spPr>
          <a:xfrm>
            <a:off x="635589" y="5022071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Intérêt pour le statut de fonctionnaire qui repart à la baisse sur 2023-2025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De bons classés choisissent le statut fonctionnaire mais les moins bien classés choisissent – peut-être par défaut – la filière d’attaché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9DDB601E-4A60-6D43-7136-F3C325A013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901" y="1690688"/>
            <a:ext cx="4898288" cy="3030922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240F8E9F-68F8-3F44-49CE-2E732266A4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830" y="1690688"/>
            <a:ext cx="4652368" cy="2877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4691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626876-9087-1E77-37A3-E491D050B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9266F3-7483-DE84-8D0B-9F2318BE7E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Concours BL</a:t>
            </a:r>
            <a:br>
              <a:rPr lang="fr-FR" b="1" dirty="0">
                <a:latin typeface="+mj-lt"/>
              </a:rPr>
            </a:br>
            <a:r>
              <a:rPr lang="fr-FR" sz="3200" b="1" dirty="0">
                <a:latin typeface="+mj-lt"/>
              </a:rPr>
              <a:t>Attractivité en hausse du statut fonctionnaire</a:t>
            </a:r>
            <a:br>
              <a:rPr lang="fr-FR" b="1" dirty="0">
                <a:latin typeface="+mj-lt"/>
              </a:rPr>
            </a:br>
            <a:endParaRPr lang="fr-FR" sz="2800" b="1" dirty="0">
              <a:latin typeface="+mj-lt"/>
            </a:endParaRP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C0E11C6D-65C8-0F1E-202B-473C40BD22BF}"/>
              </a:ext>
            </a:extLst>
          </p:cNvPr>
          <p:cNvSpPr txBox="1">
            <a:spLocks/>
          </p:cNvSpPr>
          <p:nvPr/>
        </p:nvSpPr>
        <p:spPr>
          <a:xfrm>
            <a:off x="635589" y="5022071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préférences entre les deux statuts ont tendance à s’équilibrer depuis 2021</a:t>
            </a:r>
          </a:p>
          <a:p>
            <a:pPr marL="228600"/>
            <a:endParaRPr lang="fr-FR" sz="2000" dirty="0"/>
          </a:p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0DB03B2A-9687-030B-422F-D773709D6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67856"/>
            <a:ext cx="4895518" cy="3030021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5FE9F928-4381-082C-6FF5-B6DE32464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062" y="1629272"/>
            <a:ext cx="4932327" cy="3030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227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20221-C4B3-9390-E784-2ADCE1D5E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987DB21-681E-0CAC-7033-615872E39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Concours D2</a:t>
            </a:r>
            <a:br>
              <a:rPr lang="fr-FR" b="1" dirty="0">
                <a:latin typeface="+mj-lt"/>
              </a:rPr>
            </a:br>
            <a:r>
              <a:rPr lang="fr-FR" sz="3200" b="1" dirty="0">
                <a:latin typeface="+mj-lt"/>
              </a:rPr>
              <a:t>Même constat que pour les BL</a:t>
            </a:r>
            <a:br>
              <a:rPr lang="fr-FR" b="1" dirty="0">
                <a:latin typeface="+mj-lt"/>
              </a:rPr>
            </a:br>
            <a:endParaRPr lang="fr-FR" sz="2800" b="1" dirty="0">
              <a:latin typeface="+mj-lt"/>
            </a:endParaRPr>
          </a:p>
        </p:txBody>
      </p:sp>
      <p:sp>
        <p:nvSpPr>
          <p:cNvPr id="4" name="Espace réservé du texte 2">
            <a:extLst>
              <a:ext uri="{FF2B5EF4-FFF2-40B4-BE49-F238E27FC236}">
                <a16:creationId xmlns:a16="http://schemas.microsoft.com/office/drawing/2014/main" id="{E6199D4A-90B2-B56B-F397-E4F93A656D5B}"/>
              </a:ext>
            </a:extLst>
          </p:cNvPr>
          <p:cNvSpPr txBox="1">
            <a:spLocks/>
          </p:cNvSpPr>
          <p:nvPr/>
        </p:nvSpPr>
        <p:spPr>
          <a:xfrm>
            <a:off x="635589" y="5022071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en 2018-2020 puis retour à la hausse de l’attractivité du statut fonctionnaire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65D285B9-A3C7-0875-736E-A749290AC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739" y="1480693"/>
            <a:ext cx="5044649" cy="309993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565D756-1218-EF6D-561B-B1FB74A4A4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9230" y="1480693"/>
            <a:ext cx="5142645" cy="3161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8076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1">
            <a:extLst>
              <a:ext uri="{FF2B5EF4-FFF2-40B4-BE49-F238E27FC236}">
                <a16:creationId xmlns:a16="http://schemas.microsoft.com/office/drawing/2014/main" id="{1D7C806E-179C-872E-D1D7-E07080D009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fr-FR" b="1" dirty="0">
                <a:latin typeface="+mj-lt"/>
              </a:rPr>
              <a:t>Origine et classement au concours</a:t>
            </a:r>
            <a:br>
              <a:rPr lang="fr-FR" b="1" dirty="0">
                <a:latin typeface="+mj-lt"/>
              </a:rPr>
            </a:br>
            <a:r>
              <a:rPr lang="fr-FR" sz="3200" b="1" dirty="0">
                <a:latin typeface="+mj-lt"/>
              </a:rPr>
              <a:t>Au premier abord par de grosses différences</a:t>
            </a:r>
            <a:br>
              <a:rPr lang="fr-FR" b="1" dirty="0">
                <a:latin typeface="+mj-lt"/>
              </a:rPr>
            </a:br>
            <a:endParaRPr lang="fr-FR" sz="2800" b="1" dirty="0">
              <a:latin typeface="+mj-lt"/>
            </a:endParaRP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2C4D7BBB-4B76-FB7C-1A64-CDFB56F25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1329" y="1690688"/>
            <a:ext cx="6490426" cy="3997563"/>
          </a:xfrm>
          <a:prstGeom prst="rect">
            <a:avLst/>
          </a:prstGeom>
        </p:spPr>
      </p:pic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25627884-32AA-FA4A-78EE-13C58C566F5E}"/>
              </a:ext>
            </a:extLst>
          </p:cNvPr>
          <p:cNvSpPr txBox="1">
            <a:spLocks/>
          </p:cNvSpPr>
          <p:nvPr/>
        </p:nvSpPr>
        <p:spPr>
          <a:xfrm>
            <a:off x="682925" y="5598542"/>
            <a:ext cx="9763664" cy="1023729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 score IDIT est la composante de l’inverse du rang au concours (20 %) et de la moyenne générale (80 %)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L’idée serait de voir si les résultats en 2A et 3A sont influencés par </a:t>
            </a:r>
            <a:r>
              <a:rPr lang="fr-FR" sz="2000"/>
              <a:t>ce score…</a:t>
            </a: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420146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B03420-B453-80E5-EEBB-77A153FFE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EC07AF-105D-7292-C625-20D1B57B3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057626" cy="1325563"/>
          </a:xfrm>
        </p:spPr>
        <p:txBody>
          <a:bodyPr/>
          <a:lstStyle/>
          <a:p>
            <a:r>
              <a:rPr lang="fr-FR" b="1" dirty="0">
                <a:latin typeface="+mj-lt"/>
              </a:rPr>
              <a:t>Résultats scolaire en 1</a:t>
            </a:r>
            <a:r>
              <a:rPr lang="fr-FR" b="1" baseline="30000" dirty="0">
                <a:latin typeface="+mj-lt"/>
              </a:rPr>
              <a:t>ère</a:t>
            </a:r>
            <a:r>
              <a:rPr lang="fr-FR" b="1" dirty="0">
                <a:latin typeface="+mj-lt"/>
              </a:rPr>
              <a:t> année et voie d’entrée</a:t>
            </a:r>
          </a:p>
        </p:txBody>
      </p:sp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66B6F50F-2550-98EB-C304-F50C2962CF40}"/>
              </a:ext>
            </a:extLst>
          </p:cNvPr>
          <p:cNvSpPr txBox="1">
            <a:spLocks/>
          </p:cNvSpPr>
          <p:nvPr/>
        </p:nvSpPr>
        <p:spPr>
          <a:xfrm>
            <a:off x="1258685" y="4486931"/>
            <a:ext cx="4946583" cy="66890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9A392AC3-4260-6E6C-4172-44CCA9D5CA78}"/>
              </a:ext>
            </a:extLst>
          </p:cNvPr>
          <p:cNvSpPr txBox="1"/>
          <p:nvPr/>
        </p:nvSpPr>
        <p:spPr>
          <a:xfrm>
            <a:off x="165340" y="1824651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Moyenne générale des élèves en 1</a:t>
            </a:r>
            <a:r>
              <a:rPr lang="fr-FR" sz="1800" baseline="30000" dirty="0"/>
              <a:t>ère</a:t>
            </a:r>
            <a:r>
              <a:rPr lang="fr-FR" sz="1800" dirty="0"/>
              <a:t> année selon la voie d’entrée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912FABD5-4B94-3658-7B06-5485A64242D4}"/>
              </a:ext>
            </a:extLst>
          </p:cNvPr>
          <p:cNvSpPr txBox="1">
            <a:spLocks/>
          </p:cNvSpPr>
          <p:nvPr/>
        </p:nvSpPr>
        <p:spPr>
          <a:xfrm>
            <a:off x="1041030" y="5167312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admis via le concours INSEE ont une meilleure moyenne générale sur la période 2015-2025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ERASMUS sont les plus en difficulté (&lt;12/20), puis les BL et les PC/PSI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MPI : une voie d’entrée prometteuse…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BF320CF-A185-D026-1BF7-B11CCA828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971" y="2327946"/>
            <a:ext cx="5812371" cy="1986214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6C8A63D6-7859-2120-5467-6D05FC5242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3987" y="1551381"/>
            <a:ext cx="4757407" cy="2935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112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E8881-0813-A5D2-5A99-4AC243062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647D1AD-65D7-0234-0FC5-6C96E4143B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169771" cy="1325563"/>
          </a:xfrm>
        </p:spPr>
        <p:txBody>
          <a:bodyPr/>
          <a:lstStyle/>
          <a:p>
            <a:r>
              <a:rPr lang="fr-FR" b="1" dirty="0">
                <a:latin typeface="+mj-lt"/>
              </a:rPr>
              <a:t>Résultats scolaire en 2</a:t>
            </a:r>
            <a:r>
              <a:rPr lang="fr-FR" b="1" baseline="30000" dirty="0">
                <a:latin typeface="+mj-lt"/>
              </a:rPr>
              <a:t>ème</a:t>
            </a:r>
            <a:r>
              <a:rPr lang="fr-FR" b="1" dirty="0">
                <a:latin typeface="+mj-lt"/>
              </a:rPr>
              <a:t> année et voie d’entrée</a:t>
            </a:r>
          </a:p>
        </p:txBody>
      </p:sp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D5987521-5D9E-5563-6643-8C2D4BA25530}"/>
              </a:ext>
            </a:extLst>
          </p:cNvPr>
          <p:cNvSpPr txBox="1">
            <a:spLocks/>
          </p:cNvSpPr>
          <p:nvPr/>
        </p:nvSpPr>
        <p:spPr>
          <a:xfrm>
            <a:off x="1258685" y="4486931"/>
            <a:ext cx="4946583" cy="66890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0D3F148-0368-C8D3-8EAA-8B6D20BD3E26}"/>
              </a:ext>
            </a:extLst>
          </p:cNvPr>
          <p:cNvSpPr txBox="1"/>
          <p:nvPr/>
        </p:nvSpPr>
        <p:spPr>
          <a:xfrm>
            <a:off x="0" y="1861564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Moyenne générale des élèves en 2</a:t>
            </a:r>
            <a:r>
              <a:rPr lang="fr-FR" baseline="30000" dirty="0"/>
              <a:t>èm</a:t>
            </a:r>
            <a:r>
              <a:rPr lang="fr-FR" sz="1800" baseline="30000" dirty="0"/>
              <a:t>e</a:t>
            </a:r>
            <a:r>
              <a:rPr lang="fr-FR" sz="1800" dirty="0"/>
              <a:t> année selon la voie d’entrée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61006B6E-812C-C8CA-8353-DE9E6B59A1FE}"/>
              </a:ext>
            </a:extLst>
          </p:cNvPr>
          <p:cNvSpPr txBox="1">
            <a:spLocks/>
          </p:cNvSpPr>
          <p:nvPr/>
        </p:nvSpPr>
        <p:spPr>
          <a:xfrm>
            <a:off x="1041030" y="5167312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68449745-A252-943F-86F0-E58FCB7B7FE3}"/>
              </a:ext>
            </a:extLst>
          </p:cNvPr>
          <p:cNvSpPr txBox="1">
            <a:spLocks/>
          </p:cNvSpPr>
          <p:nvPr/>
        </p:nvSpPr>
        <p:spPr>
          <a:xfrm>
            <a:off x="1193430" y="5319712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moyennes ont tendance à s’équilibrer en deuxième année</a:t>
            </a:r>
          </a:p>
          <a:p>
            <a:pPr marL="12573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La première année a fait le travail d’harmonisation des niveaux 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AST-2A un peu au-dessus en moyenne générale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D2 sont davantage en difficulté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6AB692D2-7A02-5C6B-7ADC-DDCD188C1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804" y="2371069"/>
            <a:ext cx="5769080" cy="1713028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E874AFC9-9AAE-6A96-16E2-1B2503A013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0329" y="1613985"/>
            <a:ext cx="4099505" cy="27608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60568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1AC22-F4B9-7255-92DA-93F9FEF87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9054061-3917-2771-968D-7D8F1CA259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Résultats scolaire en 1</a:t>
            </a:r>
            <a:r>
              <a:rPr lang="fr-FR" b="1" baseline="30000" dirty="0">
                <a:latin typeface="+mj-lt"/>
              </a:rPr>
              <a:t>ème</a:t>
            </a:r>
            <a:r>
              <a:rPr lang="fr-FR" b="1" dirty="0">
                <a:latin typeface="+mj-lt"/>
              </a:rPr>
              <a:t> année et voie d’entrée par type de matière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B1EF16C-69A0-B707-88FD-C66FDBCFB06B}"/>
              </a:ext>
            </a:extLst>
          </p:cNvPr>
          <p:cNvSpPr txBox="1"/>
          <p:nvPr/>
        </p:nvSpPr>
        <p:spPr>
          <a:xfrm>
            <a:off x="838199" y="1529236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Statistique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5A00E254-D758-7D91-39A1-2AA1A05B8C5D}"/>
              </a:ext>
            </a:extLst>
          </p:cNvPr>
          <p:cNvSpPr txBox="1">
            <a:spLocks/>
          </p:cNvSpPr>
          <p:nvPr/>
        </p:nvSpPr>
        <p:spPr>
          <a:xfrm>
            <a:off x="838197" y="5064138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BL, D2 et PC/PSI en retrait sur les matières statistiques et informatique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BL et PC/PSI également en difficulté dans les matières d’économie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BL se rattrapent notamment sur les Humanités, tout comme les ERASMUS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1863CCA-248E-EE10-8F73-EC177197CE94}"/>
              </a:ext>
            </a:extLst>
          </p:cNvPr>
          <p:cNvSpPr txBox="1"/>
          <p:nvPr/>
        </p:nvSpPr>
        <p:spPr>
          <a:xfrm>
            <a:off x="5919121" y="1533167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Informatique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C94DDE68-53D7-9C8A-C86A-D7EFCE54F693}"/>
              </a:ext>
            </a:extLst>
          </p:cNvPr>
          <p:cNvSpPr txBox="1"/>
          <p:nvPr/>
        </p:nvSpPr>
        <p:spPr>
          <a:xfrm>
            <a:off x="838200" y="3283829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Économie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300A0AF2-E600-2DFA-004A-474C75AEE135}"/>
              </a:ext>
            </a:extLst>
          </p:cNvPr>
          <p:cNvSpPr txBox="1"/>
          <p:nvPr/>
        </p:nvSpPr>
        <p:spPr>
          <a:xfrm>
            <a:off x="5919121" y="3281228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Humanités</a:t>
            </a: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9569A221-3548-4629-D5E4-D2F211FFE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197" y="1817223"/>
            <a:ext cx="4506160" cy="1477827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0B112B17-F7AF-E30A-6AAD-5204543004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9944" y="1915442"/>
            <a:ext cx="4069275" cy="1304116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7B2CA1C6-5A66-4EB5-129A-CC73DB233B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424" y="3599260"/>
            <a:ext cx="4421933" cy="1414302"/>
          </a:xfrm>
          <a:prstGeom prst="rect">
            <a:avLst/>
          </a:prstGeom>
        </p:spPr>
      </p:pic>
      <p:pic>
        <p:nvPicPr>
          <p:cNvPr id="20" name="Image 19">
            <a:extLst>
              <a:ext uri="{FF2B5EF4-FFF2-40B4-BE49-F238E27FC236}">
                <a16:creationId xmlns:a16="http://schemas.microsoft.com/office/drawing/2014/main" id="{1206A39F-6856-8F16-7F6A-5E43F2A98B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9944" y="3701136"/>
            <a:ext cx="4030938" cy="1287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367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96D8BC-2E0E-B22B-D326-BC2BB8C45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2CBBB-6F3E-715A-3EBE-CBC2D9BC3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Résultats scolaire en 2</a:t>
            </a:r>
            <a:r>
              <a:rPr lang="fr-FR" b="1" baseline="30000" dirty="0">
                <a:latin typeface="+mj-lt"/>
              </a:rPr>
              <a:t>ème</a:t>
            </a:r>
            <a:r>
              <a:rPr lang="fr-FR" b="1" dirty="0">
                <a:latin typeface="+mj-lt"/>
              </a:rPr>
              <a:t> année et voie d’entrée par type de matière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1DE8C20-6DEC-6856-5243-7716D09C69D6}"/>
              </a:ext>
            </a:extLst>
          </p:cNvPr>
          <p:cNvSpPr txBox="1"/>
          <p:nvPr/>
        </p:nvSpPr>
        <p:spPr>
          <a:xfrm>
            <a:off x="838200" y="1563324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Statistique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6E2C89AD-A453-D07D-7F6D-05D43F1F28E9}"/>
              </a:ext>
            </a:extLst>
          </p:cNvPr>
          <p:cNvSpPr txBox="1">
            <a:spLocks/>
          </p:cNvSpPr>
          <p:nvPr/>
        </p:nvSpPr>
        <p:spPr>
          <a:xfrm>
            <a:off x="822646" y="5144354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Ca s’équilibre : la première année a joué son rôle !</a:t>
            </a:r>
          </a:p>
          <a:p>
            <a:pPr marL="1257300" lvl="1" indent="-342900">
              <a:buFont typeface="Wingdings" panose="05000000000000000000" pitchFamily="2" charset="2"/>
              <a:buChar char="q"/>
            </a:pPr>
            <a:r>
              <a:rPr lang="fr-FR" sz="1600" dirty="0"/>
              <a:t>C’est tout de même un peu plus difficile pour les BL, D2 et PC/PSI sur le passé récent</a:t>
            </a: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nouveaux arrivants AST-2A particulièrement performants sur les matières statistiques et informatiques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56740B9-28FB-098A-CDD5-7CA5520D8933}"/>
              </a:ext>
            </a:extLst>
          </p:cNvPr>
          <p:cNvSpPr txBox="1"/>
          <p:nvPr/>
        </p:nvSpPr>
        <p:spPr>
          <a:xfrm>
            <a:off x="5919121" y="1577567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Informatique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397F0265-59B1-5633-54F7-7A2522EF3116}"/>
              </a:ext>
            </a:extLst>
          </p:cNvPr>
          <p:cNvSpPr txBox="1"/>
          <p:nvPr/>
        </p:nvSpPr>
        <p:spPr>
          <a:xfrm>
            <a:off x="838200" y="3283829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Économie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29B02A1E-CC56-8D32-A09A-D237B011569D}"/>
              </a:ext>
            </a:extLst>
          </p:cNvPr>
          <p:cNvSpPr txBox="1"/>
          <p:nvPr/>
        </p:nvSpPr>
        <p:spPr>
          <a:xfrm>
            <a:off x="5919121" y="3281228"/>
            <a:ext cx="8254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/>
            <a:r>
              <a:rPr lang="fr-FR" sz="1800" dirty="0"/>
              <a:t>UE Humanités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65FA5CED-1746-4042-7A59-861DB8636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418" y="1917824"/>
            <a:ext cx="4554486" cy="1351762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5A3D33D7-DE5B-4459-1398-D83912EC0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7736" y="1979586"/>
            <a:ext cx="4128116" cy="1240468"/>
          </a:xfrm>
          <a:prstGeom prst="rect">
            <a:avLst/>
          </a:prstGeom>
        </p:spPr>
      </p:pic>
      <p:pic>
        <p:nvPicPr>
          <p:cNvPr id="18" name="Image 17">
            <a:extLst>
              <a:ext uri="{FF2B5EF4-FFF2-40B4-BE49-F238E27FC236}">
                <a16:creationId xmlns:a16="http://schemas.microsoft.com/office/drawing/2014/main" id="{DFA6E4D4-A2C0-5789-BBB2-003CA343A1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1418" y="3621570"/>
            <a:ext cx="4447126" cy="1280816"/>
          </a:xfrm>
          <a:prstGeom prst="rect">
            <a:avLst/>
          </a:prstGeom>
        </p:spPr>
      </p:pic>
      <p:pic>
        <p:nvPicPr>
          <p:cNvPr id="21" name="Image 20">
            <a:extLst>
              <a:ext uri="{FF2B5EF4-FFF2-40B4-BE49-F238E27FC236}">
                <a16:creationId xmlns:a16="http://schemas.microsoft.com/office/drawing/2014/main" id="{23FEF79B-9348-EA3C-B206-4F8500F699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736" y="3711734"/>
            <a:ext cx="4199501" cy="1177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381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BFC77-EFD4-7214-7876-F4D60DEA2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D85A3C5-9B24-C115-CD96-B4436BAAE3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33340" cy="1325563"/>
          </a:xfrm>
        </p:spPr>
        <p:txBody>
          <a:bodyPr/>
          <a:lstStyle/>
          <a:p>
            <a:r>
              <a:rPr lang="fr-FR" b="1" dirty="0">
                <a:latin typeface="+mj-lt"/>
              </a:rPr>
              <a:t>Les PC/PSI en difficulté : tentative d’explication</a:t>
            </a:r>
          </a:p>
        </p:txBody>
      </p:sp>
      <p:sp>
        <p:nvSpPr>
          <p:cNvPr id="12" name="Espace réservé du texte 2">
            <a:extLst>
              <a:ext uri="{FF2B5EF4-FFF2-40B4-BE49-F238E27FC236}">
                <a16:creationId xmlns:a16="http://schemas.microsoft.com/office/drawing/2014/main" id="{8E661CD2-9BE5-1561-DA3A-A083ECC16378}"/>
              </a:ext>
            </a:extLst>
          </p:cNvPr>
          <p:cNvSpPr txBox="1">
            <a:spLocks/>
          </p:cNvSpPr>
          <p:nvPr/>
        </p:nvSpPr>
        <p:spPr>
          <a:xfrm>
            <a:off x="822646" y="5144354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15" name="Image 14">
            <a:extLst>
              <a:ext uri="{FF2B5EF4-FFF2-40B4-BE49-F238E27FC236}">
                <a16:creationId xmlns:a16="http://schemas.microsoft.com/office/drawing/2014/main" id="{B4972847-152C-E87B-78C7-2D77908C8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1569" y="1337095"/>
            <a:ext cx="5913140" cy="3531553"/>
          </a:xfrm>
          <a:prstGeom prst="rect">
            <a:avLst/>
          </a:prstGeom>
        </p:spPr>
      </p:pic>
      <p:sp>
        <p:nvSpPr>
          <p:cNvPr id="20" name="Espace réservé du texte 2">
            <a:extLst>
              <a:ext uri="{FF2B5EF4-FFF2-40B4-BE49-F238E27FC236}">
                <a16:creationId xmlns:a16="http://schemas.microsoft.com/office/drawing/2014/main" id="{E969BF7D-4AED-62B8-45A6-ED0C6E3DB665}"/>
              </a:ext>
            </a:extLst>
          </p:cNvPr>
          <p:cNvSpPr txBox="1">
            <a:spLocks/>
          </p:cNvSpPr>
          <p:nvPr/>
        </p:nvSpPr>
        <p:spPr>
          <a:xfrm>
            <a:off x="975046" y="5296754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difficultés récentes des PC/PSI semblent trouver une origine dans un rang de classement plus élevé à l’entrée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Et inversement la bonne réussite des MPI semble aussi expliquée par un meilleur rang à l’entrée 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2508689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C12BC-B8C8-F4A3-2EB1-3BB1AED8C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6CC4E3-98BC-3FEB-462F-E2A6C7913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Redoublement et exclusions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C97A95D-16EA-BD5E-1A8A-FA168E2AED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50" y="1618832"/>
            <a:ext cx="5174412" cy="3194377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027D7431-E0BB-BEE1-C174-5341A1846822}"/>
              </a:ext>
            </a:extLst>
          </p:cNvPr>
          <p:cNvSpPr txBox="1"/>
          <p:nvPr/>
        </p:nvSpPr>
        <p:spPr>
          <a:xfrm>
            <a:off x="691550" y="5186623"/>
            <a:ext cx="1090235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Les attachés redoublent davantage que les ingénieurs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Moins de redoublement sur la période 2023-2025</a:t>
            </a:r>
          </a:p>
          <a:p>
            <a:pPr marL="742950" lvl="1" indent="-285750">
              <a:buFont typeface="Wingdings" panose="05000000000000000000" pitchFamily="2" charset="2"/>
              <a:buChar char="q"/>
            </a:pPr>
            <a:r>
              <a:rPr lang="fr-FR" dirty="0"/>
              <a:t>Légèrement compensé par une hausse des exclusions/démissions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D8337993-5A41-9C78-14C3-1E06F0196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4762" y="1179368"/>
            <a:ext cx="3236258" cy="4233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9305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C52F1-9D91-4EBD-74F6-A88AEF93B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F9976F-54E2-3BE4-03CA-9B716F6B14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Redoublement et rang à l’entrée (concours mathématiques)</a:t>
            </a: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EE2C439-3F40-15E4-4D0B-FE50E37FBB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924464" y="1905181"/>
            <a:ext cx="4435408" cy="44456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La moyenne, la médiane du classement à l’entrée semble être liée à un risque de redoublement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Mais pas sans quelque accident…</a:t>
            </a: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F9AAD752-4214-C34C-DD5A-12CDE8E8E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05181"/>
            <a:ext cx="5621849" cy="3469076"/>
          </a:xfrm>
          <a:prstGeom prst="rect">
            <a:avLst/>
          </a:prstGeom>
        </p:spPr>
      </p:pic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A377803C-9073-2C58-2B53-837C2DE96B49}"/>
              </a:ext>
            </a:extLst>
          </p:cNvPr>
          <p:cNvSpPr txBox="1">
            <a:spLocks/>
          </p:cNvSpPr>
          <p:nvPr/>
        </p:nvSpPr>
        <p:spPr>
          <a:xfrm>
            <a:off x="751936" y="5282376"/>
            <a:ext cx="10515600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Un lien significatif mais faible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Chaque point supplémentaire au rang standardisé augmente le risque de redoublement de 4,5 %</a:t>
            </a:r>
          </a:p>
        </p:txBody>
      </p:sp>
    </p:spTree>
    <p:extLst>
      <p:ext uri="{BB962C8B-B14F-4D97-AF65-F5344CB8AC3E}">
        <p14:creationId xmlns:p14="http://schemas.microsoft.com/office/powerpoint/2010/main" val="2037052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BAAFB1-7345-5807-23E0-05F1EC707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76472" cy="1325563"/>
          </a:xfrm>
        </p:spPr>
        <p:txBody>
          <a:bodyPr/>
          <a:lstStyle/>
          <a:p>
            <a:r>
              <a:rPr lang="fr-FR" sz="3600" b="1" dirty="0">
                <a:latin typeface="+mj-lt"/>
              </a:rPr>
              <a:t>Les mathématiques et la voie d’entrée en évolution</a:t>
            </a:r>
            <a:br>
              <a:rPr lang="fr-FR" b="1" dirty="0"/>
            </a:br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C4487BA-4557-E1FA-F7BA-E2E2955E6D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5480485"/>
            <a:ext cx="10169106" cy="349609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La situation s’améliore davantage pour les voies d’entrée à plus grand risque de difficulté (BL et D2) que les filières à plus faible risque (MP, PC/PSI)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97501342-3BBF-3506-26BC-6281C5CB27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052" y="1027906"/>
            <a:ext cx="7073246" cy="4374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9802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113F6AE-A221-6B50-6D69-592D41B04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dirty="0">
                <a:latin typeface="Bahnschrift SemiLight" panose="020B0502040204020203" pitchFamily="34" charset="0"/>
                <a:ea typeface="+mn-ea"/>
              </a:rPr>
              <a:t>Les déterminants des choix de filière de spécialisation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9D28924-B5C4-13D0-E719-1033096A38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2044700"/>
            <a:ext cx="4372155" cy="3886200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d’attractivité de la filière MKT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Intérêt pour GR qui se réduit depuis 2023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Baisse tendancielle de GS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nouvelles filières STD et DIGISPORT connaissent un engouement croissant mais variable (faibles effectifs)</a:t>
            </a:r>
          </a:p>
          <a:p>
            <a:pPr marL="228600"/>
            <a:r>
              <a:rPr lang="fr-FR" sz="2000" dirty="0"/>
              <a:t>NB : les résultats dépendent également des contingentements</a:t>
            </a:r>
          </a:p>
        </p:txBody>
      </p:sp>
      <p:sp>
        <p:nvSpPr>
          <p:cNvPr id="7" name="Espace réservé du texte 2">
            <a:extLst>
              <a:ext uri="{FF2B5EF4-FFF2-40B4-BE49-F238E27FC236}">
                <a16:creationId xmlns:a16="http://schemas.microsoft.com/office/drawing/2014/main" id="{F738BB57-D405-7C41-3181-29839A7C6DA8}"/>
              </a:ext>
            </a:extLst>
          </p:cNvPr>
          <p:cNvSpPr txBox="1">
            <a:spLocks/>
          </p:cNvSpPr>
          <p:nvPr/>
        </p:nvSpPr>
        <p:spPr>
          <a:xfrm>
            <a:off x="5873817" y="6002220"/>
            <a:ext cx="4946583" cy="66890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0147B50-A38A-2BDF-442F-02E8D9AD8F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2611" y="1897811"/>
            <a:ext cx="6048993" cy="371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3210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0F007-7C33-EE19-10B2-756804F70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8028F8-CCA4-51F0-6A63-4CDFD581C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dirty="0">
                <a:latin typeface="Bahnschrift SemiLight" panose="020B0502040204020203" pitchFamily="34" charset="0"/>
                <a:ea typeface="+mn-ea"/>
              </a:rPr>
              <a:t>Les déterminants des choix de filière de spécialisation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B79A211-E1DB-20F8-C8EE-3D6E5550AB5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1031" y="5167312"/>
            <a:ext cx="8206484" cy="1470804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AST surreprésentés en GR et MKT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BL et D2 surreprésentés en MES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BUT surreprésentés en SBIO et DIGISPORT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Toutes les voies d’entrée sont représentées en GS et ID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1" name="Espace réservé du texte 2">
            <a:extLst>
              <a:ext uri="{FF2B5EF4-FFF2-40B4-BE49-F238E27FC236}">
                <a16:creationId xmlns:a16="http://schemas.microsoft.com/office/drawing/2014/main" id="{09E0594F-E50C-0A76-1E5A-D571AA3D253B}"/>
              </a:ext>
            </a:extLst>
          </p:cNvPr>
          <p:cNvSpPr txBox="1">
            <a:spLocks/>
          </p:cNvSpPr>
          <p:nvPr/>
        </p:nvSpPr>
        <p:spPr>
          <a:xfrm>
            <a:off x="1363432" y="4498410"/>
            <a:ext cx="4946583" cy="66890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400" dirty="0"/>
              <a:t>Sources : Données d’admission et Pamplemousse</a:t>
            </a:r>
          </a:p>
          <a:p>
            <a:r>
              <a:rPr lang="fr-FR" sz="1400" dirty="0"/>
              <a:t>Champ : élèves admis en 1ère année</a:t>
            </a:r>
          </a:p>
        </p:txBody>
      </p: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7336B91D-3BC3-F65D-5B23-5575D815181E}"/>
              </a:ext>
            </a:extLst>
          </p:cNvPr>
          <p:cNvSpPr txBox="1">
            <a:spLocks/>
          </p:cNvSpPr>
          <p:nvPr/>
        </p:nvSpPr>
        <p:spPr>
          <a:xfrm>
            <a:off x="1158925" y="1368813"/>
            <a:ext cx="8206484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40866860-EAF7-AEF8-A18D-09BFB900955F}"/>
              </a:ext>
            </a:extLst>
          </p:cNvPr>
          <p:cNvSpPr txBox="1">
            <a:spLocks/>
          </p:cNvSpPr>
          <p:nvPr/>
        </p:nvSpPr>
        <p:spPr>
          <a:xfrm>
            <a:off x="1041031" y="1368813"/>
            <a:ext cx="10194875" cy="38862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3DDA62FD-F652-32D6-3EED-42971C7DD4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924" y="1489371"/>
            <a:ext cx="7192730" cy="300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5286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1D8273F-3AC8-BB39-89DB-19A2F45FA2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Bahnschrift SemiLight" panose="020B0502040204020203" pitchFamily="34" charset="0"/>
              </a:rPr>
              <a:t>Un petit point sur les attachés</a:t>
            </a:r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5189E96-296E-59C9-52B4-EF66A94EB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237" y="1771476"/>
            <a:ext cx="5408763" cy="3315048"/>
          </a:xfrm>
          <a:prstGeom prst="rect">
            <a:avLst/>
          </a:prstGeom>
        </p:spPr>
      </p:pic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7ADF8A37-3988-4041-1AD9-9A3164441D3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488502" y="1485900"/>
            <a:ext cx="4372155" cy="3886200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Inversion des parts de MSP et de MSP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Spécialisation en STD constante sur les deux dernières promotions</a:t>
            </a:r>
          </a:p>
        </p:txBody>
      </p:sp>
    </p:spTree>
    <p:extLst>
      <p:ext uri="{BB962C8B-B14F-4D97-AF65-F5344CB8AC3E}">
        <p14:creationId xmlns:p14="http://schemas.microsoft.com/office/powerpoint/2010/main" val="2957512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D0A84-7B3F-5B63-E554-8D0BAD44A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37FD6F-CCB5-78C1-DF07-FC75CD511E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z="3600" b="1" dirty="0">
                <a:latin typeface="+mj-lt"/>
              </a:rPr>
              <a:t>Impact du niveau d’anglais sur la scolarité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3237080-96F8-5D4C-A56E-30EFA148735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4282833"/>
            <a:ext cx="10397706" cy="1470804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Un léger lien entre le niveau d’anglais mesuré par le TOEIC et la moyenne sur les 2 premières années d’école, sans pouvoir y voir une causalité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Les fonctionnaires semblent avoir un niveau moins élevé selon le score TOEIC, mais le phénomène a le même pattern chez les ingénieurs et les attachés 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5" name="Espace réservé du texte 2">
            <a:extLst>
              <a:ext uri="{FF2B5EF4-FFF2-40B4-BE49-F238E27FC236}">
                <a16:creationId xmlns:a16="http://schemas.microsoft.com/office/drawing/2014/main" id="{E44CB01A-E49B-E386-426B-D2E6FA4A43D0}"/>
              </a:ext>
            </a:extLst>
          </p:cNvPr>
          <p:cNvSpPr txBox="1">
            <a:spLocks/>
          </p:cNvSpPr>
          <p:nvPr/>
        </p:nvSpPr>
        <p:spPr>
          <a:xfrm>
            <a:off x="1158925" y="1368813"/>
            <a:ext cx="8206484" cy="147080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6" name="Espace réservé du texte 2">
            <a:extLst>
              <a:ext uri="{FF2B5EF4-FFF2-40B4-BE49-F238E27FC236}">
                <a16:creationId xmlns:a16="http://schemas.microsoft.com/office/drawing/2014/main" id="{DFFB2FD3-CEBC-796B-A00B-93950BF4EC17}"/>
              </a:ext>
            </a:extLst>
          </p:cNvPr>
          <p:cNvSpPr txBox="1">
            <a:spLocks/>
          </p:cNvSpPr>
          <p:nvPr/>
        </p:nvSpPr>
        <p:spPr>
          <a:xfrm>
            <a:off x="1041031" y="1368813"/>
            <a:ext cx="10194875" cy="38862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endParaRPr lang="fr-FR" sz="2000" dirty="0"/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7AF3C9AA-3E90-5496-9899-4DDB587407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56" y="1690688"/>
            <a:ext cx="10739887" cy="2245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7414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EDEFBD-B5D6-1A25-DE20-2FD2F28A3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Diversité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427AFB5B-1352-2652-4FF4-01BBD64A4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792" y="1181577"/>
            <a:ext cx="6175170" cy="3550011"/>
          </a:xfrm>
          <a:prstGeom prst="rect">
            <a:avLst/>
          </a:prstGeom>
        </p:spPr>
      </p:pic>
      <p:sp>
        <p:nvSpPr>
          <p:cNvPr id="9" name="ZoneTexte 8">
            <a:extLst>
              <a:ext uri="{FF2B5EF4-FFF2-40B4-BE49-F238E27FC236}">
                <a16:creationId xmlns:a16="http://schemas.microsoft.com/office/drawing/2014/main" id="{23AFD1B8-BAF7-BA15-5A8D-851BBEF8D290}"/>
              </a:ext>
            </a:extLst>
          </p:cNvPr>
          <p:cNvSpPr txBox="1"/>
          <p:nvPr/>
        </p:nvSpPr>
        <p:spPr>
          <a:xfrm>
            <a:off x="691550" y="5186623"/>
            <a:ext cx="1090235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Baisse tendancielle de la part des femmes de 39 % en 2015 à 31 % en 2025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fr-FR" dirty="0"/>
              <a:t>Hausse tendancielle et importante de la part des Étrangers hors UE, de 11 % en 2A en 2015 à 31 % en 2025</a:t>
            </a:r>
          </a:p>
          <a:p>
            <a:r>
              <a:rPr lang="fr-FR" dirty="0">
                <a:sym typeface="Wingdings" panose="05000000000000000000" pitchFamily="2" charset="2"/>
              </a:rPr>
              <a:t> La diversité, ce n’est pas que ça, mais ce sont les principaux indicateurs regardés dans les enquêtes</a:t>
            </a:r>
            <a:endParaRPr lang="fr-FR" dirty="0"/>
          </a:p>
          <a:p>
            <a:pPr marL="285750" indent="-285750">
              <a:buFont typeface="Wingdings" panose="05000000000000000000" pitchFamily="2" charset="2"/>
              <a:buChar char="q"/>
            </a:pPr>
            <a:endParaRPr lang="fr-FR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B849335-5A5B-11A2-4F37-226567727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838" y="1399581"/>
            <a:ext cx="5280994" cy="3183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4987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9E7C91A-D7FB-37C0-E559-1BA0B88A5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Vers un tableau de bord de pilotage 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F16403-D64E-12E2-597C-ABC91D1589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2044700"/>
            <a:ext cx="10515600" cy="1384300"/>
          </a:xfrm>
        </p:spPr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Industrialiser le suivi, se mettre d’accord :</a:t>
            </a:r>
          </a:p>
          <a:p>
            <a:pPr marL="1143000" lvl="1" indent="-457200">
              <a:buFont typeface="Wingdings" panose="05000000000000000000" pitchFamily="2" charset="2"/>
              <a:buChar char="q"/>
            </a:pPr>
            <a:r>
              <a:rPr lang="fr-FR" dirty="0"/>
              <a:t>Sur nos propres besoins</a:t>
            </a:r>
          </a:p>
          <a:p>
            <a:pPr marL="1143000" lvl="1" indent="-457200">
              <a:buFont typeface="Wingdings" panose="05000000000000000000" pitchFamily="2" charset="2"/>
              <a:buChar char="q"/>
            </a:pPr>
            <a:r>
              <a:rPr lang="fr-FR" dirty="0"/>
              <a:t>En conformité avec les attentes des différentes enquêtes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594EC9E-A650-61DE-484B-86F1E44E46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57" y="4230751"/>
            <a:ext cx="6136188" cy="1399143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7D6273A-DCDE-3B91-4C8F-331AD48F1A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908" y="4215908"/>
            <a:ext cx="4953542" cy="1371937"/>
          </a:xfrm>
          <a:prstGeom prst="rect">
            <a:avLst/>
          </a:prstGeom>
        </p:spPr>
      </p:pic>
      <p:sp>
        <p:nvSpPr>
          <p:cNvPr id="8" name="Espace réservé du texte 2">
            <a:extLst>
              <a:ext uri="{FF2B5EF4-FFF2-40B4-BE49-F238E27FC236}">
                <a16:creationId xmlns:a16="http://schemas.microsoft.com/office/drawing/2014/main" id="{5BCD1CCA-534F-AB2A-FD09-A36489C3D89E}"/>
              </a:ext>
            </a:extLst>
          </p:cNvPr>
          <p:cNvSpPr txBox="1">
            <a:spLocks/>
          </p:cNvSpPr>
          <p:nvPr/>
        </p:nvSpPr>
        <p:spPr>
          <a:xfrm>
            <a:off x="838200" y="3532517"/>
            <a:ext cx="10515600" cy="13843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>
                <a:sym typeface="Wingdings" panose="05000000000000000000" pitchFamily="2" charset="2"/>
              </a:rPr>
              <a:t> </a:t>
            </a:r>
            <a:r>
              <a:rPr lang="fr-FR" b="1" dirty="0">
                <a:sym typeface="Wingdings" panose="05000000000000000000" pitchFamily="2" charset="2"/>
              </a:rPr>
              <a:t>Lister ensemble les indicateurs à surveiller</a:t>
            </a:r>
            <a:endParaRPr lang="fr-FR" b="1" dirty="0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D9376780-6AC3-5DFF-6DE8-99B5093F84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8765" y="5587845"/>
            <a:ext cx="1163293" cy="123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5638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8DEF0C-9E81-D39D-21BD-D5A379EF8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Engagement numérique : un début d’esquisse de commencement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8BFCA96-5438-526B-7677-D53BBA3424C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Travaux en cours sur les données Moodle 2020-2025</a:t>
            </a:r>
          </a:p>
          <a:p>
            <a:pPr marL="457200" indent="-457200">
              <a:buFont typeface="Wingdings" panose="05000000000000000000" pitchFamily="2" charset="2"/>
              <a:buChar char="q"/>
            </a:pPr>
            <a:r>
              <a:rPr lang="fr-FR" dirty="0"/>
              <a:t>Construction d’indicateurs de d’engagement numérique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28CF857-3B8B-0225-4EB1-818B87E1C0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3041" y="3700732"/>
            <a:ext cx="6243170" cy="21307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66910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626AFC-141E-4333-1FCF-495B6A4F9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Engagement numérique : une aide à la détection des décrochages scolaires ?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AF976DF9-6F30-AE07-A31A-108F2E946E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8283" y="1643084"/>
            <a:ext cx="6994021" cy="3301349"/>
          </a:xfrm>
          <a:prstGeom prst="rect">
            <a:avLst/>
          </a:prstGeom>
        </p:spPr>
      </p:pic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D218809E-2078-22E0-582B-2F5634C4EC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38200" y="4944433"/>
            <a:ext cx="10427898" cy="1470804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L’engagement numérique ne peut être à lui seul un indicateur de prédiction du décrochage et du risque de redoublement / exclusion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2000" dirty="0"/>
              <a:t>Mais utile dans une combinaison d’autres indicateurs (absences, certaines notes, etc.)</a:t>
            </a:r>
          </a:p>
          <a:p>
            <a:pPr marL="228600"/>
            <a:r>
              <a:rPr lang="fr-FR" sz="2000" dirty="0">
                <a:sym typeface="Wingdings" panose="05000000000000000000" pitchFamily="2" charset="2"/>
              </a:rPr>
              <a:t> À creuser</a:t>
            </a: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39401785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8D2BA-1151-9AA5-54A1-A5E2F79107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52EB9F3-FB7A-34D5-C72B-FEE06C28E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b="1" dirty="0">
                <a:latin typeface="+mj-lt"/>
              </a:rPr>
              <a:t>Engagement numérique : une aide à la mise en place de contenus pédagogiques ?</a:t>
            </a:r>
          </a:p>
        </p:txBody>
      </p:sp>
      <p:sp>
        <p:nvSpPr>
          <p:cNvPr id="6" name="Espace réservé du texte 2">
            <a:extLst>
              <a:ext uri="{FF2B5EF4-FFF2-40B4-BE49-F238E27FC236}">
                <a16:creationId xmlns:a16="http://schemas.microsoft.com/office/drawing/2014/main" id="{CFAA4092-3255-6203-FF02-D255375AEA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72860" y="4449009"/>
            <a:ext cx="10427898" cy="2166853"/>
          </a:xfrm>
        </p:spPr>
        <p:txBody>
          <a:bodyPr/>
          <a:lstStyle/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Nécessité d’objectiver le niveau d’apprentissage et d’assimilation des élèves selon les propositions pédagogiques proposées sur Moodle (DM, Quizz, etc.)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Idéalement une ou des enquêtes qualitatives plutôt que la réussite aux examens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Tester grandeur nature deux modes d’apprentissage dans la même matière et observer la réussite à l’examen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r>
              <a:rPr lang="fr-FR" sz="1800" dirty="0"/>
              <a:t>La solution de remplacement de Pamplemousse intégrerait-elle des possibilités de suivre l’engagement numérique des élèves ?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1143F438-BBEA-6A9E-5F43-9D54B244F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325" y="2007285"/>
            <a:ext cx="4537029" cy="2503189"/>
          </a:xfrm>
          <a:prstGeom prst="rect">
            <a:avLst/>
          </a:prstGeom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82466BED-0E13-9649-A906-EF42D3924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003" y="1824003"/>
            <a:ext cx="4272718" cy="2637480"/>
          </a:xfrm>
          <a:prstGeom prst="rect">
            <a:avLst/>
          </a:prstGeom>
        </p:spPr>
      </p:pic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351227C3-2187-7E64-7DD6-CD16F083681F}"/>
              </a:ext>
            </a:extLst>
          </p:cNvPr>
          <p:cNvSpPr txBox="1">
            <a:spLocks/>
          </p:cNvSpPr>
          <p:nvPr/>
        </p:nvSpPr>
        <p:spPr>
          <a:xfrm>
            <a:off x="1227827" y="1528508"/>
            <a:ext cx="3835879" cy="45767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r>
              <a:rPr lang="fr-FR" sz="2000" dirty="0"/>
              <a:t>Méthode d’analyse factorielle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  <p:sp>
        <p:nvSpPr>
          <p:cNvPr id="10" name="Espace réservé du texte 2">
            <a:extLst>
              <a:ext uri="{FF2B5EF4-FFF2-40B4-BE49-F238E27FC236}">
                <a16:creationId xmlns:a16="http://schemas.microsoft.com/office/drawing/2014/main" id="{7E9B1C8C-C397-8EDB-11FA-8F31C9846130}"/>
              </a:ext>
            </a:extLst>
          </p:cNvPr>
          <p:cNvSpPr txBox="1">
            <a:spLocks/>
          </p:cNvSpPr>
          <p:nvPr/>
        </p:nvSpPr>
        <p:spPr>
          <a:xfrm>
            <a:off x="6443932" y="1528508"/>
            <a:ext cx="3835879" cy="457674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Bahnschrift SemiLight" panose="020B0502040204020203" pitchFamily="34" charset="0"/>
                <a:ea typeface="+mn-ea"/>
                <a:cs typeface="Thorndale AMT" panose="02020603050405020304" pitchFamily="18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/>
            <a:r>
              <a:rPr lang="fr-FR" sz="2000" dirty="0"/>
              <a:t>Régression linéaire</a:t>
            </a:r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  <a:p>
            <a:pPr marL="571500" indent="-342900">
              <a:buFont typeface="Wingdings" panose="05000000000000000000" pitchFamily="2" charset="2"/>
              <a:buChar char="q"/>
            </a:pP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509398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re 9"/>
          <p:cNvSpPr>
            <a:spLocks noGrp="1"/>
          </p:cNvSpPr>
          <p:nvPr>
            <p:ph type="title"/>
          </p:nvPr>
        </p:nvSpPr>
        <p:spPr>
          <a:xfrm>
            <a:off x="6378114" y="2903489"/>
            <a:ext cx="4049785" cy="1325563"/>
          </a:xfrm>
        </p:spPr>
        <p:txBody>
          <a:bodyPr/>
          <a:lstStyle/>
          <a:p>
            <a:r>
              <a:rPr lang="fr-FR" dirty="0">
                <a:latin typeface="+mj-lt"/>
              </a:rPr>
              <a:t>Des questions ?</a:t>
            </a:r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8BB6E495-AB01-E9D1-315F-1E86D5F984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158596" cy="686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803669"/>
      </p:ext>
    </p:extLst>
  </p:cSld>
  <p:clrMapOvr>
    <a:masterClrMapping/>
  </p:clrMapOvr>
</p:sld>
</file>

<file path=ppt/theme/theme1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Personnalisé 1">
      <a:majorFont>
        <a:latin typeface="Bahnschrift Light"/>
        <a:ea typeface=""/>
        <a:cs typeface=""/>
      </a:majorFont>
      <a:minorFont>
        <a:latin typeface="Franklin Gothic Boo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ele PP ENSAI 2024 (004) [Lecture seule]" id="{A8C3ABBE-4DAF-470D-8BE6-22D8833A9F33}" vid="{5F2DD50E-0F97-4FC8-AEA4-A9228D75ACE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ate1 xmlns="ec989fea-bb25-4413-a12c-f328b06a6537">2024-09-04T08:04:05+00:00</Date1>
    <Mise_x0020_en_x0020_avant xmlns="ec989fea-bb25-4413-a12c-f328b06a6537">false</Mise_x0020_en_x0020_avant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?mso-contentType ?>
<SharedContentType xmlns="Microsoft.SharePoint.Taxonomy.ContentTypeSync" SourceId="a3fec588-6c6b-4406-8ca4-9ac9567ea887" ContentTypeId="0x0101003CC4B864CFCC5B4D9ACD432D285AC3BC" PreviousValue="false"/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Documents ENSAI" ma:contentTypeID="0x0101003CC4B864CFCC5B4D9ACD432D285AC3BC003130031EBC5F8A408D719B71B7F316F7" ma:contentTypeVersion="100" ma:contentTypeDescription="" ma:contentTypeScope="" ma:versionID="b953b99991b6a203445a6aec087abea0">
  <xsd:schema xmlns:xsd="http://www.w3.org/2001/XMLSchema" xmlns:xs="http://www.w3.org/2001/XMLSchema" xmlns:p="http://schemas.microsoft.com/office/2006/metadata/properties" xmlns:ns2="ec989fea-bb25-4413-a12c-f328b06a6537" targetNamespace="http://schemas.microsoft.com/office/2006/metadata/properties" ma:root="true" ma:fieldsID="42c940d45ce8157fd86eab27bc1c28be" ns2:_="">
    <xsd:import namespace="ec989fea-bb25-4413-a12c-f328b06a6537"/>
    <xsd:element name="properties">
      <xsd:complexType>
        <xsd:sequence>
          <xsd:element name="documentManagement">
            <xsd:complexType>
              <xsd:all>
                <xsd:element ref="ns2:Mise_x0020_en_x0020_avant" minOccurs="0"/>
                <xsd:element ref="ns2:Date1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c989fea-bb25-4413-a12c-f328b06a6537" elementFormDefault="qualified">
    <xsd:import namespace="http://schemas.microsoft.com/office/2006/documentManagement/types"/>
    <xsd:import namespace="http://schemas.microsoft.com/office/infopath/2007/PartnerControls"/>
    <xsd:element name="Mise_x0020_en_x0020_avant" ma:index="8" nillable="true" ma:displayName="Mise en avant" ma:default="0" ma:internalName="Mise_x0020_en_x0020_avant">
      <xsd:simpleType>
        <xsd:restriction base="dms:Boolean"/>
      </xsd:simpleType>
    </xsd:element>
    <xsd:element name="Date1" ma:index="9" nillable="true" ma:displayName="Date" ma:default="[today]" ma:format="DateOnly" ma:internalName="Date1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31EFE21-6212-40E3-9464-BEE2346D99CE}">
  <ds:schemaRefs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dcmitype/"/>
    <ds:schemaRef ds:uri="ec989fea-bb25-4413-a12c-f328b06a6537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192A3D37-6C49-4620-B2B6-76D5704EBC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5D901EE-349C-4207-96FC-2EDAA5B8F19A}">
  <ds:schemaRefs>
    <ds:schemaRef ds:uri="Microsoft.SharePoint.Taxonomy.ContentTypeSync"/>
  </ds:schemaRefs>
</ds:datastoreItem>
</file>

<file path=customXml/itemProps4.xml><?xml version="1.0" encoding="utf-8"?>
<ds:datastoreItem xmlns:ds="http://schemas.openxmlformats.org/officeDocument/2006/customXml" ds:itemID="{D9364823-1FE6-41BC-976B-2ADEDF3F655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c989fea-bb25-4413-a12c-f328b06a653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Modele PPT ENSAI 2024</Template>
  <TotalTime>7038</TotalTime>
  <Words>1250</Words>
  <Application>Microsoft Office PowerPoint</Application>
  <PresentationFormat>Grand écran</PresentationFormat>
  <Paragraphs>142</Paragraphs>
  <Slides>26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26</vt:i4>
      </vt:variant>
    </vt:vector>
  </HeadingPairs>
  <TitlesOfParts>
    <vt:vector size="34" baseType="lpstr">
      <vt:lpstr>Aptos</vt:lpstr>
      <vt:lpstr>Arial</vt:lpstr>
      <vt:lpstr>Bahnschrift Light SemiCondensed</vt:lpstr>
      <vt:lpstr>Bahnschrift SemiLight</vt:lpstr>
      <vt:lpstr>Calibri</vt:lpstr>
      <vt:lpstr>Georgia</vt:lpstr>
      <vt:lpstr>Wingdings</vt:lpstr>
      <vt:lpstr>Conception personnalisée</vt:lpstr>
      <vt:lpstr>Présentation PowerPoint</vt:lpstr>
      <vt:lpstr>Plan</vt:lpstr>
      <vt:lpstr>Effectifs par voie d’entrée</vt:lpstr>
      <vt:lpstr>Effectifs par statut à l’entrée</vt:lpstr>
      <vt:lpstr>Concours Maths Préférence des mieux classés pour le statut ingénieur </vt:lpstr>
      <vt:lpstr>Concours BL Attractivité en hausse du statut fonctionnaire </vt:lpstr>
      <vt:lpstr>Concours D2 Même constat que pour les BL </vt:lpstr>
      <vt:lpstr>Origine et classement au concours Au premier abord par de grosses différences </vt:lpstr>
      <vt:lpstr>Résultats scolaire en 1ère année et voie d’entrée</vt:lpstr>
      <vt:lpstr>Résultats scolaire en 2ème année et voie d’entrée</vt:lpstr>
      <vt:lpstr>Résultats scolaire en 1ème année et voie d’entrée par type de matière</vt:lpstr>
      <vt:lpstr>Résultats scolaire en 2ème année et voie d’entrée par type de matière</vt:lpstr>
      <vt:lpstr>Les PC/PSI en difficulté : tentative d’explication</vt:lpstr>
      <vt:lpstr>Redoublement et exclusions</vt:lpstr>
      <vt:lpstr>Redoublement et rang à l’entrée (concours mathématiques)</vt:lpstr>
      <vt:lpstr>Les mathématiques et la voie d’entrée en évolution </vt:lpstr>
      <vt:lpstr>Les déterminants des choix de filière de spécialisation</vt:lpstr>
      <vt:lpstr>Les déterminants des choix de filière de spécialisation</vt:lpstr>
      <vt:lpstr>Un petit point sur les attachés</vt:lpstr>
      <vt:lpstr>Impact du niveau d’anglais sur la scolarité</vt:lpstr>
      <vt:lpstr>Diversité</vt:lpstr>
      <vt:lpstr>Vers un tableau de bord de pilotage </vt:lpstr>
      <vt:lpstr>Engagement numérique : un début d’esquisse de commencement</vt:lpstr>
      <vt:lpstr>Engagement numérique : une aide à la détection des décrochages scolaires ?</vt:lpstr>
      <vt:lpstr>Engagement numérique : une aide à la mise en place de contenus pédagogiques ?</vt:lpstr>
      <vt:lpstr>Des questions ?</vt:lpstr>
    </vt:vector>
  </TitlesOfParts>
  <Company>ENSAI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GANDUBERT Patrick</dc:creator>
  <cp:lastModifiedBy>LESIEUR Christophe</cp:lastModifiedBy>
  <cp:revision>118</cp:revision>
  <dcterms:created xsi:type="dcterms:W3CDTF">2024-10-07T14:28:24Z</dcterms:created>
  <dcterms:modified xsi:type="dcterms:W3CDTF">2026-06-29T09:58:05Z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0x0101003CC4B864CFCC5B4D9ACD432D285AC3BC003130031EBC5F8A408D719B71B7F316F7</vt:lpwstr>
  </property>
</Properties>
</file>