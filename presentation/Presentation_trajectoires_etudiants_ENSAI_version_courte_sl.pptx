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23"/>
  </p:notesMasterIdLst>
  <p:handoutMasterIdLst>
    <p:handoutMasterId r:id="rId24"/>
  </p:handoutMasterIdLst>
  <p:sldIdLst>
    <p:sldId id="259" r:id="rId6"/>
    <p:sldId id="317" r:id="rId7"/>
    <p:sldId id="284" r:id="rId8"/>
    <p:sldId id="288" r:id="rId9"/>
    <p:sldId id="322" r:id="rId10"/>
    <p:sldId id="293" r:id="rId11"/>
    <p:sldId id="295" r:id="rId12"/>
    <p:sldId id="313" r:id="rId13"/>
    <p:sldId id="289" r:id="rId14"/>
    <p:sldId id="319" r:id="rId15"/>
    <p:sldId id="320" r:id="rId16"/>
    <p:sldId id="311" r:id="rId17"/>
    <p:sldId id="291" r:id="rId18"/>
    <p:sldId id="306" r:id="rId19"/>
    <p:sldId id="301" r:id="rId20"/>
    <p:sldId id="318" r:id="rId21"/>
    <p:sldId id="277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EDB"/>
    <a:srgbClr val="005980"/>
    <a:srgbClr val="A6A6A6"/>
    <a:srgbClr val="009BDE"/>
    <a:srgbClr val="564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domensai.ecole\dfs-ensai\Source\ETUDES\1_Dpt_Scolarite\Comites%20et%20commissions\Historique_RDBLTS_EXCLUSIONS_%202005-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domensai.ecole\dfs-ensai\Source\ETUDES\1_Dpt_Scolarite\Comites%20et%20commissions\Historique_RDBLTS_EXCLUSIONS_%202005-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/>
              <a:t>Tx redoublement/exclusion</a:t>
            </a:r>
            <a:r>
              <a:rPr lang="fr-FR" sz="2000" baseline="0"/>
              <a:t> 1ère année</a:t>
            </a:r>
            <a:endParaRPr lang="fr-FR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'[Historique_RDBLTS_EXCLUSIONS_ 2005-2024.xlsx]TabGraphs'!$Q$2</c:f>
              <c:strCache>
                <c:ptCount val="1"/>
                <c:pt idx="0">
                  <c:v>Ingé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5.6527340332458445E-2"/>
                  <c:y val="-0.10621099445902596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2005-2024.xlsx]TabGraphs'!$A$3:$A$22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2005-2024.xlsx]TabGraphs'!$Q$3:$Q$22</c:f>
              <c:numCache>
                <c:formatCode>0%</c:formatCode>
                <c:ptCount val="20"/>
                <c:pt idx="0">
                  <c:v>0.12857142857142856</c:v>
                </c:pt>
                <c:pt idx="1">
                  <c:v>6.4516129032258063E-2</c:v>
                </c:pt>
                <c:pt idx="2">
                  <c:v>3.9473684210526314E-2</c:v>
                </c:pt>
                <c:pt idx="3">
                  <c:v>0.13333333333333333</c:v>
                </c:pt>
                <c:pt idx="4">
                  <c:v>1.3157894736842105E-2</c:v>
                </c:pt>
                <c:pt idx="5">
                  <c:v>7.1428571428571425E-2</c:v>
                </c:pt>
                <c:pt idx="6">
                  <c:v>0.1038961038961039</c:v>
                </c:pt>
                <c:pt idx="7">
                  <c:v>0.12903225806451613</c:v>
                </c:pt>
                <c:pt idx="8">
                  <c:v>7.7777777777777779E-2</c:v>
                </c:pt>
                <c:pt idx="9">
                  <c:v>6.5934065934065936E-2</c:v>
                </c:pt>
                <c:pt idx="10">
                  <c:v>7.4999999999999997E-2</c:v>
                </c:pt>
                <c:pt idx="11">
                  <c:v>1.1111111111111112E-2</c:v>
                </c:pt>
                <c:pt idx="12">
                  <c:v>3.3333333333333333E-2</c:v>
                </c:pt>
                <c:pt idx="13">
                  <c:v>3.2967032967032968E-2</c:v>
                </c:pt>
                <c:pt idx="14">
                  <c:v>1.1235955056179775E-2</c:v>
                </c:pt>
                <c:pt idx="15">
                  <c:v>4.3478260869565216E-2</c:v>
                </c:pt>
                <c:pt idx="16">
                  <c:v>3.2258064516129031E-2</c:v>
                </c:pt>
                <c:pt idx="17">
                  <c:v>4.0404040404040407E-2</c:v>
                </c:pt>
                <c:pt idx="18">
                  <c:v>1.8691588785046728E-2</c:v>
                </c:pt>
                <c:pt idx="19">
                  <c:v>8.5470085470085479E-3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5B-4DF7-8F4F-DAA0EE0CBDD6}"/>
            </c:ext>
          </c:extLst>
        </c:ser>
        <c:ser>
          <c:idx val="1"/>
          <c:order val="1"/>
          <c:tx>
            <c:strRef>
              <c:f>'[Historique_RDBLTS_EXCLUSIONS_ 2005-2024.xlsx]TabGraphs'!$R$2</c:f>
              <c:strCache>
                <c:ptCount val="1"/>
                <c:pt idx="0">
                  <c:v>Att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2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5.9305118110236324E-2"/>
                  <c:y val="-0.17763342082239719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2005-2024.xlsx]TabGraphs'!$A$3:$A$22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2005-2024.xlsx]TabGraphs'!$R$3:$R$22</c:f>
              <c:numCache>
                <c:formatCode>0%</c:formatCode>
                <c:ptCount val="20"/>
                <c:pt idx="0">
                  <c:v>4.7619047619047616E-2</c:v>
                </c:pt>
                <c:pt idx="1">
                  <c:v>7.0175438596491224E-2</c:v>
                </c:pt>
                <c:pt idx="2">
                  <c:v>7.407407407407407E-2</c:v>
                </c:pt>
                <c:pt idx="3">
                  <c:v>0.10526315789473684</c:v>
                </c:pt>
                <c:pt idx="4">
                  <c:v>8.3333333333333329E-2</c:v>
                </c:pt>
                <c:pt idx="5">
                  <c:v>4.7619047619047616E-2</c:v>
                </c:pt>
                <c:pt idx="6">
                  <c:v>7.8431372549019607E-2</c:v>
                </c:pt>
                <c:pt idx="7">
                  <c:v>4.878048780487805E-2</c:v>
                </c:pt>
                <c:pt idx="8">
                  <c:v>0.12195121951219512</c:v>
                </c:pt>
                <c:pt idx="9">
                  <c:v>0.125</c:v>
                </c:pt>
                <c:pt idx="10">
                  <c:v>0.16666666666666666</c:v>
                </c:pt>
                <c:pt idx="11">
                  <c:v>0.125</c:v>
                </c:pt>
                <c:pt idx="12">
                  <c:v>3.7037037037037035E-2</c:v>
                </c:pt>
                <c:pt idx="13">
                  <c:v>9.2592592592592587E-2</c:v>
                </c:pt>
                <c:pt idx="14">
                  <c:v>2.0408163265306121E-2</c:v>
                </c:pt>
                <c:pt idx="15">
                  <c:v>0.21568627450980393</c:v>
                </c:pt>
                <c:pt idx="16">
                  <c:v>0.1206896551724138</c:v>
                </c:pt>
                <c:pt idx="17">
                  <c:v>0.1</c:v>
                </c:pt>
                <c:pt idx="18">
                  <c:v>8.3333333333333329E-2</c:v>
                </c:pt>
                <c:pt idx="19">
                  <c:v>0.17647058823529413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15B-4DF7-8F4F-DAA0EE0CB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3904527"/>
        <c:axId val="993908271"/>
      </c:lineChart>
      <c:catAx>
        <c:axId val="99390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93908271"/>
        <c:crosses val="autoZero"/>
        <c:auto val="1"/>
        <c:lblAlgn val="ctr"/>
        <c:lblOffset val="100"/>
        <c:noMultiLvlLbl val="0"/>
      </c:catAx>
      <c:valAx>
        <c:axId val="99390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9390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/>
              <a:t>Tx redoublement/exclusion</a:t>
            </a:r>
            <a:r>
              <a:rPr lang="fr-FR" sz="2000" baseline="0"/>
              <a:t> 2ème année</a:t>
            </a:r>
            <a:endParaRPr lang="fr-FR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6.7638451443569447E-2"/>
                  <c:y val="-6.386993292505104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2005-2024.xlsx]TabGraphs'!$A$25:$A$44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2005-2024.xlsx]TabGraphs'!$Q$25:$Q$44</c:f>
              <c:numCache>
                <c:formatCode>0%</c:formatCode>
                <c:ptCount val="20"/>
                <c:pt idx="0">
                  <c:v>4.1666666666666664E-2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2.9850746268656716E-2</c:v>
                </c:pt>
                <c:pt idx="7">
                  <c:v>4.8192771084337352E-2</c:v>
                </c:pt>
                <c:pt idx="8">
                  <c:v>4.2105263157894736E-2</c:v>
                </c:pt>
                <c:pt idx="9">
                  <c:v>6.7307692307692304E-2</c:v>
                </c:pt>
                <c:pt idx="10">
                  <c:v>3.1914893617021274E-2</c:v>
                </c:pt>
                <c:pt idx="11">
                  <c:v>2.2222222222222223E-2</c:v>
                </c:pt>
                <c:pt idx="12">
                  <c:v>9.7087378640776691E-3</c:v>
                </c:pt>
                <c:pt idx="13">
                  <c:v>0</c:v>
                </c:pt>
                <c:pt idx="14">
                  <c:v>9.1743119266055051E-3</c:v>
                </c:pt>
                <c:pt idx="15">
                  <c:v>3.7383177570093455E-2</c:v>
                </c:pt>
                <c:pt idx="16">
                  <c:v>4.9504950495049507E-2</c:v>
                </c:pt>
                <c:pt idx="17">
                  <c:v>2.5862068965517241E-2</c:v>
                </c:pt>
                <c:pt idx="18">
                  <c:v>1.834862385321101E-2</c:v>
                </c:pt>
                <c:pt idx="19">
                  <c:v>2.3809523809523808E-2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B0-43E6-AC3C-6DAEB07430F4}"/>
            </c:ext>
          </c:extLst>
        </c:ser>
        <c:ser>
          <c:idx val="1"/>
          <c:order val="1"/>
          <c:tx>
            <c:v>Att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28575" cap="rnd">
                <a:solidFill>
                  <a:schemeClr val="accent2"/>
                </a:solidFill>
                <a:prstDash val="sysDot"/>
              </a:ln>
              <a:effectLst/>
            </c:spPr>
            <c:trendlineType val="poly"/>
            <c:order val="2"/>
            <c:dispRSqr val="1"/>
            <c:dispEq val="0"/>
            <c:trendlineLbl>
              <c:layout>
                <c:manualLayout>
                  <c:x val="6.7638451443569447E-2"/>
                  <c:y val="-7.1594852726742486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cat>
            <c:numRef>
              <c:f>'[Historique_RDBLTS_EXCLUSIONS_ 2005-2024.xlsx]TabGraphs'!$A$25:$A$44</c:f>
              <c:numCache>
                <c:formatCode>General</c:formatCode>
                <c:ptCount val="20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</c:numCache>
            </c:numRef>
          </c:cat>
          <c:val>
            <c:numRef>
              <c:f>'[Historique_RDBLTS_EXCLUSIONS_ 2005-2024.xlsx]TabGraphs'!$R$25:$R$44</c:f>
              <c:numCache>
                <c:formatCode>0%</c:formatCode>
                <c:ptCount val="20"/>
                <c:pt idx="0">
                  <c:v>2.3255813953488372E-2</c:v>
                </c:pt>
                <c:pt idx="1">
                  <c:v>0</c:v>
                </c:pt>
                <c:pt idx="2">
                  <c:v>1.7543859649122806E-2</c:v>
                </c:pt>
                <c:pt idx="3">
                  <c:v>0.02</c:v>
                </c:pt>
                <c:pt idx="4">
                  <c:v>0</c:v>
                </c:pt>
                <c:pt idx="5">
                  <c:v>8.6956521739130432E-2</c:v>
                </c:pt>
                <c:pt idx="6">
                  <c:v>5.2631578947368418E-2</c:v>
                </c:pt>
                <c:pt idx="7">
                  <c:v>0</c:v>
                </c:pt>
                <c:pt idx="8">
                  <c:v>4.7619047619047616E-2</c:v>
                </c:pt>
                <c:pt idx="9">
                  <c:v>8.1081081081081086E-2</c:v>
                </c:pt>
                <c:pt idx="10">
                  <c:v>0</c:v>
                </c:pt>
                <c:pt idx="11">
                  <c:v>0</c:v>
                </c:pt>
                <c:pt idx="12">
                  <c:v>4.0816326530612242E-2</c:v>
                </c:pt>
                <c:pt idx="13">
                  <c:v>9.6153846153846159E-2</c:v>
                </c:pt>
                <c:pt idx="14">
                  <c:v>3.7037037037037035E-2</c:v>
                </c:pt>
                <c:pt idx="15">
                  <c:v>8.3333333333333329E-2</c:v>
                </c:pt>
                <c:pt idx="16">
                  <c:v>2.2727272727272728E-2</c:v>
                </c:pt>
                <c:pt idx="17">
                  <c:v>7.0175438596491224E-2</c:v>
                </c:pt>
                <c:pt idx="18">
                  <c:v>6.3829787234042548E-2</c:v>
                </c:pt>
                <c:pt idx="19">
                  <c:v>6.25E-2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4B0-43E6-AC3C-6DAEB07430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8380559"/>
        <c:axId val="218379311"/>
      </c:lineChart>
      <c:catAx>
        <c:axId val="21838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8379311"/>
        <c:crosses val="autoZero"/>
        <c:auto val="1"/>
        <c:lblAlgn val="ctr"/>
        <c:lblOffset val="100"/>
        <c:noMultiLvlLbl val="0"/>
      </c:catAx>
      <c:valAx>
        <c:axId val="218379311"/>
        <c:scaling>
          <c:orientation val="minMax"/>
          <c:max val="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8380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CED0-103C-4C10-8D72-99DD07E324A0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C92F0-C3EC-4C25-8D86-B30BA11ABE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336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58B95-F104-4A72-A4BF-C3A46957C253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1E338-64DE-4218-8E01-89E259BBC0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13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9350" y="2705100"/>
            <a:ext cx="5384800" cy="5207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 hasCustomPrompt="1"/>
          </p:nvPr>
        </p:nvSpPr>
        <p:spPr>
          <a:xfrm>
            <a:off x="1149350" y="3492500"/>
            <a:ext cx="170180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6" hasCustomPrompt="1"/>
          </p:nvPr>
        </p:nvSpPr>
        <p:spPr>
          <a:xfrm>
            <a:off x="1149350" y="5143500"/>
            <a:ext cx="4006850" cy="50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Nom prénom (facultatif)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1149350" y="635000"/>
            <a:ext cx="4565650" cy="1714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Georgia" panose="02040502050405020303" pitchFamily="18" charset="0"/>
                <a:ea typeface="CSongGB18030C-Light" panose="020A0304000101010101" pitchFamily="18" charset="-122"/>
                <a:cs typeface="Cascadia Mono" panose="020B0609020000020004" pitchFamily="49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3899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Modifiez le texte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044700"/>
            <a:ext cx="10515600" cy="3886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276142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1929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 lang="fr-FR" sz="2800" kern="1200" dirty="0" smtClean="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05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92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tx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Insérer un titre</a:t>
            </a:r>
          </a:p>
        </p:txBody>
      </p:sp>
      <p:sp>
        <p:nvSpPr>
          <p:cNvPr id="7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8200"/>
            <a:ext cx="4292600" cy="4229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6936258" y="2108199"/>
            <a:ext cx="4349579" cy="42291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4935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939800" y="742779"/>
            <a:ext cx="2618946" cy="787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39800" y="1879600"/>
            <a:ext cx="10375900" cy="4203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Bahnschrift Light SemiCondensed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0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54595"/>
            <a:ext cx="7505700" cy="777875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838200" y="2105025"/>
            <a:ext cx="10420350" cy="4086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964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450226" cy="787400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914400" y="1922162"/>
            <a:ext cx="10445578" cy="138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>
          <a:xfrm>
            <a:off x="914400" y="3736202"/>
            <a:ext cx="10445578" cy="2057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  <a:lvl2pPr marL="4572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2pPr>
            <a:lvl3pPr marL="9144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3pPr>
            <a:lvl4pPr marL="13716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4pPr>
            <a:lvl5pPr marL="1828800" indent="0">
              <a:buNone/>
              <a:defRPr>
                <a:latin typeface="Bahnschrift SemiLight" panose="020B0502040204020203" pitchFamily="34" charset="0"/>
                <a:cs typeface="Thorndale AMT" panose="02020603050405020304" pitchFamily="18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3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30400"/>
            <a:ext cx="10515600" cy="227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Bahnschrift SemiLight" panose="020B0502040204020203" pitchFamily="34" charset="0"/>
                <a:cs typeface="Thorndale AMT" panose="02020603050405020304" pitchFamily="18" charset="0"/>
              </a:defRPr>
            </a:lvl1pPr>
          </a:lstStyle>
          <a:p>
            <a:pPr lvl="0"/>
            <a:r>
              <a:rPr lang="fr-FR" dirty="0"/>
              <a:t>Ajoutez du texte ici</a:t>
            </a:r>
          </a:p>
        </p:txBody>
      </p:sp>
    </p:spTree>
    <p:extLst>
      <p:ext uri="{BB962C8B-B14F-4D97-AF65-F5344CB8AC3E}">
        <p14:creationId xmlns:p14="http://schemas.microsoft.com/office/powerpoint/2010/main" val="124990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187071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23571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123571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123571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560695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4925695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4925695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4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4925695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9" name="Espace réservé pour une image  3"/>
          <p:cNvSpPr>
            <a:spLocks noGrp="1"/>
          </p:cNvSpPr>
          <p:nvPr>
            <p:ph type="pic" sz="quarter" idx="18"/>
          </p:nvPr>
        </p:nvSpPr>
        <p:spPr>
          <a:xfrm>
            <a:off x="9250680" y="23622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8615680" y="36449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21" name="Espace réservé du texte 7"/>
          <p:cNvSpPr>
            <a:spLocks noGrp="1"/>
          </p:cNvSpPr>
          <p:nvPr>
            <p:ph type="body" sz="quarter" idx="20" hasCustomPrompt="1"/>
          </p:nvPr>
        </p:nvSpPr>
        <p:spPr>
          <a:xfrm>
            <a:off x="8615680" y="40052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22" name="Espace réservé du contenu 9"/>
          <p:cNvSpPr>
            <a:spLocks noGrp="1"/>
          </p:cNvSpPr>
          <p:nvPr>
            <p:ph sz="quarter" idx="21" hasCustomPrompt="1"/>
          </p:nvPr>
        </p:nvSpPr>
        <p:spPr>
          <a:xfrm>
            <a:off x="8615680" y="49307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</p:spTree>
    <p:extLst>
      <p:ext uri="{BB962C8B-B14F-4D97-AF65-F5344CB8AC3E}">
        <p14:creationId xmlns:p14="http://schemas.microsoft.com/office/powerpoint/2010/main" val="330374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3902710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3267710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5" name="Espace réservé du texte 7"/>
          <p:cNvSpPr>
            <a:spLocks noGrp="1"/>
          </p:cNvSpPr>
          <p:nvPr>
            <p:ph type="body" sz="quarter" idx="12" hasCustomPrompt="1"/>
          </p:nvPr>
        </p:nvSpPr>
        <p:spPr>
          <a:xfrm>
            <a:off x="3267710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6" name="Espace réservé du contenu 9"/>
          <p:cNvSpPr>
            <a:spLocks noGrp="1"/>
          </p:cNvSpPr>
          <p:nvPr>
            <p:ph sz="quarter" idx="13" hasCustomPrompt="1"/>
          </p:nvPr>
        </p:nvSpPr>
        <p:spPr>
          <a:xfrm>
            <a:off x="3267710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7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7592695" y="2349500"/>
            <a:ext cx="1104900" cy="11176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6957695" y="3632200"/>
            <a:ext cx="1587500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Prénom NOM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6" hasCustomPrompt="1"/>
          </p:nvPr>
        </p:nvSpPr>
        <p:spPr>
          <a:xfrm>
            <a:off x="6957695" y="3992562"/>
            <a:ext cx="1823720" cy="3206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Titre du poste / Rôle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7" hasCustomPrompt="1"/>
          </p:nvPr>
        </p:nvSpPr>
        <p:spPr>
          <a:xfrm>
            <a:off x="6957695" y="4918074"/>
            <a:ext cx="1889125" cy="243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Adresse.mail@ensai.fr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828675" y="603251"/>
            <a:ext cx="10515600" cy="730250"/>
          </a:xfrm>
          <a:prstGeom prst="rect">
            <a:avLst/>
          </a:prstGeom>
        </p:spPr>
        <p:txBody>
          <a:bodyPr/>
          <a:lstStyle>
            <a:lvl1pPr>
              <a:defRPr sz="4000" baseline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  <a:cs typeface="Frank Ruhl Hofshi" panose="00000500000000000000" pitchFamily="50" charset="-79"/>
              </a:defRPr>
            </a:lvl1pPr>
          </a:lstStyle>
          <a:p>
            <a:r>
              <a:rPr lang="fr-FR" dirty="0"/>
              <a:t>Contacts</a:t>
            </a:r>
          </a:p>
        </p:txBody>
      </p:sp>
    </p:spTree>
    <p:extLst>
      <p:ext uri="{BB962C8B-B14F-4D97-AF65-F5344CB8AC3E}">
        <p14:creationId xmlns:p14="http://schemas.microsoft.com/office/powerpoint/2010/main" val="384298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5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95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  <p:sldLayoutId id="2147483652" r:id="rId3"/>
    <p:sldLayoutId id="2147483653" r:id="rId4"/>
    <p:sldLayoutId id="2147483654" r:id="rId5"/>
    <p:sldLayoutId id="2147483658" r:id="rId6"/>
    <p:sldLayoutId id="2147483655" r:id="rId7"/>
    <p:sldLayoutId id="2147483660" r:id="rId8"/>
    <p:sldLayoutId id="2147483656" r:id="rId9"/>
    <p:sldLayoutId id="2147483659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hlesieur.github.io/analyse_bdd_eleves_ensai/scripts/analyses_2015_2024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149349" y="1724024"/>
            <a:ext cx="9893302" cy="520700"/>
          </a:xfrm>
        </p:spPr>
        <p:txBody>
          <a:bodyPr/>
          <a:lstStyle/>
          <a:p>
            <a:r>
              <a:rPr lang="fr-FR" dirty="0">
                <a:latin typeface="+mj-lt"/>
              </a:rPr>
              <a:t>Premières analyses à partir des données d’admission, de Pamplemousse et de Moodle sur la période 2015-2025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4"/>
          </p:nvPr>
        </p:nvSpPr>
        <p:spPr>
          <a:xfrm>
            <a:off x="1149349" y="2917826"/>
            <a:ext cx="2450062" cy="415924"/>
          </a:xfrm>
        </p:spPr>
        <p:txBody>
          <a:bodyPr/>
          <a:lstStyle/>
          <a:p>
            <a:r>
              <a:rPr lang="fr-FR" dirty="0"/>
              <a:t>1er juillet 2026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7"/>
          </p:nvPr>
        </p:nvSpPr>
        <p:spPr>
          <a:xfrm>
            <a:off x="1149348" y="658812"/>
            <a:ext cx="10814051" cy="1114426"/>
          </a:xfrm>
        </p:spPr>
        <p:txBody>
          <a:bodyPr/>
          <a:lstStyle/>
          <a:p>
            <a:r>
              <a:rPr lang="fr-FR" sz="5000" dirty="0">
                <a:latin typeface="+mj-lt"/>
              </a:rPr>
              <a:t>Trajectoires des étudiants à l’ENSAI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1A4A2BF2-E617-584E-1661-8BDA87DC96DD}"/>
              </a:ext>
            </a:extLst>
          </p:cNvPr>
          <p:cNvSpPr txBox="1">
            <a:spLocks/>
          </p:cNvSpPr>
          <p:nvPr/>
        </p:nvSpPr>
        <p:spPr>
          <a:xfrm>
            <a:off x="1149348" y="3584574"/>
            <a:ext cx="4692651" cy="4159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Christophe Lesieur, Stéphane </a:t>
            </a:r>
            <a:r>
              <a:rPr lang="fr-FR" dirty="0" err="1"/>
              <a:t>Legleye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3D63354-3A4D-6CA3-3449-8EC992DE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68" y="4508501"/>
            <a:ext cx="7621064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2183D-6EE3-A453-B1C0-71903C2D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86CA9-A670-2593-C4C7-B29758C4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20385" cy="775921"/>
          </a:xfrm>
        </p:spPr>
        <p:txBody>
          <a:bodyPr/>
          <a:lstStyle/>
          <a:p>
            <a:r>
              <a:rPr lang="fr-FR" sz="3600" b="1" dirty="0">
                <a:latin typeface="Bahnschrift SemiLight" panose="020B0502040204020203" pitchFamily="34" charset="0"/>
                <a:ea typeface="+mn-ea"/>
              </a:rPr>
              <a:t>Présentation du projet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3570E1-2DD6-A38C-8AF9-96C8A59A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66" y="1634982"/>
            <a:ext cx="3224842" cy="32797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95896E3-FFE1-82E3-334B-51DEDD73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516" y="2048017"/>
            <a:ext cx="3127061" cy="1679756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3620B472-28BD-18C3-F7C1-E889ECF9D58A}"/>
              </a:ext>
            </a:extLst>
          </p:cNvPr>
          <p:cNvSpPr txBox="1">
            <a:spLocks/>
          </p:cNvSpPr>
          <p:nvPr/>
        </p:nvSpPr>
        <p:spPr>
          <a:xfrm>
            <a:off x="596658" y="1281994"/>
            <a:ext cx="11411311" cy="7059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b="1" dirty="0"/>
              <a:t>Un zest de Pamplemousse      +      Un brin de travail sur les admissions       +      Des données massives de Moodle  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335E8804-43D1-B011-344F-AD0650EBE37F}"/>
              </a:ext>
            </a:extLst>
          </p:cNvPr>
          <p:cNvSpPr txBox="1">
            <a:spLocks/>
          </p:cNvSpPr>
          <p:nvPr/>
        </p:nvSpPr>
        <p:spPr>
          <a:xfrm>
            <a:off x="86265" y="5031609"/>
            <a:ext cx="3960244" cy="2995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notes à l’école et les voies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4ABA878-2085-1C73-AE72-C469CACCE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600" y="1699404"/>
            <a:ext cx="4376517" cy="2868246"/>
          </a:xfrm>
          <a:prstGeom prst="rect">
            <a:avLst/>
          </a:prstGeom>
        </p:spPr>
      </p:pic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AEFF68C7-2A63-BFE7-D7A3-4EC8DD4A318C}"/>
              </a:ext>
            </a:extLst>
          </p:cNvPr>
          <p:cNvSpPr txBox="1">
            <a:spLocks/>
          </p:cNvSpPr>
          <p:nvPr/>
        </p:nvSpPr>
        <p:spPr>
          <a:xfrm>
            <a:off x="3528356" y="5031608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les rangs d’admission des maths, BL et D2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DE1B721F-68E1-2E73-B1D6-94D063481E29}"/>
              </a:ext>
            </a:extLst>
          </p:cNvPr>
          <p:cNvSpPr txBox="1">
            <a:spLocks/>
          </p:cNvSpPr>
          <p:nvPr/>
        </p:nvSpPr>
        <p:spPr>
          <a:xfrm>
            <a:off x="6970447" y="4923177"/>
            <a:ext cx="4106739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sz="1600" i="1" dirty="0"/>
              <a:t>Pour construire des indicateurs d’engagement numérique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16888E7D-53C3-6A47-AE06-BD7E3C52BD67}"/>
              </a:ext>
            </a:extLst>
          </p:cNvPr>
          <p:cNvSpPr txBox="1">
            <a:spLocks/>
          </p:cNvSpPr>
          <p:nvPr/>
        </p:nvSpPr>
        <p:spPr>
          <a:xfrm>
            <a:off x="380717" y="5753352"/>
            <a:ext cx="9910596" cy="5443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fr-FR" b="1" dirty="0"/>
              <a:t>= Une base d’information riche sur les élèves sur période 2015-2025</a:t>
            </a:r>
          </a:p>
        </p:txBody>
      </p:sp>
    </p:spTree>
    <p:extLst>
      <p:ext uri="{BB962C8B-B14F-4D97-AF65-F5344CB8AC3E}">
        <p14:creationId xmlns:p14="http://schemas.microsoft.com/office/powerpoint/2010/main" val="324712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942E7-2391-6D34-F7BF-F5ECF221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3392" cy="775921"/>
          </a:xfrm>
        </p:spPr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Une baisse des profils MP depuis le CCINP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DAE2B93C-8B28-ED74-8EA1-0A09E5B15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3019" y="5823973"/>
            <a:ext cx="4946583" cy="668902"/>
          </a:xfrm>
        </p:spPr>
        <p:txBody>
          <a:bodyPr/>
          <a:lstStyle/>
          <a:p>
            <a:r>
              <a:rPr lang="fr-FR" sz="1400" dirty="0"/>
              <a:t>Sources : Données d’admission et Pamplemousse</a:t>
            </a:r>
          </a:p>
          <a:p>
            <a:r>
              <a:rPr lang="fr-FR" sz="1400" dirty="0"/>
              <a:t>Champ : élèves admis en 1</a:t>
            </a:r>
            <a:r>
              <a:rPr lang="fr-FR" sz="1400" baseline="30000" dirty="0"/>
              <a:t>ère</a:t>
            </a:r>
            <a:r>
              <a:rPr lang="fr-FR" sz="1400" dirty="0"/>
              <a:t> et 2</a:t>
            </a:r>
            <a:r>
              <a:rPr lang="fr-FR" sz="1400" baseline="30000" dirty="0"/>
              <a:t>ème</a:t>
            </a:r>
            <a:r>
              <a:rPr lang="fr-FR" sz="1400" dirty="0"/>
              <a:t> année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5822227-FB3C-2BCC-38AF-252DA6B59F9C}"/>
              </a:ext>
            </a:extLst>
          </p:cNvPr>
          <p:cNvSpPr txBox="1">
            <a:spLocks/>
          </p:cNvSpPr>
          <p:nvPr/>
        </p:nvSpPr>
        <p:spPr>
          <a:xfrm>
            <a:off x="389626" y="1588650"/>
            <a:ext cx="4061604" cy="41354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Diversification des voies d’entrée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Notamment création MPI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1600" dirty="0"/>
              <a:t>Mais aussi hausse des PC/PSI </a:t>
            </a:r>
            <a:endParaRPr lang="fr-FR" sz="1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de la part du concours interne INSEE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Variation importante de la part des BL équilibrée par la variation des D2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Stabilité des BUT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Baisse récente des AST-2A</a:t>
            </a:r>
            <a:endParaRPr lang="fr-FR" sz="1600" dirty="0"/>
          </a:p>
          <a:p>
            <a:pPr marL="1028700" lvl="1" indent="-342900">
              <a:buFont typeface="Wingdings" panose="05000000000000000000" pitchFamily="2" charset="2"/>
              <a:buChar char="q"/>
            </a:pPr>
            <a:endParaRPr lang="fr-FR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2A3C2F1-4A78-64E6-A289-079AE8D1A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64" y="1182499"/>
            <a:ext cx="7313797" cy="449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5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EAD4A5-1DDE-20DE-2B0A-A25F7D66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Les matheux préfèrent le statut d’ingénieur</a:t>
            </a:r>
            <a:br>
              <a:rPr lang="fr-FR" sz="3600" b="1" dirty="0">
                <a:latin typeface="+mj-lt"/>
              </a:rPr>
            </a:br>
            <a:endParaRPr lang="fr-FR" sz="2400" b="1" dirty="0"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2D85C2-A76A-E2E7-975D-477D8FDEDFC7}"/>
              </a:ext>
            </a:extLst>
          </p:cNvPr>
          <p:cNvSpPr txBox="1"/>
          <p:nvPr/>
        </p:nvSpPr>
        <p:spPr>
          <a:xfrm>
            <a:off x="838200" y="872159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b="1" dirty="0"/>
              <a:t>Concours Maths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F0132A4-2903-EDB8-BC61-9066EA71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5" y="1699831"/>
            <a:ext cx="5612497" cy="345833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9717907-F6AA-1C4C-3DC3-8D0CF3243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04" y="1690688"/>
            <a:ext cx="6165295" cy="3795665"/>
          </a:xfrm>
          <a:prstGeom prst="rect">
            <a:avLst/>
          </a:prstGeom>
        </p:spPr>
      </p:pic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50AF3A28-0B6B-BC2F-B6EE-7B5FDA61F6C6}"/>
              </a:ext>
            </a:extLst>
          </p:cNvPr>
          <p:cNvSpPr txBox="1">
            <a:spLocks/>
          </p:cNvSpPr>
          <p:nvPr/>
        </p:nvSpPr>
        <p:spPr>
          <a:xfrm>
            <a:off x="0" y="5384274"/>
            <a:ext cx="9574897" cy="7491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Une tendance renforcée depuis le concours CCINP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Quelques bons classés choisissent le statut d’attaché</a:t>
            </a:r>
          </a:p>
          <a:p>
            <a:pPr marL="1028700" lvl="1" indent="-342900">
              <a:buFont typeface="Wingdings" panose="05000000000000000000" pitchFamily="2" charset="2"/>
              <a:buChar char="q"/>
            </a:pPr>
            <a:r>
              <a:rPr lang="fr-FR" sz="2000" dirty="0"/>
              <a:t>Mais les moins bien classés sont surreprésentés parmi les fonctionnaires</a:t>
            </a:r>
          </a:p>
        </p:txBody>
      </p:sp>
    </p:spTree>
    <p:extLst>
      <p:ext uri="{BB962C8B-B14F-4D97-AF65-F5344CB8AC3E}">
        <p14:creationId xmlns:p14="http://schemas.microsoft.com/office/powerpoint/2010/main" val="4346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12A4-5EC3-8AC0-00F1-4221D02C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18C78-5CDC-5B38-3207-2CC11787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>
                <a:latin typeface="+mj-lt"/>
              </a:rPr>
              <a:t>Les BL et les D2 reviennent vers le statut attaché</a:t>
            </a:r>
            <a:br>
              <a:rPr lang="fr-FR" sz="3600" b="1" dirty="0">
                <a:latin typeface="+mj-lt"/>
              </a:rPr>
            </a:br>
            <a:endParaRPr lang="fr-FR" sz="2400" b="1" dirty="0"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30DA31-6963-CDAB-09F8-24F04F3E43E2}"/>
              </a:ext>
            </a:extLst>
          </p:cNvPr>
          <p:cNvSpPr txBox="1"/>
          <p:nvPr/>
        </p:nvSpPr>
        <p:spPr>
          <a:xfrm>
            <a:off x="1562376" y="936254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b="1" dirty="0"/>
              <a:t>Concours BL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476289-B20C-6558-1356-FEDB7EED81FB}"/>
              </a:ext>
            </a:extLst>
          </p:cNvPr>
          <p:cNvSpPr txBox="1"/>
          <p:nvPr/>
        </p:nvSpPr>
        <p:spPr>
          <a:xfrm>
            <a:off x="7619466" y="936254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fr-FR" sz="1800" b="1" dirty="0"/>
              <a:t>Concours D2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A64596-83FB-9664-641D-B7CE0C94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97" y="1305586"/>
            <a:ext cx="4327750" cy="266861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AB39C8B-92EF-BD51-9A9C-0CD9BA6B9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96" y="3980912"/>
            <a:ext cx="4327751" cy="267551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D5D6D11-9EC4-3311-0F20-89C90466A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419" y="1292999"/>
            <a:ext cx="4409263" cy="273099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DCAE2AB-FBAE-1863-9B4A-37588C68B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320" y="3953172"/>
            <a:ext cx="4428921" cy="27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1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3420-B453-80E5-EEBB-77A153FF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EC07AF-105D-7292-C625-20D1B57B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7626" cy="1325563"/>
          </a:xfrm>
        </p:spPr>
        <p:txBody>
          <a:bodyPr/>
          <a:lstStyle/>
          <a:p>
            <a:r>
              <a:rPr lang="fr-FR" sz="3600" dirty="0">
                <a:latin typeface="+mj-lt"/>
              </a:rPr>
              <a:t>Résultats scolaire en 1</a:t>
            </a:r>
            <a:r>
              <a:rPr lang="fr-FR" sz="3600" baseline="30000" dirty="0">
                <a:latin typeface="+mj-lt"/>
              </a:rPr>
              <a:t>ère</a:t>
            </a:r>
            <a:r>
              <a:rPr lang="fr-FR" sz="3600" dirty="0">
                <a:latin typeface="+mj-lt"/>
              </a:rPr>
              <a:t> année et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912FABD5-4B94-3658-7B06-5485A64242D4}"/>
              </a:ext>
            </a:extLst>
          </p:cNvPr>
          <p:cNvSpPr txBox="1">
            <a:spLocks/>
          </p:cNvSpPr>
          <p:nvPr/>
        </p:nvSpPr>
        <p:spPr>
          <a:xfrm>
            <a:off x="-102078" y="4099879"/>
            <a:ext cx="7115354" cy="23929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Meilleure moyenne générale : Internes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Moyennes générales plus basses : PC/PSI et BL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BL, D2 et PC/PSI en retrait en statistique et informatique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 et PC/PSI en difficulté en économie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 se rattrapent sur les Humanités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MPI : une voie d’entrée prometteuse</a:t>
            </a:r>
          </a:p>
          <a:p>
            <a:pPr marL="228600"/>
            <a:endParaRPr lang="fr-FR" sz="1800" dirty="0"/>
          </a:p>
          <a:p>
            <a:pPr marL="228600"/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13BDB15-06E6-6C0F-82FA-75144F03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92" y="1231784"/>
            <a:ext cx="5410225" cy="221623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59A000D-C221-F41C-024A-ED399B3AD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76" y="3429000"/>
            <a:ext cx="5262142" cy="339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8881-0813-A5D2-5A99-4AC24306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47D1AD-65D7-0234-0FC5-6C96E414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9771" cy="1325563"/>
          </a:xfrm>
        </p:spPr>
        <p:txBody>
          <a:bodyPr/>
          <a:lstStyle/>
          <a:p>
            <a:r>
              <a:rPr lang="fr-FR" sz="3600" dirty="0">
                <a:latin typeface="+mj-lt"/>
              </a:rPr>
              <a:t>Résultats scolaire en 2</a:t>
            </a:r>
            <a:r>
              <a:rPr lang="fr-FR" sz="3600" baseline="30000" dirty="0">
                <a:latin typeface="+mj-lt"/>
              </a:rPr>
              <a:t>ème</a:t>
            </a:r>
            <a:r>
              <a:rPr lang="fr-FR" sz="3600" dirty="0">
                <a:latin typeface="+mj-lt"/>
              </a:rPr>
              <a:t> année et voie d’entrée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1006B6E-812C-C8CA-8353-DE9E6B59A1FE}"/>
              </a:ext>
            </a:extLst>
          </p:cNvPr>
          <p:cNvSpPr txBox="1">
            <a:spLocks/>
          </p:cNvSpPr>
          <p:nvPr/>
        </p:nvSpPr>
        <p:spPr>
          <a:xfrm>
            <a:off x="1041030" y="5167312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8449745-A252-943F-86F0-E58FCB7B7FE3}"/>
              </a:ext>
            </a:extLst>
          </p:cNvPr>
          <p:cNvSpPr txBox="1">
            <a:spLocks/>
          </p:cNvSpPr>
          <p:nvPr/>
        </p:nvSpPr>
        <p:spPr>
          <a:xfrm>
            <a:off x="-155275" y="4319067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Ca s’équilibre : la première année a joué son rôle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Récemment, plus difficile pour les BL, D2 et PC/PSI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AST-2A un peu au-dessus en moyenne générale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ERASMUS et D2 davantage en difficulté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AST-2A particulièrement performants en statistique et </a:t>
            </a:r>
          </a:p>
          <a:p>
            <a:pPr marL="228600"/>
            <a:r>
              <a:rPr lang="fr-FR" sz="1800" dirty="0"/>
              <a:t>informatique</a:t>
            </a:r>
          </a:p>
          <a:p>
            <a:pPr marL="228600"/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A531E8-F0C5-0BBD-4CFC-FDD54AD1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1282930"/>
            <a:ext cx="7106642" cy="22863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BD3F366-C921-A031-A4D5-039D9BE63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275" y="3525513"/>
            <a:ext cx="5062212" cy="328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5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FC77-EFD4-7214-7876-F4D60DEA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5A3C5-9B24-C115-CD96-B4436BAA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2" y="365125"/>
            <a:ext cx="11316158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Les PC/PSI en difficultés ?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8E661CD2-9BE5-1561-DA3A-A083ECC16378}"/>
              </a:ext>
            </a:extLst>
          </p:cNvPr>
          <p:cNvSpPr txBox="1">
            <a:spLocks/>
          </p:cNvSpPr>
          <p:nvPr/>
        </p:nvSpPr>
        <p:spPr>
          <a:xfrm>
            <a:off x="822646" y="5144354"/>
            <a:ext cx="10515600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969BF7D-4AED-62B8-45A6-ED0C6E3DB665}"/>
              </a:ext>
            </a:extLst>
          </p:cNvPr>
          <p:cNvSpPr txBox="1">
            <a:spLocks/>
          </p:cNvSpPr>
          <p:nvPr/>
        </p:nvSpPr>
        <p:spPr>
          <a:xfrm>
            <a:off x="355382" y="5207160"/>
            <a:ext cx="11316158" cy="9683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PC/PSI: un rang d’admission plus élevé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Des moyennes moins élevées que les MP 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Mais un ensemble plus homogène, peu d’élèves en difficulté (&lt; 12)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Inversement, réussite des MPI corrélée à meilleur rang d’admission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97BCF9D-27B4-E0A4-16CF-6BE88057A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555" y="1355879"/>
            <a:ext cx="5704956" cy="35193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BF8F116-7880-01FD-F4B7-E996E26F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82" y="1355879"/>
            <a:ext cx="5699291" cy="35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8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AFB1-7345-5807-23E0-05F1EC70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6472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Notes en statistiques et mathématiques en 1A</a:t>
            </a:r>
            <a:br>
              <a:rPr lang="fr-FR" sz="3600" b="1" dirty="0">
                <a:latin typeface="+mj-lt"/>
              </a:rPr>
            </a:br>
            <a:br>
              <a:rPr lang="fr-FR" sz="3600" b="1" dirty="0">
                <a:latin typeface="+mj-lt"/>
              </a:rPr>
            </a:b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487BA-4557-E1FA-F7BA-E2E2955E6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439" y="5651031"/>
            <a:ext cx="10876472" cy="82887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1800" dirty="0"/>
              <a:t>Amélioration générale depuis 2015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1800" dirty="0"/>
              <a:t>Les BUT et les D2 en nette amélioration, les BL stagnent - mais partaient de plus haut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18CAD1-CAC6-AB62-252F-FE852362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29" y="1146897"/>
            <a:ext cx="7263441" cy="442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8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823F2-C5D6-4F0E-A621-B5DD2124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4494" cy="713867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Des échecs plus nombreux parmi les attachés en 1A</a:t>
            </a:r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0345599C-D7F1-4E0A-AE0F-F5A5577CC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785051"/>
              </p:ext>
            </p:extLst>
          </p:nvPr>
        </p:nvGraphicFramePr>
        <p:xfrm>
          <a:off x="1639615" y="1627011"/>
          <a:ext cx="9396456" cy="44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21570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A1E78-1B8C-4CE1-B5DA-D21D65E7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/>
          <a:lstStyle/>
          <a:p>
            <a:r>
              <a:rPr lang="fr-FR" sz="3600" b="1" dirty="0">
                <a:latin typeface="+mj-lt"/>
              </a:rPr>
              <a:t>Des échecs plus nombreux parmi les attachés en 2A</a:t>
            </a: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EF478D3C-54D0-4A42-85EC-A72C1C723D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084659"/>
              </p:ext>
            </p:extLst>
          </p:nvPr>
        </p:nvGraphicFramePr>
        <p:xfrm>
          <a:off x="1313793" y="1450427"/>
          <a:ext cx="9396000" cy="4445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267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C12BC-B8C8-F4A3-2EB1-3BB1AED8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CC4E3-98BC-3FEB-462F-E2A6C791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+mj-lt"/>
              </a:rPr>
              <a:t>Redoublement et exclusions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97A95D-16EA-BD5E-1A8A-FA168E2A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0" y="1618832"/>
            <a:ext cx="5174412" cy="319437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27D7431-E0BB-BEE1-C174-5341A1846822}"/>
              </a:ext>
            </a:extLst>
          </p:cNvPr>
          <p:cNvSpPr txBox="1"/>
          <p:nvPr/>
        </p:nvSpPr>
        <p:spPr>
          <a:xfrm>
            <a:off x="691550" y="5186623"/>
            <a:ext cx="109023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Les attachés redoublent davantage que les ingénieurs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Moins de redoublement sur la période 2023-2025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fr-FR" dirty="0"/>
              <a:t>Légèrement compensé par une hausse des exclusions/démissions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8337993-5A41-9C78-14C3-1E06F019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62" y="1179368"/>
            <a:ext cx="3236258" cy="42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30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F007-7C33-EE19-10B2-756804F7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8028F8-CCA4-51F0-6A63-4CDFD581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latin typeface="Bahnschrift SemiLight" panose="020B0502040204020203" pitchFamily="34" charset="0"/>
                <a:ea typeface="+mn-ea"/>
              </a:rPr>
              <a:t>Les choix de filière de spécialisation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79A211-E1DB-20F8-C8EE-3D6E5550A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1031" y="5167312"/>
            <a:ext cx="8206484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AST surreprésentés en GR et MKT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BL et D2 surreprésentés en MES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Les BUTS surreprésentés en SBIO et DIGISPORT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1800" dirty="0"/>
              <a:t>Toutes les voies d’entrée sont représentées en GS et ID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18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7336B91D-3BC3-F65D-5B23-5575D815181E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40866860-EAF7-AEF8-A18D-09BFB900955F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D03780-2AF9-E773-983E-B7AEE02DD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80" y="1027905"/>
            <a:ext cx="10790719" cy="390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2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0A84-7B3F-5B63-E554-8D0BAD44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37FD6F-CCB5-78C1-DF07-FC75CD51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latin typeface="+mj-lt"/>
              </a:rPr>
              <a:t>Impact du niveau d’anglais sur la scolarité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37080-96F8-5D4C-A56E-30EFA14873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897" y="4282833"/>
            <a:ext cx="11757458" cy="1470804"/>
          </a:xfrm>
        </p:spPr>
        <p:txBody>
          <a:bodyPr/>
          <a:lstStyle/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Lien faible entre niveau d’anglais (TOEIC) et la moyenne générale en 1A et 2A chez les ingénieurs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r>
              <a:rPr lang="fr-FR" sz="2000" dirty="0"/>
              <a:t>Semble plus marqué chez les fonctionnaires</a:t>
            </a:r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E44CB01A-E49B-E386-426B-D2E6FA4A43D0}"/>
              </a:ext>
            </a:extLst>
          </p:cNvPr>
          <p:cNvSpPr txBox="1">
            <a:spLocks/>
          </p:cNvSpPr>
          <p:nvPr/>
        </p:nvSpPr>
        <p:spPr>
          <a:xfrm>
            <a:off x="1158925" y="1368813"/>
            <a:ext cx="8206484" cy="14708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571500" indent="-342900">
              <a:buFont typeface="Wingdings" panose="05000000000000000000" pitchFamily="2" charset="2"/>
              <a:buChar char="q"/>
            </a:pPr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FFB2FD3-CEBC-796B-A00B-93950BF4EC17}"/>
              </a:ext>
            </a:extLst>
          </p:cNvPr>
          <p:cNvSpPr txBox="1">
            <a:spLocks/>
          </p:cNvSpPr>
          <p:nvPr/>
        </p:nvSpPr>
        <p:spPr>
          <a:xfrm>
            <a:off x="1041031" y="1368813"/>
            <a:ext cx="10194875" cy="3886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Bahnschrift SemiLight" panose="020B0502040204020203" pitchFamily="34" charset="0"/>
                <a:ea typeface="+mn-ea"/>
                <a:cs typeface="Thorndale AMT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endParaRPr lang="fr-FR" sz="2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F3C9AA-3E90-5496-9899-4DDB5874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7" y="1690688"/>
            <a:ext cx="11471806" cy="239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4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DEF0C-9E81-D39D-21BD-D5A379EF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Engagement numérique : un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FCA96-5438-526B-7677-D53BBA3424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en cours sur les données Moodle 2020-2025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Construction d’indicateurs de d’engagement numérique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8CF857-3B8B-0225-4EB1-818B87E1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86" y="3429000"/>
            <a:ext cx="7721818" cy="26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69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F43EFF-EDAA-EA8D-CC50-655624EB8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Vers un tableau de bord de pilotage pour la direction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Analyses économétriques,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Travaux sur la réussite à l’école à approfondir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Réaliser une typologie/cartographie des trajectoires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Développer les travaux sur les Learning Analytics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dirty="0"/>
              <a:t>Etc.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hlinkClick r:id="rId2"/>
              </a:rPr>
              <a:t>https://chlesieur.github.io/analyse_bdd_eleves_ensai/scripts/analyses_2015_2024.html</a:t>
            </a:r>
            <a:endParaRPr lang="fr-FR" dirty="0"/>
          </a:p>
          <a:p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B8AE06B-FB7C-DA28-4C76-2D502597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Next </a:t>
            </a:r>
            <a:r>
              <a:rPr lang="fr-FR" dirty="0" err="1"/>
              <a:t>step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2584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6378114" y="2903489"/>
            <a:ext cx="4049785" cy="1325563"/>
          </a:xfrm>
        </p:spPr>
        <p:txBody>
          <a:bodyPr/>
          <a:lstStyle/>
          <a:p>
            <a:r>
              <a:rPr lang="fr-FR" dirty="0">
                <a:latin typeface="+mj-lt"/>
              </a:rPr>
              <a:t>Des questions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B6E495-AB01-E9D1-315F-1E86D5F9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58596" cy="686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Bahnschrift Light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 PP ENSAI 2024 (004) [Lecture seule]" id="{A8C3ABBE-4DAF-470D-8BE6-22D8833A9F33}" vid="{5F2DD50E-0F97-4FC8-AEA4-A9228D75ACE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1 xmlns="ec989fea-bb25-4413-a12c-f328b06a6537">2024-09-04T08:04:05+00:00</Date1>
    <Mise_x0020_en_x0020_avant xmlns="ec989fea-bb25-4413-a12c-f328b06a6537">false</Mise_x0020_en_x0020_ava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s ENSAI" ma:contentTypeID="0x0101003CC4B864CFCC5B4D9ACD432D285AC3BC003130031EBC5F8A408D719B71B7F316F7" ma:contentTypeVersion="100" ma:contentTypeDescription="" ma:contentTypeScope="" ma:versionID="b953b99991b6a203445a6aec087abea0">
  <xsd:schema xmlns:xsd="http://www.w3.org/2001/XMLSchema" xmlns:xs="http://www.w3.org/2001/XMLSchema" xmlns:p="http://schemas.microsoft.com/office/2006/metadata/properties" xmlns:ns2="ec989fea-bb25-4413-a12c-f328b06a6537" targetNamespace="http://schemas.microsoft.com/office/2006/metadata/properties" ma:root="true" ma:fieldsID="42c940d45ce8157fd86eab27bc1c28be" ns2:_="">
    <xsd:import namespace="ec989fea-bb25-4413-a12c-f328b06a6537"/>
    <xsd:element name="properties">
      <xsd:complexType>
        <xsd:sequence>
          <xsd:element name="documentManagement">
            <xsd:complexType>
              <xsd:all>
                <xsd:element ref="ns2:Mise_x0020_en_x0020_avant" minOccurs="0"/>
                <xsd:element ref="ns2:Date1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89fea-bb25-4413-a12c-f328b06a6537" elementFormDefault="qualified">
    <xsd:import namespace="http://schemas.microsoft.com/office/2006/documentManagement/types"/>
    <xsd:import namespace="http://schemas.microsoft.com/office/infopath/2007/PartnerControls"/>
    <xsd:element name="Mise_x0020_en_x0020_avant" ma:index="8" nillable="true" ma:displayName="Mise en avant" ma:default="0" ma:internalName="Mise_x0020_en_x0020_avant">
      <xsd:simpleType>
        <xsd:restriction base="dms:Boolean"/>
      </xsd:simpleType>
    </xsd:element>
    <xsd:element name="Date1" ma:index="9" nillable="true" ma:displayName="Date" ma:default="[today]" ma:format="DateOnly" ma:internalName="Date1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a3fec588-6c6b-4406-8ca4-9ac9567ea887" ContentTypeId="0x0101003CC4B864CFCC5B4D9ACD432D285AC3BC" PreviousValue="false"/>
</file>

<file path=customXml/itemProps1.xml><?xml version="1.0" encoding="utf-8"?>
<ds:datastoreItem xmlns:ds="http://schemas.openxmlformats.org/officeDocument/2006/customXml" ds:itemID="{192A3D37-6C49-4620-B2B6-76D5704EBC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1EFE21-6212-40E3-9464-BEE2346D99CE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ec989fea-bb25-4413-a12c-f328b06a6537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364823-1FE6-41BC-976B-2ADEDF3F6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89fea-bb25-4413-a12c-f328b06a6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5D901EE-349C-4207-96FC-2EDAA5B8F19A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 PPT ENSAI 2024</Template>
  <TotalTime>7479</TotalTime>
  <Words>599</Words>
  <Application>Microsoft Office PowerPoint</Application>
  <PresentationFormat>Grand écran</PresentationFormat>
  <Paragraphs>91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Aptos</vt:lpstr>
      <vt:lpstr>Arial</vt:lpstr>
      <vt:lpstr>Bahnschrift Light SemiCondensed</vt:lpstr>
      <vt:lpstr>Bahnschrift SemiLight</vt:lpstr>
      <vt:lpstr>Calibri</vt:lpstr>
      <vt:lpstr>Georgia</vt:lpstr>
      <vt:lpstr>Wingdings</vt:lpstr>
      <vt:lpstr>Conception personnalisée</vt:lpstr>
      <vt:lpstr>Présentation PowerPoint</vt:lpstr>
      <vt:lpstr>Présentation du projet</vt:lpstr>
      <vt:lpstr>Une baisse des profils MP depuis le CCINP</vt:lpstr>
      <vt:lpstr>Les matheux préfèrent le statut d’ingénieur </vt:lpstr>
      <vt:lpstr>Les BL et les D2 reviennent vers le statut attaché </vt:lpstr>
      <vt:lpstr>Résultats scolaire en 1ère année et voie d’entrée</vt:lpstr>
      <vt:lpstr>Résultats scolaire en 2ème année et voie d’entrée</vt:lpstr>
      <vt:lpstr>Les PC/PSI en difficultés ?</vt:lpstr>
      <vt:lpstr>Notes en statistiques et mathématiques en 1A   </vt:lpstr>
      <vt:lpstr>Des échecs plus nombreux parmi les attachés en 1A</vt:lpstr>
      <vt:lpstr>Des échecs plus nombreux parmi les attachés en 2A</vt:lpstr>
      <vt:lpstr>Redoublement et exclusions</vt:lpstr>
      <vt:lpstr>Les choix de filière de spécialisation</vt:lpstr>
      <vt:lpstr>Impact du niveau d’anglais sur la scolarité</vt:lpstr>
      <vt:lpstr>Engagement numérique : un projet</vt:lpstr>
      <vt:lpstr>Next step</vt:lpstr>
      <vt:lpstr>Des questions ?</vt:lpstr>
    </vt:vector>
  </TitlesOfParts>
  <Company>ENSAI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GANDUBERT Patrick</dc:creator>
  <cp:lastModifiedBy>LESIEUR Christophe</cp:lastModifiedBy>
  <cp:revision>146</cp:revision>
  <dcterms:created xsi:type="dcterms:W3CDTF">2024-10-07T14:28:24Z</dcterms:created>
  <dcterms:modified xsi:type="dcterms:W3CDTF">2026-06-29T09:57:23Z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0x0101003CC4B864CFCC5B4D9ACD432D285AC3BC003130031EBC5F8A408D719B71B7F316F7</vt:lpwstr>
  </property>
</Properties>
</file>